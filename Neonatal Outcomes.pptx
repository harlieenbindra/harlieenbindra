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6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Lst>
  <p:sldSz cx="9144000" cy="5143500" type="screen16x9"/>
  <p:notesSz cx="6858000" cy="9144000"/>
  <p:embeddedFontLst>
    <p:embeddedFont>
      <p:font typeface="Economica" panose="02000506040000020004" pitchFamily="2" charset="77"/>
      <p:regular r:id="rId62"/>
      <p:bold r:id="rId63"/>
      <p:italic r:id="rId64"/>
      <p:boldItalic r:id="rId65"/>
    </p:embeddedFont>
    <p:embeddedFont>
      <p:font typeface="Lato" panose="020F0502020204030203" pitchFamily="34" charset="0"/>
      <p:regular r:id="rId66"/>
      <p:bold r:id="rId67"/>
      <p:italic r:id="rId68"/>
      <p:boldItalic r:id="rId69"/>
    </p:embeddedFont>
    <p:embeddedFont>
      <p:font typeface="Open Sans" panose="020B0606030504020204" pitchFamily="34" charset="0"/>
      <p:regular r:id="rId70"/>
      <p:bold r:id="rId71"/>
      <p:italic r:id="rId72"/>
      <p:boldItalic r:id="rId73"/>
    </p:embeddedFont>
    <p:embeddedFont>
      <p:font typeface="Roboto" panose="02000000000000000000" pitchFamily="2" charset="0"/>
      <p:regular r:id="rId74"/>
      <p:bold r:id="rId75"/>
      <p:italic r:id="rId76"/>
      <p:boldItalic r:id="rId77"/>
    </p:embeddedFont>
    <p:embeddedFont>
      <p:font typeface="Roboto Mono" pitchFamily="49" charset="0"/>
      <p:regular r:id="rId78"/>
      <p:bold r:id="rId79"/>
      <p:italic r:id="rId80"/>
      <p:boldItalic r:id="rId8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18615C-E8B8-4C2A-B8ED-A11B0492DD2C}">
  <a:tblStyle styleId="{3C18615C-E8B8-4C2A-B8ED-A11B0492DD2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61"/>
  </p:normalViewPr>
  <p:slideViewPr>
    <p:cSldViewPr snapToGrid="0">
      <p:cViewPr varScale="1">
        <p:scale>
          <a:sx n="152" d="100"/>
          <a:sy n="152" d="100"/>
        </p:scale>
        <p:origin x="72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2.fntdata"/><Relationship Id="rId68" Type="http://schemas.openxmlformats.org/officeDocument/2006/relationships/font" Target="fonts/font7.fntdata"/><Relationship Id="rId84"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13.fntdata"/><Relationship Id="rId79" Type="http://schemas.openxmlformats.org/officeDocument/2006/relationships/font" Target="fonts/font18.fntdata"/><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font" Target="fonts/font16.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1.fntdata"/><Relationship Id="rId80" Type="http://schemas.openxmlformats.org/officeDocument/2006/relationships/font" Target="fonts/font19.fntdata"/><Relationship Id="rId85"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font" Target="fonts/font14.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font" Target="fonts/font17.fntdata"/><Relationship Id="rId81" Type="http://schemas.openxmlformats.org/officeDocument/2006/relationships/font" Target="fonts/font20.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5.fntdata"/><Relationship Id="rId7" Type="http://schemas.openxmlformats.org/officeDocument/2006/relationships/slide" Target="slides/slide5.xml"/><Relationship Id="rId71" Type="http://schemas.openxmlformats.org/officeDocument/2006/relationships/font" Target="fonts/font10.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5.fntdata"/><Relationship Id="rId61" Type="http://schemas.openxmlformats.org/officeDocument/2006/relationships/notesMaster" Target="notesMasters/notesMaster1.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22e57472d7_7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222e57472d7_7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22e57472d7_7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222e57472d7_7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22e57472d7_7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222e57472d7_7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22e57472d7_7_9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
        <p:nvSpPr>
          <p:cNvPr id="161" name="Google Shape;161;g222e57472d7_7_99:notes"/>
          <p:cNvSpPr txBox="1"/>
          <p:nvPr/>
        </p:nvSpPr>
        <p:spPr>
          <a:xfrm>
            <a:off x="3881208" y="8686460"/>
            <a:ext cx="2969592" cy="450751"/>
          </a:xfrm>
          <a:prstGeom prst="rect">
            <a:avLst/>
          </a:prstGeom>
          <a:noFill/>
          <a:ln>
            <a:noFill/>
          </a:ln>
        </p:spPr>
        <p:txBody>
          <a:bodyPr spcFirstLastPara="1" wrap="square" lIns="0" tIns="0" rIns="0" bIns="0" anchor="b" anchorCtr="0">
            <a:noAutofit/>
          </a:bodyPr>
          <a:lstStyle/>
          <a:p>
            <a:pPr marL="0" marR="0" lvl="0" indent="0" algn="r" rtl="0">
              <a:lnSpc>
                <a:spcPct val="95000"/>
              </a:lnSpc>
              <a:spcBef>
                <a:spcPts val="0"/>
              </a:spcBef>
              <a:spcAft>
                <a:spcPts val="0"/>
              </a:spcAft>
              <a:buClr>
                <a:srgbClr val="000000"/>
              </a:buClr>
              <a:buSzPts val="1200"/>
              <a:buFont typeface="Arial"/>
              <a:buNone/>
            </a:pPr>
            <a:fld id="{00000000-1234-1234-1234-123412341234}" type="slidenum">
              <a:rPr lang="en" sz="1200" b="0" i="0" u="none" strike="noStrike" cap="none">
                <a:solidFill>
                  <a:srgbClr val="000000"/>
                </a:solidFill>
                <a:latin typeface="Times New Roman"/>
                <a:ea typeface="Times New Roman"/>
                <a:cs typeface="Times New Roman"/>
                <a:sym typeface="Times New Roman"/>
              </a:rPr>
              <a:t>4</a:t>
            </a:fld>
            <a:endParaRPr sz="1200" b="0" i="0" u="none" strike="noStrike" cap="none">
              <a:solidFill>
                <a:srgbClr val="000000"/>
              </a:solidFill>
              <a:latin typeface="Times New Roman"/>
              <a:ea typeface="Times New Roman"/>
              <a:cs typeface="Times New Roman"/>
              <a:sym typeface="Times New Roman"/>
            </a:endParaRPr>
          </a:p>
        </p:txBody>
      </p:sp>
      <p:sp>
        <p:nvSpPr>
          <p:cNvPr id="162" name="Google Shape;162;g222e57472d7_7_99:notes"/>
          <p:cNvSpPr>
            <a:spLocks noGrp="1" noRot="1" noChangeAspect="1"/>
          </p:cNvSpPr>
          <p:nvPr>
            <p:ph type="sldImg" idx="2"/>
          </p:nvPr>
        </p:nvSpPr>
        <p:spPr>
          <a:xfrm>
            <a:off x="382588" y="695325"/>
            <a:ext cx="6089650" cy="34258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63" name="Google Shape;163;g222e57472d7_7_99:notes"/>
          <p:cNvSpPr txBox="1">
            <a:spLocks noGrp="1"/>
          </p:cNvSpPr>
          <p:nvPr>
            <p:ph type="body" idx="1"/>
          </p:nvPr>
        </p:nvSpPr>
        <p:spPr>
          <a:xfrm>
            <a:off x="685512" y="4343231"/>
            <a:ext cx="5485536" cy="4113782"/>
          </a:xfrm>
          <a:prstGeom prst="rect">
            <a:avLst/>
          </a:prstGeom>
          <a:noFill/>
          <a:ln>
            <a:noFill/>
          </a:ln>
        </p:spPr>
        <p:txBody>
          <a:bodyPr spcFirstLastPara="1" wrap="square" lIns="91425" tIns="91425" rIns="91425" bIns="91425" anchor="ctr" anchorCtr="0">
            <a:noAutofit/>
          </a:bodyPr>
          <a:lstStyle/>
          <a:p>
            <a:pPr marL="457200" lvl="0" indent="-298450" algn="l" rtl="0">
              <a:lnSpc>
                <a:spcPct val="100000"/>
              </a:lnSpc>
              <a:spcBef>
                <a:spcPts val="0"/>
              </a:spcBef>
              <a:spcAft>
                <a:spcPts val="0"/>
              </a:spcAft>
              <a:buSzPts val="1100"/>
              <a:buChar char="●"/>
            </a:pPr>
            <a:r>
              <a:rPr lang="en" sz="2000" b="0" i="0" u="none" strike="noStrike">
                <a:solidFill>
                  <a:schemeClr val="dk1"/>
                </a:solidFill>
                <a:latin typeface="Arial"/>
                <a:ea typeface="Arial"/>
                <a:cs typeface="Arial"/>
                <a:sym typeface="Arial"/>
              </a:rPr>
              <a:t>To monitor the child, the baby is connected with numerous devices such as cardiac monitors, ventilators, and blood gas machines. Various laboratory tests are conducted to measure clinical markers such as oxygen needs. All of this equipment has resulted in gigabytes of data at the bedside for each neonate in its development</a:t>
            </a:r>
            <a:endParaRPr sz="20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22e57472d7_7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222e57472d7_7_1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sz="2000"/>
          </a:p>
        </p:txBody>
      </p:sp>
      <p:sp>
        <p:nvSpPr>
          <p:cNvPr id="172" name="Google Shape;172;g222e57472d7_7_10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22e57472d7_7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222e57472d7_7_12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22e57472d7_7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g222e57472d7_7_14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22e57472d7_7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222e57472d7_7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22e57472d7_7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g222e57472d7_7_15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22e57472d7_7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g222e57472d7_7_159: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22e57472d7_7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222e57472d7_7_1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22e57472d7_7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222e57472d7_7_16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22e57472d7_7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g222e57472d7_7_18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22e57472d7_7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222e57472d7_7_1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Search BY { UHID }  Find By UHID </a:t>
            </a:r>
            <a:endParaRPr/>
          </a:p>
          <a:p>
            <a:pPr marL="457200" lvl="0" indent="-228600" algn="l" rtl="0">
              <a:lnSpc>
                <a:spcPct val="100000"/>
              </a:lnSpc>
              <a:spcBef>
                <a:spcPts val="0"/>
              </a:spcBef>
              <a:spcAft>
                <a:spcPts val="0"/>
              </a:spcAft>
              <a:buSzPts val="1100"/>
              <a:buNone/>
            </a:pPr>
            <a:endParaRPr/>
          </a:p>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22e57472d7_7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g222e57472d7_7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
        <p:nvSpPr>
          <p:cNvPr id="266" name="Google Shape;266;g222e57472d7_7_19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22e57472d7_7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g222e57472d7_7_2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
        <p:nvSpPr>
          <p:cNvPr id="356" name="Google Shape;356;g222e57472d7_7_28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22e57472d7_7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g222e57472d7_7_3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222e57472d7_7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g222e57472d7_7_38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22e57472d7_7_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3" name="Google Shape;533;g222e57472d7_7_4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222e57472d7_7_4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8" name="Google Shape;538;g222e57472d7_7_4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Dependency Injection: Control flow of a program is inverted and the framework is responsible for managing object dependencies.  This makes the code more modular, testable, and flexible.  This is accomplished by IoC or Inversion of Control where object creation is not done by objects, instead they get the objects they require from the SPRING framework</a:t>
            </a:r>
            <a:endParaRPr/>
          </a:p>
          <a:p>
            <a:pPr marL="457200" lvl="0" indent="-298450" algn="l" rtl="0">
              <a:lnSpc>
                <a:spcPct val="100000"/>
              </a:lnSpc>
              <a:spcBef>
                <a:spcPts val="0"/>
              </a:spcBef>
              <a:spcAft>
                <a:spcPts val="0"/>
              </a:spcAft>
              <a:buSzPts val="1100"/>
              <a:buChar char="●"/>
            </a:pPr>
            <a:r>
              <a:rPr lang="en"/>
              <a:t>ORM - Object Relational Mapping… Each module can be used independently or combined as needed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222e57472d7_7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4" name="Google Shape;544;g222e57472d7_7_4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IoC: Inversion of Control.  Design pattern where objects do not create other objects on which they rely on to do their work.  Instead they rely on the Spring Framework</a:t>
            </a:r>
            <a:endParaRPr/>
          </a:p>
          <a:p>
            <a:pPr marL="457200" lvl="0" indent="-298450" algn="l" rtl="0">
              <a:lnSpc>
                <a:spcPct val="100000"/>
              </a:lnSpc>
              <a:spcBef>
                <a:spcPts val="0"/>
              </a:spcBef>
              <a:spcAft>
                <a:spcPts val="0"/>
              </a:spcAft>
              <a:buSzPts val="1100"/>
              <a:buChar char="●"/>
            </a:pPr>
            <a:r>
              <a:rPr lang="en"/>
              <a:t>Bean: Java object that is instantiated, assembled, and managed by the Spring container.  This can be a service, controller or JAO.  Beans are defined in the Spring configuration file, which Spring uses to create the objects and their required dependencies</a:t>
            </a:r>
            <a:endParaRPr/>
          </a:p>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22e57472d7_7_4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0" name="Google Shape;550;g222e57472d7_7_4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Spring Boot makes it easy to set up a new project and start developing Spring-based applications without having to worry about the infrastructure and configuration details.</a:t>
            </a:r>
            <a:endParaRPr/>
          </a:p>
          <a:p>
            <a:pPr marL="457200" lvl="0" indent="-298450" algn="l" rtl="0">
              <a:lnSpc>
                <a:spcPct val="100000"/>
              </a:lnSpc>
              <a:spcBef>
                <a:spcPts val="0"/>
              </a:spcBef>
              <a:spcAft>
                <a:spcPts val="0"/>
              </a:spcAft>
              <a:buSzPts val="1100"/>
              <a:buChar char="●"/>
            </a:pPr>
            <a:r>
              <a:rPr lang="en"/>
              <a:t>It provides sensible defaults for many configuration options, reducing the amount of boilerplate code you need to write</a:t>
            </a:r>
            <a:endParaRPr/>
          </a:p>
          <a:p>
            <a:pPr marL="457200" lvl="0" indent="-298450" algn="l" rtl="0">
              <a:lnSpc>
                <a:spcPct val="100000"/>
              </a:lnSpc>
              <a:spcBef>
                <a:spcPts val="0"/>
              </a:spcBef>
              <a:spcAft>
                <a:spcPts val="0"/>
              </a:spcAft>
              <a:buSzPts val="1100"/>
              <a:buChar char="●"/>
            </a:pPr>
            <a:r>
              <a:rPr lang="en"/>
              <a:t>Automatically configure many components based on the dependencies you include in your project, reducing the amount of manual configuration required.</a:t>
            </a:r>
            <a:endParaRPr/>
          </a:p>
          <a:p>
            <a:pPr marL="457200" lvl="0" indent="-298450" algn="l" rtl="0">
              <a:lnSpc>
                <a:spcPct val="100000"/>
              </a:lnSpc>
              <a:spcBef>
                <a:spcPts val="0"/>
              </a:spcBef>
              <a:spcAft>
                <a:spcPts val="0"/>
              </a:spcAft>
              <a:buSzPts val="1100"/>
              <a:buChar char="●"/>
            </a:pPr>
            <a:r>
              <a:rPr lang="en"/>
              <a:t> includes an embedded web server, which means you can run your application as a stand-alone executable JAR file, making it easy to deploy and scale your application</a:t>
            </a:r>
            <a:endParaRPr/>
          </a:p>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222e57472d7_7_4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6" name="Google Shape;556;g222e57472d7_7_4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222e57472d7_7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2" name="Google Shape;562;g222e57472d7_7_4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 Spring JPA can generate repository classes for JPA entities automatically, which can be used to perform common CRUD (create, read, update, delete) operations on the data.</a:t>
            </a:r>
            <a:endParaRPr/>
          </a:p>
          <a:p>
            <a:pPr marL="457200" lvl="0" indent="-298450" algn="l" rtl="0">
              <a:lnSpc>
                <a:spcPct val="100000"/>
              </a:lnSpc>
              <a:spcBef>
                <a:spcPts val="0"/>
              </a:spcBef>
              <a:spcAft>
                <a:spcPts val="0"/>
              </a:spcAft>
              <a:buSzPts val="1100"/>
              <a:buChar char="●"/>
            </a:pPr>
            <a:r>
              <a:rPr lang="en"/>
              <a:t> Spring JPA supports the creation of custom repository methods based on method names, which can simplify the development of complex queries.</a:t>
            </a:r>
            <a:endParaRPr/>
          </a:p>
          <a:p>
            <a:pPr marL="457200" lvl="0" indent="-298450" algn="l" rtl="0">
              <a:lnSpc>
                <a:spcPct val="100000"/>
              </a:lnSpc>
              <a:spcBef>
                <a:spcPts val="0"/>
              </a:spcBef>
              <a:spcAft>
                <a:spcPts val="0"/>
              </a:spcAft>
              <a:buSzPts val="1100"/>
              <a:buChar char="●"/>
            </a:pPr>
            <a:r>
              <a:rPr lang="en"/>
              <a:t> integrates with Spring's transaction management support, making it easy to manage database transactions in a Spring-based application.</a:t>
            </a:r>
            <a:endParaRPr/>
          </a:p>
          <a:p>
            <a:pPr marL="457200" lvl="0" indent="-298450" algn="l" rtl="0">
              <a:lnSpc>
                <a:spcPct val="100000"/>
              </a:lnSpc>
              <a:spcBef>
                <a:spcPts val="0"/>
              </a:spcBef>
              <a:spcAft>
                <a:spcPts val="0"/>
              </a:spcAft>
              <a:buSzPts val="1100"/>
              <a:buChar char="●"/>
            </a:pPr>
            <a:r>
              <a:rPr lang="en"/>
              <a:t>JPA integrates with Spring's caching support, allowing you to cache JPA entities and queries for improved performance.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222e57472d7_7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8" name="Google Shape;568;g222e57472d7_7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222e57472d7_7_4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9" name="Google Shape;579;g222e57472d7_7_4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222e57472d7_7_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6" name="Google Shape;586;g222e57472d7_7_5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222e57472d7_7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2" name="Google Shape;592;g222e57472d7_7_5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22e57472d7_7_5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2" name="Google Shape;602;g222e57472d7_7_5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22e57472d7_7_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8" name="Google Shape;608;g222e57472d7_7_5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222e57472d7_7_5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5" name="Google Shape;635;g222e57472d7_7_5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222e57472d7_7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6" name="Google Shape;666;g222e57472d7_7_5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222e57472d7_7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2" name="Google Shape;672;g222e57472d7_7_5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222e74d248c_7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9" name="Google Shape;689;g222e74d248c_7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22e74d248c_7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4" name="Google Shape;694;g222e74d248c_7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222e74d248c_7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222e74d248c_7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Talk about transpiling to ES5 - browser compatibility, Internet Explorer</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g222e74d248c_7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5" name="Google Shape;705;g222e74d248c_7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DOM - Tree - state computing</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22e74d248c_7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1" name="Google Shape;711;g222e74d248c_7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DOM - Tree - state computing</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22f42c27e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222f42c27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An Application Programming Interface (API) enables communication between software applications. It allows developers to access data or functionality provided by a service or platform, simplifying app development and integration.</a:t>
            </a:r>
            <a:endParaRPr>
              <a:solidFill>
                <a:schemeClr val="dk1"/>
              </a:solidFill>
            </a:endParaRPr>
          </a:p>
          <a:p>
            <a:pPr marL="0" lvl="0" indent="0" algn="l" rtl="0">
              <a:spcBef>
                <a:spcPts val="0"/>
              </a:spcBef>
              <a:spcAft>
                <a:spcPts val="0"/>
              </a:spcAft>
              <a:buNone/>
            </a:pPr>
            <a:r>
              <a:rPr lang="en">
                <a:solidFill>
                  <a:schemeClr val="dk1"/>
                </a:solidFill>
              </a:rPr>
              <a:t>Overall, this code sets up an HTTP client using the </a:t>
            </a:r>
            <a:r>
              <a:rPr lang="en">
                <a:solidFill>
                  <a:srgbClr val="188038"/>
                </a:solidFill>
                <a:latin typeface="Roboto Mono"/>
                <a:ea typeface="Roboto Mono"/>
                <a:cs typeface="Roboto Mono"/>
                <a:sym typeface="Roboto Mono"/>
              </a:rPr>
              <a:t>apisauce</a:t>
            </a:r>
            <a:r>
              <a:rPr lang="en">
                <a:solidFill>
                  <a:schemeClr val="dk1"/>
                </a:solidFill>
              </a:rPr>
              <a:t> library, and configures it with specific headers and a base URL. This client can then be used to make API requests to the specified server, with these headers included in each request.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22f42c27e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222f42c27e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 header value is a string formatted as </a:t>
            </a:r>
            <a:r>
              <a:rPr lang="en">
                <a:solidFill>
                  <a:srgbClr val="188038"/>
                </a:solidFill>
                <a:latin typeface="Roboto Mono"/>
                <a:ea typeface="Roboto Mono"/>
                <a:cs typeface="Roboto Mono"/>
                <a:sym typeface="Roboto Mono"/>
              </a:rPr>
              <a:t>Bearer ${authToken}</a:t>
            </a:r>
            <a:r>
              <a:rPr lang="en">
                <a:solidFill>
                  <a:schemeClr val="dk1"/>
                </a:solidFill>
              </a:rPr>
              <a:t>, which is a standard way of sending bearer tokens for API authentication.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 Authentication token is retrieved from the local storage and added to the header</a:t>
            </a:r>
            <a:endParaRPr>
              <a:solidFill>
                <a:schemeClr val="dk1"/>
              </a:solidFill>
            </a:endParaRPr>
          </a:p>
          <a:p>
            <a:pPr marL="0" lvl="0" indent="0" algn="l" rtl="0">
              <a:lnSpc>
                <a:spcPct val="115000"/>
              </a:lnSpc>
              <a:spcBef>
                <a:spcPts val="0"/>
              </a:spcBef>
              <a:spcAft>
                <a:spcPts val="0"/>
              </a:spcAft>
              <a:buNone/>
            </a:pPr>
            <a:r>
              <a:rPr lang="en">
                <a:solidFill>
                  <a:schemeClr val="dk1"/>
                </a:solidFill>
              </a:rPr>
              <a:t>code snippet exports a set of asynchronous functions that perform specific API requests using the previously created </a:t>
            </a:r>
            <a:r>
              <a:rPr lang="en">
                <a:solidFill>
                  <a:srgbClr val="188038"/>
                </a:solidFill>
                <a:latin typeface="Roboto Mono"/>
                <a:ea typeface="Roboto Mono"/>
                <a:cs typeface="Roboto Mono"/>
                <a:sym typeface="Roboto Mono"/>
              </a:rPr>
              <a:t>api</a:t>
            </a:r>
            <a:r>
              <a:rPr lang="en">
                <a:solidFill>
                  <a:schemeClr val="dk1"/>
                </a:solidFill>
              </a:rPr>
              <a:t> instance. </a:t>
            </a:r>
            <a:endParaRPr>
              <a:solidFill>
                <a:schemeClr val="dk1"/>
              </a:solidFill>
            </a:endParaRPr>
          </a:p>
          <a:p>
            <a:pPr marL="0" lvl="0" indent="0" algn="l" rtl="0">
              <a:lnSpc>
                <a:spcPct val="115000"/>
              </a:lnSpc>
              <a:spcBef>
                <a:spcPts val="0"/>
              </a:spcBef>
              <a:spcAft>
                <a:spcPts val="0"/>
              </a:spcAft>
              <a:buNone/>
            </a:pPr>
            <a:r>
              <a:rPr lang="en">
                <a:solidFill>
                  <a:schemeClr val="dk1"/>
                </a:solidFill>
              </a:rPr>
              <a:t>Each function takes a request body as an argument, and sends a POST request to the corresponding API endpoint, passing the necessary headers.</a:t>
            </a:r>
            <a:endParaRPr sz="900">
              <a:solidFill>
                <a:schemeClr val="dk1"/>
              </a:solidFill>
              <a:latin typeface="Open Sans"/>
              <a:ea typeface="Open Sans"/>
              <a:cs typeface="Open Sans"/>
              <a:sym typeface="Open Sans"/>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22f42c27ed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222f42c27e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22f42c27ed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222f42c27e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22e57472d7_7_6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1" name="Google Shape;751;g222e57472d7_7_6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222e57472d7_7_6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9" name="Google Shape;759;g222e57472d7_7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22e57472d7_7_6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4" name="Google Shape;764;g222e57472d7_7_6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22e57472d7_7_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0" name="Google Shape;770;g222e57472d7_7_6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22e57472d7_7_6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7" name="Google Shape;777;g222e57472d7_7_6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22e57472d7_7_6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3" name="Google Shape;783;g222e57472d7_7_6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22e57472d7_7_6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9" name="Google Shape;789;g222e57472d7_7_6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22e57472d7_7_6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5" name="Google Shape;795;g222e57472d7_7_6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22e57472d7_7_6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1" name="Google Shape;801;g222e57472d7_7_6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22e57472d7_7_6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7" name="Google Shape;807;g222e57472d7_7_6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22e57472d7_7_6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3" name="Google Shape;813;g222e57472d7_7_6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22e57472d7_7_6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8" name="Google Shape;818;g222e57472d7_7_6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   Java testing framework for unit tests</a:t>
            </a:r>
            <a:endParaRPr/>
          </a:p>
          <a:p>
            <a:pPr marL="0" lvl="0" indent="0" algn="l" rtl="0">
              <a:lnSpc>
                <a:spcPct val="100000"/>
              </a:lnSpc>
              <a:spcBef>
                <a:spcPts val="0"/>
              </a:spcBef>
              <a:spcAft>
                <a:spcPts val="0"/>
              </a:spcAft>
              <a:buSzPts val="1100"/>
              <a:buNone/>
            </a:pPr>
            <a:r>
              <a:rPr lang="en"/>
              <a:t>    Improves code quality and reliability</a:t>
            </a:r>
            <a:endParaRPr/>
          </a:p>
          <a:p>
            <a:pPr marL="0" lvl="0" indent="0" algn="l" rtl="0">
              <a:lnSpc>
                <a:spcPct val="100000"/>
              </a:lnSpc>
              <a:spcBef>
                <a:spcPts val="0"/>
              </a:spcBef>
              <a:spcAft>
                <a:spcPts val="0"/>
              </a:spcAft>
              <a:buSzPts val="1100"/>
              <a:buNone/>
            </a:pPr>
            <a:r>
              <a:rPr lang="en"/>
              <a:t>    Key components:</a:t>
            </a:r>
            <a:endParaRPr/>
          </a:p>
          <a:p>
            <a:pPr marL="0" lvl="0" indent="0" algn="l" rtl="0">
              <a:lnSpc>
                <a:spcPct val="100000"/>
              </a:lnSpc>
              <a:spcBef>
                <a:spcPts val="0"/>
              </a:spcBef>
              <a:spcAft>
                <a:spcPts val="0"/>
              </a:spcAft>
              <a:buSzPts val="1100"/>
              <a:buNone/>
            </a:pPr>
            <a:r>
              <a:rPr lang="en"/>
              <a:t>        Test classes and methods</a:t>
            </a:r>
            <a:endParaRPr/>
          </a:p>
          <a:p>
            <a:pPr marL="0" lvl="0" indent="0" algn="l" rtl="0">
              <a:lnSpc>
                <a:spcPct val="100000"/>
              </a:lnSpc>
              <a:spcBef>
                <a:spcPts val="0"/>
              </a:spcBef>
              <a:spcAft>
                <a:spcPts val="0"/>
              </a:spcAft>
              <a:buSzPts val="1100"/>
              <a:buNone/>
            </a:pPr>
            <a:r>
              <a:rPr lang="en"/>
              <a:t>        Annotations (e.g., @Test, @Before, @After)</a:t>
            </a:r>
            <a:endParaRPr/>
          </a:p>
          <a:p>
            <a:pPr marL="0" lvl="0" indent="0" algn="l" rtl="0">
              <a:lnSpc>
                <a:spcPct val="100000"/>
              </a:lnSpc>
              <a:spcBef>
                <a:spcPts val="0"/>
              </a:spcBef>
              <a:spcAft>
                <a:spcPts val="0"/>
              </a:spcAft>
              <a:buSzPts val="1100"/>
              <a:buNone/>
            </a:pPr>
            <a:r>
              <a:rPr lang="en"/>
              <a:t>        Assertions for verifying expected behavior</a:t>
            </a:r>
            <a:endParaRPr/>
          </a:p>
          <a:p>
            <a:pPr marL="0" lvl="0" indent="0" algn="l" rtl="0">
              <a:lnSpc>
                <a:spcPct val="100000"/>
              </a:lnSpc>
              <a:spcBef>
                <a:spcPts val="0"/>
              </a:spcBef>
              <a:spcAft>
                <a:spcPts val="0"/>
              </a:spcAft>
              <a:buSzPts val="1100"/>
              <a:buNone/>
            </a:pPr>
            <a:r>
              <a:rPr lang="en"/>
              <a:t>        Test runners for executing and reporting tests</a:t>
            </a:r>
            <a:endParaRPr/>
          </a:p>
          <a:p>
            <a:pPr marL="0" lvl="0" indent="0" algn="l" rtl="0">
              <a:lnSpc>
                <a:spcPct val="100000"/>
              </a:lnSpc>
              <a:spcBef>
                <a:spcPts val="0"/>
              </a:spcBef>
              <a:spcAft>
                <a:spcPts val="0"/>
              </a:spcAft>
              <a:buSzPts val="1100"/>
              <a:buNone/>
            </a:pPr>
            <a:r>
              <a:rPr lang="en"/>
              <a:t>    Widely adopted in the Java ecosystem</a:t>
            </a:r>
            <a:endParaRPr/>
          </a:p>
          <a:p>
            <a:pPr marL="0" lvl="0" indent="0" algn="l" rtl="0">
              <a:lnSpc>
                <a:spcPct val="100000"/>
              </a:lnSpc>
              <a:spcBef>
                <a:spcPts val="0"/>
              </a:spcBef>
              <a:spcAft>
                <a:spcPts val="0"/>
              </a:spcAft>
              <a:buSzPts val="1100"/>
              <a:buNone/>
            </a:pPr>
            <a:r>
              <a:rPr lang="en"/>
              <a:t>    Streamlines test creation, execution, and maintenance</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22e74d248c_7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222e74d248c_7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AutoNum type="arabicPeriod"/>
            </a:pPr>
            <a:r>
              <a:rPr lang="en">
                <a:solidFill>
                  <a:schemeClr val="dk1"/>
                </a:solidFill>
              </a:rPr>
              <a:t>JavaScript testing framework for unit and integration tests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Supports React, Node.js, and other JavaScript applications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Key components: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Test suites and test cases with </a:t>
            </a:r>
            <a:r>
              <a:rPr lang="en">
                <a:solidFill>
                  <a:srgbClr val="188038"/>
                </a:solidFill>
                <a:latin typeface="Roboto Mono"/>
                <a:ea typeface="Roboto Mono"/>
                <a:cs typeface="Roboto Mono"/>
                <a:sym typeface="Roboto Mono"/>
              </a:rPr>
              <a:t>describe</a:t>
            </a:r>
            <a:r>
              <a:rPr lang="en">
                <a:solidFill>
                  <a:schemeClr val="dk1"/>
                </a:solidFill>
              </a:rPr>
              <a:t> and </a:t>
            </a:r>
            <a:r>
              <a:rPr lang="en">
                <a:solidFill>
                  <a:srgbClr val="188038"/>
                </a:solidFill>
                <a:latin typeface="Roboto Mono"/>
                <a:ea typeface="Roboto Mono"/>
                <a:cs typeface="Roboto Mono"/>
                <a:sym typeface="Roboto Mono"/>
              </a:rPr>
              <a:t>it</a:t>
            </a:r>
            <a:r>
              <a:rPr lang="en">
                <a:solidFill>
                  <a:schemeClr val="dk1"/>
                </a:solidFill>
              </a:rPr>
              <a:t>/</a:t>
            </a:r>
            <a:r>
              <a:rPr lang="en">
                <a:solidFill>
                  <a:srgbClr val="188038"/>
                </a:solidFill>
                <a:latin typeface="Roboto Mono"/>
                <a:ea typeface="Roboto Mono"/>
                <a:cs typeface="Roboto Mono"/>
                <a:sym typeface="Roboto Mono"/>
              </a:rPr>
              <a:t>test</a:t>
            </a:r>
            <a:r>
              <a:rPr lang="en">
                <a:solidFill>
                  <a:schemeClr val="dk1"/>
                </a:solidFill>
              </a:rPr>
              <a:t> functions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 set of matchers for assertions (e.g., </a:t>
            </a:r>
            <a:r>
              <a:rPr lang="en">
                <a:solidFill>
                  <a:srgbClr val="188038"/>
                </a:solidFill>
                <a:latin typeface="Roboto Mono"/>
                <a:ea typeface="Roboto Mono"/>
                <a:cs typeface="Roboto Mono"/>
                <a:sym typeface="Roboto Mono"/>
              </a:rPr>
              <a:t>toBe</a:t>
            </a:r>
            <a:r>
              <a:rPr lang="en">
                <a:solidFill>
                  <a:schemeClr val="dk1"/>
                </a:solidFill>
              </a:rPr>
              <a:t>, </a:t>
            </a:r>
            <a:r>
              <a:rPr lang="en">
                <a:solidFill>
                  <a:srgbClr val="188038"/>
                </a:solidFill>
                <a:latin typeface="Roboto Mono"/>
                <a:ea typeface="Roboto Mono"/>
                <a:cs typeface="Roboto Mono"/>
                <a:sym typeface="Roboto Mono"/>
              </a:rPr>
              <a:t>toEqual</a:t>
            </a:r>
            <a:r>
              <a:rPr lang="en">
                <a:solidFill>
                  <a:schemeClr val="dk1"/>
                </a:solidFill>
              </a:rPr>
              <a:t>, </a:t>
            </a:r>
            <a:r>
              <a:rPr lang="en">
                <a:solidFill>
                  <a:srgbClr val="188038"/>
                </a:solidFill>
                <a:latin typeface="Roboto Mono"/>
                <a:ea typeface="Roboto Mono"/>
                <a:cs typeface="Roboto Mono"/>
                <a:sym typeface="Roboto Mono"/>
              </a:rPr>
              <a:t>toContain</a:t>
            </a:r>
            <a:r>
              <a:rPr lang="en">
                <a:solidFill>
                  <a:schemeClr val="dk1"/>
                </a:solidFill>
              </a:rPr>
              <a:t>)</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Built-in support for mocking, including functions and modules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en">
                <a:solidFill>
                  <a:schemeClr val="dk1"/>
                </a:solidFill>
              </a:rPr>
              <a:t>Async testing utilities for handling promises and async/await</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Seamless integration with popular testing libraries like React Testing Library</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Simplifies test development, execution, and error reporting</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Configurable and extensible with plugins and custom runners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22f42c27ed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222f42c27e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3 functions were created and tested using mock data and it expects that the result to be as follows</a:t>
            </a:r>
            <a:endParaRPr/>
          </a:p>
          <a:p>
            <a:pPr marL="0" lvl="0" indent="0" algn="l" rtl="0">
              <a:spcBef>
                <a:spcPts val="0"/>
              </a:spcBef>
              <a:spcAft>
                <a:spcPts val="0"/>
              </a:spcAft>
              <a:buNone/>
            </a:pPr>
            <a:r>
              <a:rPr lang="en"/>
              <a:t>In summary, this code snippet contains a set of unit tests for three utility functions using the Jest testing framework. The tests verify the behavior and correctness of each function under different conditions, ensuring that they work as expected.</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22e57472d7_7_6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9" name="Google Shape;839;g222e57472d7_7_6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22e57472d7_7_6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4" name="Google Shape;844;g222e57472d7_7_6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2"/>
        <p:cNvGrpSpPr/>
        <p:nvPr/>
      </p:nvGrpSpPr>
      <p:grpSpPr>
        <a:xfrm>
          <a:off x="0" y="0"/>
          <a:ext cx="0" cy="0"/>
          <a:chOff x="0" y="0"/>
          <a:chExt cx="0" cy="0"/>
        </a:xfrm>
      </p:grpSpPr>
      <p:sp>
        <p:nvSpPr>
          <p:cNvPr id="63" name="Google Shape;63;p14"/>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64" name="Google Shape;64;p14"/>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65" name="Google Shape;65;p14"/>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66" name="Google Shape;66;p14"/>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67" name="Google Shape;6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5"/>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70" name="Google Shape;70;p15"/>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71" name="Google Shape;71;p15"/>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72" name="Google Shape;72;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628538" y="217449"/>
            <a:ext cx="7886700" cy="381595"/>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rgbClr val="F26C57"/>
              </a:buClr>
              <a:buSzPts val="2400"/>
              <a:buFont typeface="Calibri"/>
              <a:buNone/>
              <a:defRPr sz="1350">
                <a:solidFill>
                  <a:srgbClr val="F26C57"/>
                </a:solidFill>
              </a:defRPr>
            </a:lvl1pPr>
            <a:lvl2pPr lvl="1" algn="ctr">
              <a:lnSpc>
                <a:spcPct val="100000"/>
              </a:lnSpc>
              <a:spcBef>
                <a:spcPts val="0"/>
              </a:spcBef>
              <a:spcAft>
                <a:spcPts val="0"/>
              </a:spcAft>
              <a:buClr>
                <a:srgbClr val="F26C57"/>
              </a:buClr>
              <a:buSzPts val="2400"/>
              <a:buNone/>
              <a:defRPr sz="1350">
                <a:solidFill>
                  <a:srgbClr val="F26C57"/>
                </a:solidFill>
              </a:defRPr>
            </a:lvl2pPr>
            <a:lvl3pPr lvl="2" algn="ctr">
              <a:lnSpc>
                <a:spcPct val="100000"/>
              </a:lnSpc>
              <a:spcBef>
                <a:spcPts val="0"/>
              </a:spcBef>
              <a:spcAft>
                <a:spcPts val="0"/>
              </a:spcAft>
              <a:buClr>
                <a:srgbClr val="F26C57"/>
              </a:buClr>
              <a:buSzPts val="2400"/>
              <a:buNone/>
              <a:defRPr sz="1350">
                <a:solidFill>
                  <a:srgbClr val="F26C57"/>
                </a:solidFill>
              </a:defRPr>
            </a:lvl3pPr>
            <a:lvl4pPr lvl="3" algn="ctr">
              <a:lnSpc>
                <a:spcPct val="100000"/>
              </a:lnSpc>
              <a:spcBef>
                <a:spcPts val="0"/>
              </a:spcBef>
              <a:spcAft>
                <a:spcPts val="0"/>
              </a:spcAft>
              <a:buClr>
                <a:srgbClr val="F26C57"/>
              </a:buClr>
              <a:buSzPts val="2400"/>
              <a:buNone/>
              <a:defRPr sz="1350">
                <a:solidFill>
                  <a:srgbClr val="F26C57"/>
                </a:solidFill>
              </a:defRPr>
            </a:lvl4pPr>
            <a:lvl5pPr lvl="4" algn="ctr">
              <a:lnSpc>
                <a:spcPct val="100000"/>
              </a:lnSpc>
              <a:spcBef>
                <a:spcPts val="0"/>
              </a:spcBef>
              <a:spcAft>
                <a:spcPts val="0"/>
              </a:spcAft>
              <a:buClr>
                <a:srgbClr val="F26C57"/>
              </a:buClr>
              <a:buSzPts val="2400"/>
              <a:buNone/>
              <a:defRPr sz="1350">
                <a:solidFill>
                  <a:srgbClr val="F26C57"/>
                </a:solidFill>
              </a:defRPr>
            </a:lvl5pPr>
            <a:lvl6pPr lvl="5" algn="ctr">
              <a:lnSpc>
                <a:spcPct val="100000"/>
              </a:lnSpc>
              <a:spcBef>
                <a:spcPts val="0"/>
              </a:spcBef>
              <a:spcAft>
                <a:spcPts val="0"/>
              </a:spcAft>
              <a:buClr>
                <a:srgbClr val="F26C57"/>
              </a:buClr>
              <a:buSzPts val="2400"/>
              <a:buNone/>
              <a:defRPr sz="1350">
                <a:solidFill>
                  <a:srgbClr val="F26C57"/>
                </a:solidFill>
              </a:defRPr>
            </a:lvl6pPr>
            <a:lvl7pPr lvl="6" algn="ctr">
              <a:lnSpc>
                <a:spcPct val="100000"/>
              </a:lnSpc>
              <a:spcBef>
                <a:spcPts val="0"/>
              </a:spcBef>
              <a:spcAft>
                <a:spcPts val="0"/>
              </a:spcAft>
              <a:buClr>
                <a:srgbClr val="F26C57"/>
              </a:buClr>
              <a:buSzPts val="2400"/>
              <a:buNone/>
              <a:defRPr sz="1350">
                <a:solidFill>
                  <a:srgbClr val="F26C57"/>
                </a:solidFill>
              </a:defRPr>
            </a:lvl7pPr>
            <a:lvl8pPr lvl="7" algn="ctr">
              <a:lnSpc>
                <a:spcPct val="100000"/>
              </a:lnSpc>
              <a:spcBef>
                <a:spcPts val="0"/>
              </a:spcBef>
              <a:spcAft>
                <a:spcPts val="0"/>
              </a:spcAft>
              <a:buClr>
                <a:srgbClr val="F26C57"/>
              </a:buClr>
              <a:buSzPts val="2400"/>
              <a:buNone/>
              <a:defRPr sz="1350">
                <a:solidFill>
                  <a:srgbClr val="F26C57"/>
                </a:solidFill>
              </a:defRPr>
            </a:lvl8pPr>
            <a:lvl9pPr lvl="8" algn="ctr">
              <a:lnSpc>
                <a:spcPct val="100000"/>
              </a:lnSpc>
              <a:spcBef>
                <a:spcPts val="0"/>
              </a:spcBef>
              <a:spcAft>
                <a:spcPts val="0"/>
              </a:spcAft>
              <a:buClr>
                <a:srgbClr val="F26C57"/>
              </a:buClr>
              <a:buSzPts val="2400"/>
              <a:buNone/>
              <a:defRPr sz="1350">
                <a:solidFill>
                  <a:srgbClr val="F26C57"/>
                </a:solidFill>
              </a:defRPr>
            </a:lvl9pPr>
          </a:lstStyle>
          <a:p>
            <a:endParaRPr/>
          </a:p>
        </p:txBody>
      </p:sp>
      <p:sp>
        <p:nvSpPr>
          <p:cNvPr id="75" name="Google Shape;75;p16"/>
          <p:cNvSpPr/>
          <p:nvPr/>
        </p:nvSpPr>
        <p:spPr>
          <a:xfrm>
            <a:off x="-450" y="5083163"/>
            <a:ext cx="9144000" cy="60300"/>
          </a:xfrm>
          <a:prstGeom prst="rect">
            <a:avLst/>
          </a:prstGeom>
          <a:solidFill>
            <a:srgbClr val="F26C57"/>
          </a:solidFill>
          <a:ln>
            <a:noFill/>
          </a:ln>
        </p:spPr>
        <p:txBody>
          <a:bodyPr spcFirstLastPara="1" wrap="square" lIns="51400" tIns="51400" rIns="51400" bIns="51400" anchor="ctr" anchorCtr="0">
            <a:noAutofit/>
          </a:bodyPr>
          <a:lstStyle/>
          <a:p>
            <a:pPr marL="0" marR="0" lvl="0" indent="0" algn="l" rtl="0">
              <a:lnSpc>
                <a:spcPct val="100000"/>
              </a:lnSpc>
              <a:spcBef>
                <a:spcPts val="0"/>
              </a:spcBef>
              <a:spcAft>
                <a:spcPts val="0"/>
              </a:spcAft>
              <a:buClr>
                <a:schemeClr val="dk1"/>
              </a:buClr>
              <a:buSzPts val="1050"/>
              <a:buFont typeface="Calibri"/>
              <a:buNone/>
            </a:pPr>
            <a:endParaRPr sz="788" b="0" i="0" u="none" strike="noStrike" cap="none">
              <a:solidFill>
                <a:schemeClr val="dk1"/>
              </a:solidFill>
              <a:latin typeface="Calibri"/>
              <a:ea typeface="Calibri"/>
              <a:cs typeface="Calibri"/>
              <a:sym typeface="Calibri"/>
            </a:endParaRPr>
          </a:p>
        </p:txBody>
      </p:sp>
      <p:sp>
        <p:nvSpPr>
          <p:cNvPr id="76" name="Google Shape;76;p16"/>
          <p:cNvSpPr txBox="1">
            <a:spLocks noGrp="1"/>
          </p:cNvSpPr>
          <p:nvPr>
            <p:ph type="body" idx="1"/>
          </p:nvPr>
        </p:nvSpPr>
        <p:spPr>
          <a:xfrm>
            <a:off x="1" y="4496269"/>
            <a:ext cx="9144000" cy="586800"/>
          </a:xfrm>
          <a:prstGeom prst="rect">
            <a:avLst/>
          </a:prstGeom>
          <a:solidFill>
            <a:srgbClr val="002060"/>
          </a:solidFill>
          <a:ln>
            <a:noFill/>
          </a:ln>
        </p:spPr>
        <p:txBody>
          <a:bodyPr spcFirstLastPara="1" wrap="square" lIns="91425" tIns="45700" rIns="91425" bIns="45700" anchor="ctr" anchorCtr="0">
            <a:noAutofit/>
          </a:bodyPr>
          <a:lstStyle>
            <a:lvl1pPr marL="457200" lvl="0" indent="-228600" algn="ctr">
              <a:lnSpc>
                <a:spcPct val="90000"/>
              </a:lnSpc>
              <a:spcBef>
                <a:spcPts val="563"/>
              </a:spcBef>
              <a:spcAft>
                <a:spcPts val="0"/>
              </a:spcAft>
              <a:buClr>
                <a:srgbClr val="FFFFFF"/>
              </a:buClr>
              <a:buSzPts val="1800"/>
              <a:buNone/>
              <a:defRPr sz="1350">
                <a:solidFill>
                  <a:schemeClr val="lt1"/>
                </a:solidFill>
              </a:defRPr>
            </a:lvl1pPr>
            <a:lvl2pPr marL="914400" lvl="1" indent="-342900" algn="ctr">
              <a:lnSpc>
                <a:spcPct val="90000"/>
              </a:lnSpc>
              <a:spcBef>
                <a:spcPts val="281"/>
              </a:spcBef>
              <a:spcAft>
                <a:spcPts val="0"/>
              </a:spcAft>
              <a:buClr>
                <a:srgbClr val="FFFFFF"/>
              </a:buClr>
              <a:buSzPts val="1800"/>
              <a:buChar char="•"/>
              <a:defRPr sz="1350">
                <a:solidFill>
                  <a:srgbClr val="FFFFFF"/>
                </a:solidFill>
              </a:defRPr>
            </a:lvl2pPr>
            <a:lvl3pPr marL="1371600" lvl="2" indent="-342900" algn="ctr">
              <a:lnSpc>
                <a:spcPct val="90000"/>
              </a:lnSpc>
              <a:spcBef>
                <a:spcPts val="281"/>
              </a:spcBef>
              <a:spcAft>
                <a:spcPts val="0"/>
              </a:spcAft>
              <a:buClr>
                <a:srgbClr val="FFFFFF"/>
              </a:buClr>
              <a:buSzPts val="1800"/>
              <a:buChar char="•"/>
              <a:defRPr sz="1350">
                <a:solidFill>
                  <a:srgbClr val="FFFFFF"/>
                </a:solidFill>
              </a:defRPr>
            </a:lvl3pPr>
            <a:lvl4pPr marL="1828800" lvl="3" indent="-342900" algn="ctr">
              <a:lnSpc>
                <a:spcPct val="90000"/>
              </a:lnSpc>
              <a:spcBef>
                <a:spcPts val="281"/>
              </a:spcBef>
              <a:spcAft>
                <a:spcPts val="0"/>
              </a:spcAft>
              <a:buClr>
                <a:srgbClr val="FFFFFF"/>
              </a:buClr>
              <a:buSzPts val="1800"/>
              <a:buChar char="•"/>
              <a:defRPr>
                <a:solidFill>
                  <a:srgbClr val="FFFFFF"/>
                </a:solidFill>
              </a:defRPr>
            </a:lvl4pPr>
            <a:lvl5pPr marL="2286000" lvl="4" indent="-342900" algn="ctr">
              <a:lnSpc>
                <a:spcPct val="90000"/>
              </a:lnSpc>
              <a:spcBef>
                <a:spcPts val="281"/>
              </a:spcBef>
              <a:spcAft>
                <a:spcPts val="0"/>
              </a:spcAft>
              <a:buClr>
                <a:srgbClr val="FFFFFF"/>
              </a:buClr>
              <a:buSzPts val="1800"/>
              <a:buChar char="•"/>
              <a:defRPr>
                <a:solidFill>
                  <a:srgbClr val="FFFFFF"/>
                </a:solidFill>
              </a:defRPr>
            </a:lvl5pPr>
            <a:lvl6pPr marL="2743200" lvl="5" indent="-342900" algn="ctr">
              <a:lnSpc>
                <a:spcPct val="90000"/>
              </a:lnSpc>
              <a:spcBef>
                <a:spcPts val="281"/>
              </a:spcBef>
              <a:spcAft>
                <a:spcPts val="0"/>
              </a:spcAft>
              <a:buClr>
                <a:srgbClr val="FFFFFF"/>
              </a:buClr>
              <a:buSzPts val="1800"/>
              <a:buChar char="•"/>
              <a:defRPr>
                <a:solidFill>
                  <a:srgbClr val="FFFFFF"/>
                </a:solidFill>
              </a:defRPr>
            </a:lvl6pPr>
            <a:lvl7pPr marL="3200400" lvl="6" indent="-342900" algn="ctr">
              <a:lnSpc>
                <a:spcPct val="90000"/>
              </a:lnSpc>
              <a:spcBef>
                <a:spcPts val="281"/>
              </a:spcBef>
              <a:spcAft>
                <a:spcPts val="0"/>
              </a:spcAft>
              <a:buClr>
                <a:srgbClr val="FFFFFF"/>
              </a:buClr>
              <a:buSzPts val="1800"/>
              <a:buChar char="•"/>
              <a:defRPr>
                <a:solidFill>
                  <a:srgbClr val="FFFFFF"/>
                </a:solidFill>
              </a:defRPr>
            </a:lvl7pPr>
            <a:lvl8pPr marL="3657600" lvl="7" indent="-342900" algn="ctr">
              <a:lnSpc>
                <a:spcPct val="90000"/>
              </a:lnSpc>
              <a:spcBef>
                <a:spcPts val="281"/>
              </a:spcBef>
              <a:spcAft>
                <a:spcPts val="0"/>
              </a:spcAft>
              <a:buClr>
                <a:srgbClr val="FFFFFF"/>
              </a:buClr>
              <a:buSzPts val="1800"/>
              <a:buChar char="•"/>
              <a:defRPr>
                <a:solidFill>
                  <a:srgbClr val="FFFFFF"/>
                </a:solidFill>
              </a:defRPr>
            </a:lvl8pPr>
            <a:lvl9pPr marL="4114800" lvl="8" indent="-342900" algn="ctr">
              <a:lnSpc>
                <a:spcPct val="90000"/>
              </a:lnSpc>
              <a:spcBef>
                <a:spcPts val="281"/>
              </a:spcBef>
              <a:spcAft>
                <a:spcPts val="0"/>
              </a:spcAft>
              <a:buClr>
                <a:srgbClr val="FFFFFF"/>
              </a:buClr>
              <a:buSzPts val="1800"/>
              <a:buChar char="•"/>
              <a:defRPr>
                <a:solidFill>
                  <a:srgbClr val="FFFFFF"/>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and Content 1" type="tx">
  <p:cSld name="TITLE_AND_BODY">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628538" y="209084"/>
            <a:ext cx="7886701" cy="389960"/>
          </a:xfrm>
          <a:prstGeom prst="rect">
            <a:avLst/>
          </a:prstGeom>
          <a:noFill/>
          <a:ln>
            <a:noFill/>
          </a:ln>
        </p:spPr>
        <p:txBody>
          <a:bodyPr spcFirstLastPara="1" wrap="square" lIns="45675" tIns="45675" rIns="45675" bIns="45675" anchor="b" anchorCtr="0">
            <a:normAutofit/>
          </a:bodyPr>
          <a:lstStyle>
            <a:lvl1pPr lvl="0" algn="ctr">
              <a:lnSpc>
                <a:spcPct val="90000"/>
              </a:lnSpc>
              <a:spcBef>
                <a:spcPts val="0"/>
              </a:spcBef>
              <a:spcAft>
                <a:spcPts val="0"/>
              </a:spcAft>
              <a:buClr>
                <a:srgbClr val="F26C57"/>
              </a:buClr>
              <a:buSzPts val="1800"/>
              <a:buFont typeface="Calibri"/>
              <a:buNone/>
              <a:defRPr sz="1350">
                <a:solidFill>
                  <a:srgbClr val="F26C5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79" name="Google Shape;79;p17"/>
          <p:cNvCxnSpPr/>
          <p:nvPr/>
        </p:nvCxnSpPr>
        <p:spPr>
          <a:xfrm>
            <a:off x="-115" y="640574"/>
            <a:ext cx="9144003" cy="2"/>
          </a:xfrm>
          <a:prstGeom prst="straightConnector1">
            <a:avLst/>
          </a:prstGeom>
          <a:noFill/>
          <a:ln w="9525" cap="flat" cmpd="sng">
            <a:solidFill>
              <a:srgbClr val="F26C57"/>
            </a:solidFill>
            <a:prstDash val="dash"/>
            <a:miter lim="8000"/>
            <a:headEnd type="none" w="sm" len="sm"/>
            <a:tailEnd type="none" w="sm" len="sm"/>
          </a:ln>
        </p:spPr>
      </p:cxnSp>
      <p:sp>
        <p:nvSpPr>
          <p:cNvPr id="80" name="Google Shape;80;p17"/>
          <p:cNvSpPr/>
          <p:nvPr/>
        </p:nvSpPr>
        <p:spPr>
          <a:xfrm>
            <a:off x="-450" y="5083162"/>
            <a:ext cx="9144002" cy="60302"/>
          </a:xfrm>
          <a:prstGeom prst="rect">
            <a:avLst/>
          </a:prstGeom>
          <a:solidFill>
            <a:srgbClr val="F26C5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81" name="Google Shape;81;p17"/>
          <p:cNvSpPr txBox="1"/>
          <p:nvPr/>
        </p:nvSpPr>
        <p:spPr>
          <a:xfrm>
            <a:off x="1663197" y="3732992"/>
            <a:ext cx="5819189" cy="276930"/>
          </a:xfrm>
          <a:prstGeom prst="rect">
            <a:avLst/>
          </a:prstGeom>
          <a:noFill/>
          <a:ln>
            <a:noFill/>
          </a:ln>
        </p:spPr>
        <p:txBody>
          <a:bodyPr spcFirstLastPara="1" wrap="square" lIns="34250" tIns="34250" rIns="34250" bIns="34250" anchor="t" anchorCtr="0">
            <a:spAutoFit/>
          </a:bodyPr>
          <a:lstStyle/>
          <a:p>
            <a:pPr marL="0" marR="0" lvl="0" indent="0" algn="ctr" rtl="0">
              <a:lnSpc>
                <a:spcPct val="100000"/>
              </a:lnSpc>
              <a:spcBef>
                <a:spcPts val="0"/>
              </a:spcBef>
              <a:spcAft>
                <a:spcPts val="0"/>
              </a:spcAft>
              <a:buClr>
                <a:srgbClr val="000000"/>
              </a:buClr>
              <a:buSzPts val="1350"/>
              <a:buFont typeface="Arial"/>
              <a:buNone/>
            </a:pPr>
            <a:r>
              <a:rPr lang="en" sz="1350" b="0" i="0" u="none" strike="noStrike" cap="none">
                <a:solidFill>
                  <a:srgbClr val="FFFFFF"/>
                </a:solidFill>
                <a:latin typeface="Calibri"/>
                <a:ea typeface="Calibri"/>
                <a:cs typeface="Calibri"/>
                <a:sym typeface="Calibri"/>
              </a:rPr>
              <a:t>Engaging with clinical team and thought leaders is key for account conversion</a:t>
            </a:r>
            <a:endParaRPr sz="1050" b="0" i="0" u="none" strike="noStrike" cap="none">
              <a:solidFill>
                <a:srgbClr val="000000"/>
              </a:solidFill>
              <a:latin typeface="Arial"/>
              <a:ea typeface="Arial"/>
              <a:cs typeface="Arial"/>
              <a:sym typeface="Arial"/>
            </a:endParaRPr>
          </a:p>
        </p:txBody>
      </p:sp>
      <p:sp>
        <p:nvSpPr>
          <p:cNvPr id="82" name="Google Shape;82;p17"/>
          <p:cNvSpPr txBox="1">
            <a:spLocks noGrp="1"/>
          </p:cNvSpPr>
          <p:nvPr>
            <p:ph type="sldNum" idx="12"/>
          </p:nvPr>
        </p:nvSpPr>
        <p:spPr>
          <a:xfrm>
            <a:off x="6359234" y="4674150"/>
            <a:ext cx="193967" cy="186227"/>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1pPr>
            <a:lvl2pPr marL="0" lvl="1"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2pPr>
            <a:lvl3pPr marL="0" lvl="2"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3pPr>
            <a:lvl4pPr marL="0" lvl="3"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4pPr>
            <a:lvl5pPr marL="0" lvl="4"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5pPr>
            <a:lvl6pPr marL="0" lvl="5"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6pPr>
            <a:lvl7pPr marL="0" lvl="6"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7pPr>
            <a:lvl8pPr marL="0" lvl="7"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8pPr>
            <a:lvl9pPr marL="0" lvl="8" indent="0" algn="r">
              <a:lnSpc>
                <a:spcPct val="100000"/>
              </a:lnSpc>
              <a:spcBef>
                <a:spcPts val="0"/>
              </a:spcBef>
              <a:spcAft>
                <a:spcPts val="0"/>
              </a:spcAft>
              <a:buSzPts val="900"/>
              <a:buNone/>
              <a:defRPr sz="900" b="0" i="0" u="none" strike="noStrike" cap="none">
                <a:solidFill>
                  <a:srgbClr val="888888"/>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p:cSld name="TITLE_AND_BODY 2">
    <p:spTree>
      <p:nvGrpSpPr>
        <p:cNvPr id="1" name="Shape 83"/>
        <p:cNvGrpSpPr/>
        <p:nvPr/>
      </p:nvGrpSpPr>
      <p:grpSpPr>
        <a:xfrm>
          <a:off x="0" y="0"/>
          <a:ext cx="0" cy="0"/>
          <a:chOff x="0" y="0"/>
          <a:chExt cx="0" cy="0"/>
        </a:xfrm>
      </p:grpSpPr>
      <p:sp>
        <p:nvSpPr>
          <p:cNvPr id="84" name="Google Shape;84;p1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86" name="Google Shape;86;p1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7" name="Google Shape;87;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88"/>
        <p:cNvGrpSpPr/>
        <p:nvPr/>
      </p:nvGrpSpPr>
      <p:grpSpPr>
        <a:xfrm>
          <a:off x="0" y="0"/>
          <a:ext cx="0" cy="0"/>
          <a:chOff x="0" y="0"/>
          <a:chExt cx="0" cy="0"/>
        </a:xfrm>
      </p:grpSpPr>
      <p:sp>
        <p:nvSpPr>
          <p:cNvPr id="89" name="Google Shape;89;p19"/>
          <p:cNvSpPr txBox="1">
            <a:spLocks noGrp="1"/>
          </p:cNvSpPr>
          <p:nvPr>
            <p:ph type="sldNum" idx="12"/>
          </p:nvPr>
        </p:nvSpPr>
        <p:spPr>
          <a:xfrm>
            <a:off x="8758633" y="4732624"/>
            <a:ext cx="262526" cy="254787"/>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1pPr>
            <a:lvl2pPr marL="0" lvl="1"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2pPr>
            <a:lvl3pPr marL="0" lvl="2"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3pPr>
            <a:lvl4pPr marL="0" lvl="3"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4pPr>
            <a:lvl5pPr marL="0" lvl="4"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5pPr>
            <a:lvl6pPr marL="0" lvl="5"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6pPr>
            <a:lvl7pPr marL="0" lvl="6"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7pPr>
            <a:lvl8pPr marL="0" lvl="7"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8pPr>
            <a:lvl9pPr marL="0" lvl="8" indent="0" algn="r">
              <a:lnSpc>
                <a:spcPct val="100000"/>
              </a:lnSpc>
              <a:spcBef>
                <a:spcPts val="0"/>
              </a:spcBef>
              <a:spcAft>
                <a:spcPts val="0"/>
              </a:spcAft>
              <a:buSzPts val="1000"/>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92" name="Google Shape;92;p2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3" name="Google Shape;93;p2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94" name="Google Shape;94;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2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97" name="Google Shape;9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8"/>
        <p:cNvGrpSpPr/>
        <p:nvPr/>
      </p:nvGrpSpPr>
      <p:grpSpPr>
        <a:xfrm>
          <a:off x="0" y="0"/>
          <a:ext cx="0" cy="0"/>
          <a:chOff x="0" y="0"/>
          <a:chExt cx="0" cy="0"/>
        </a:xfrm>
      </p:grpSpPr>
      <p:sp>
        <p:nvSpPr>
          <p:cNvPr id="99" name="Google Shape;99;p2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00" name="Google Shape;100;p22"/>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01" name="Google Shape;101;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2"/>
        <p:cNvGrpSpPr/>
        <p:nvPr/>
      </p:nvGrpSpPr>
      <p:grpSpPr>
        <a:xfrm>
          <a:off x="0" y="0"/>
          <a:ext cx="0" cy="0"/>
          <a:chOff x="0" y="0"/>
          <a:chExt cx="0" cy="0"/>
        </a:xfrm>
      </p:grpSpPr>
      <p:sp>
        <p:nvSpPr>
          <p:cNvPr id="103" name="Google Shape;103;p2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23"/>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05" name="Google Shape;10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6"/>
        <p:cNvGrpSpPr/>
        <p:nvPr/>
      </p:nvGrpSpPr>
      <p:grpSpPr>
        <a:xfrm>
          <a:off x="0" y="0"/>
          <a:ext cx="0" cy="0"/>
          <a:chOff x="0" y="0"/>
          <a:chExt cx="0" cy="0"/>
        </a:xfrm>
      </p:grpSpPr>
      <p:sp>
        <p:nvSpPr>
          <p:cNvPr id="107" name="Google Shape;107;p24"/>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8" name="Google Shape;108;p24"/>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109" name="Google Shape;109;p24"/>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110" name="Google Shape;110;p24"/>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111" name="Google Shape;111;p2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112" name="Google Shape;112;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25"/>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115" name="Google Shape;115;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6"/>
        <p:cNvGrpSpPr/>
        <p:nvPr/>
      </p:nvGrpSpPr>
      <p:grpSpPr>
        <a:xfrm>
          <a:off x="0" y="0"/>
          <a:ext cx="0" cy="0"/>
          <a:chOff x="0" y="0"/>
          <a:chExt cx="0" cy="0"/>
        </a:xfrm>
      </p:grpSpPr>
      <p:sp>
        <p:nvSpPr>
          <p:cNvPr id="117" name="Google Shape;117;p2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26"/>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119" name="Google Shape;119;p26"/>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20" name="Google Shape;120;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60" name="Google Shape;60;p13"/>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61" name="Google Shape;61;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16.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16.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16.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16.xml"/><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8"/>
          <p:cNvSpPr txBox="1">
            <a:spLocks noGrp="1"/>
          </p:cNvSpPr>
          <p:nvPr>
            <p:ph type="ctrTitle"/>
          </p:nvPr>
        </p:nvSpPr>
        <p:spPr>
          <a:xfrm>
            <a:off x="3418075" y="332200"/>
            <a:ext cx="5017500" cy="15789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a:t>Neonatal Outcomes</a:t>
            </a:r>
            <a:endParaRPr/>
          </a:p>
        </p:txBody>
      </p:sp>
      <p:sp>
        <p:nvSpPr>
          <p:cNvPr id="128" name="Google Shape;128;p28"/>
          <p:cNvSpPr txBox="1">
            <a:spLocks noGrp="1"/>
          </p:cNvSpPr>
          <p:nvPr>
            <p:ph type="subTitle" idx="1"/>
          </p:nvPr>
        </p:nvSpPr>
        <p:spPr>
          <a:xfrm>
            <a:off x="209325" y="1911100"/>
            <a:ext cx="5457300" cy="28479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2100"/>
              <a:buNone/>
            </a:pPr>
            <a:r>
              <a:rPr lang="en" sz="1800" dirty="0"/>
              <a:t>Harlieen Bindra, </a:t>
            </a:r>
            <a:r>
              <a:rPr lang="en" sz="1800" dirty="0" err="1"/>
              <a:t>Ravneet</a:t>
            </a:r>
            <a:r>
              <a:rPr lang="en" sz="1800" dirty="0"/>
              <a:t> Kaur, Bryan Brandt, Juan </a:t>
            </a:r>
            <a:r>
              <a:rPr lang="en" sz="1800" dirty="0" err="1"/>
              <a:t>Roa</a:t>
            </a:r>
            <a:r>
              <a:rPr lang="en" sz="1800" dirty="0"/>
              <a:t>, MJ Bernhardt, Samuel Ewert, Naveen </a:t>
            </a:r>
            <a:r>
              <a:rPr lang="en" sz="1800" dirty="0" err="1"/>
              <a:t>Panditharatne</a:t>
            </a:r>
            <a:r>
              <a:rPr lang="en" sz="1800" dirty="0"/>
              <a:t>, and Shawn Pieper</a:t>
            </a:r>
            <a:endParaRPr sz="1800" dirty="0"/>
          </a:p>
          <a:p>
            <a:pPr marL="0" lvl="0" indent="0" algn="r" rtl="0">
              <a:lnSpc>
                <a:spcPct val="100000"/>
              </a:lnSpc>
              <a:spcBef>
                <a:spcPts val="0"/>
              </a:spcBef>
              <a:spcAft>
                <a:spcPts val="0"/>
              </a:spcAft>
              <a:buSzPts val="2100"/>
              <a:buNone/>
            </a:pPr>
            <a:endParaRPr sz="1800" dirty="0"/>
          </a:p>
          <a:p>
            <a:pPr marL="0" lvl="0" indent="0" algn="r" rtl="0">
              <a:lnSpc>
                <a:spcPct val="100000"/>
              </a:lnSpc>
              <a:spcBef>
                <a:spcPts val="0"/>
              </a:spcBef>
              <a:spcAft>
                <a:spcPts val="0"/>
              </a:spcAft>
              <a:buSzPts val="2100"/>
              <a:buNone/>
            </a:pPr>
            <a:r>
              <a:rPr lang="en" sz="1800" dirty="0"/>
              <a:t>Zachary Oster</a:t>
            </a:r>
            <a:endParaRPr sz="1800" dirty="0"/>
          </a:p>
          <a:p>
            <a:pPr marL="0" lvl="0" indent="0" algn="r" rtl="0">
              <a:lnSpc>
                <a:spcPct val="100000"/>
              </a:lnSpc>
              <a:spcBef>
                <a:spcPts val="0"/>
              </a:spcBef>
              <a:spcAft>
                <a:spcPts val="0"/>
              </a:spcAft>
              <a:buSzPts val="2100"/>
              <a:buNone/>
            </a:pPr>
            <a:endParaRPr sz="1800" dirty="0"/>
          </a:p>
          <a:p>
            <a:pPr marL="0" lvl="0" indent="0" algn="r" rtl="0">
              <a:lnSpc>
                <a:spcPct val="100000"/>
              </a:lnSpc>
              <a:spcBef>
                <a:spcPts val="0"/>
              </a:spcBef>
              <a:spcAft>
                <a:spcPts val="0"/>
              </a:spcAft>
              <a:buSzPts val="2100"/>
              <a:buNone/>
            </a:pPr>
            <a:r>
              <a:rPr lang="en" sz="1800" dirty="0"/>
              <a:t>CS 776 - Advanced Software Engineering</a:t>
            </a:r>
            <a:endParaRPr sz="1800" dirty="0"/>
          </a:p>
          <a:p>
            <a:pPr marL="0" lvl="0" indent="0" algn="r" rtl="0">
              <a:lnSpc>
                <a:spcPct val="100000"/>
              </a:lnSpc>
              <a:spcBef>
                <a:spcPts val="0"/>
              </a:spcBef>
              <a:spcAft>
                <a:spcPts val="0"/>
              </a:spcAft>
              <a:buSzPts val="2100"/>
              <a:buNone/>
            </a:pPr>
            <a:endParaRPr sz="1800" dirty="0"/>
          </a:p>
          <a:p>
            <a:pPr marL="0" lvl="0" indent="0" algn="r" rtl="0">
              <a:lnSpc>
                <a:spcPct val="100000"/>
              </a:lnSpc>
              <a:spcBef>
                <a:spcPts val="0"/>
              </a:spcBef>
              <a:spcAft>
                <a:spcPts val="0"/>
              </a:spcAft>
              <a:buSzPts val="2100"/>
              <a:buNone/>
            </a:pPr>
            <a:r>
              <a:rPr lang="en" sz="1800" dirty="0"/>
              <a:t>9 May 2023</a:t>
            </a:r>
            <a:endParaRPr sz="1800" dirty="0"/>
          </a:p>
          <a:p>
            <a:pPr marL="0" lvl="0" indent="0" algn="r" rtl="0">
              <a:lnSpc>
                <a:spcPct val="100000"/>
              </a:lnSpc>
              <a:spcBef>
                <a:spcPts val="0"/>
              </a:spcBef>
              <a:spcAft>
                <a:spcPts val="0"/>
              </a:spcAft>
              <a:buSzPts val="2100"/>
              <a:buNone/>
            </a:pP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grpSp>
        <p:nvGrpSpPr>
          <p:cNvPr id="133" name="Google Shape;133;p29"/>
          <p:cNvGrpSpPr/>
          <p:nvPr/>
        </p:nvGrpSpPr>
        <p:grpSpPr>
          <a:xfrm>
            <a:off x="214313" y="562374"/>
            <a:ext cx="8929687" cy="4581340"/>
            <a:chOff x="-285749" y="0"/>
            <a:chExt cx="11906249" cy="5644825"/>
          </a:xfrm>
        </p:grpSpPr>
        <p:sp>
          <p:nvSpPr>
            <p:cNvPr id="134" name="Google Shape;134;p29"/>
            <p:cNvSpPr/>
            <p:nvPr/>
          </p:nvSpPr>
          <p:spPr>
            <a:xfrm>
              <a:off x="-32" y="3045919"/>
              <a:ext cx="11620500" cy="1210026"/>
            </a:xfrm>
            <a:prstGeom prst="rect">
              <a:avLst/>
            </a:prstGeom>
            <a:solidFill>
              <a:schemeClr val="lt1">
                <a:alpha val="89411"/>
              </a:schemeClr>
            </a:solidFill>
            <a:ln w="12700" cap="flat" cmpd="sng">
              <a:solidFill>
                <a:schemeClr val="accent4"/>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29"/>
            <p:cNvSpPr/>
            <p:nvPr/>
          </p:nvSpPr>
          <p:spPr>
            <a:xfrm>
              <a:off x="0" y="238878"/>
              <a:ext cx="11620500" cy="1265600"/>
            </a:xfrm>
            <a:prstGeom prst="rect">
              <a:avLst/>
            </a:prstGeom>
            <a:solidFill>
              <a:schemeClr val="lt1">
                <a:alpha val="89411"/>
              </a:schemeClr>
            </a:solidFill>
            <a:ln w="12700" cap="flat" cmpd="sng">
              <a:solidFill>
                <a:schemeClr val="accent2"/>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29"/>
            <p:cNvSpPr txBox="1"/>
            <p:nvPr/>
          </p:nvSpPr>
          <p:spPr>
            <a:xfrm>
              <a:off x="0" y="238878"/>
              <a:ext cx="11620500" cy="1324834"/>
            </a:xfrm>
            <a:prstGeom prst="rect">
              <a:avLst/>
            </a:prstGeom>
            <a:noFill/>
            <a:ln>
              <a:noFill/>
            </a:ln>
          </p:spPr>
          <p:txBody>
            <a:bodyPr spcFirstLastPara="1" wrap="square" lIns="676400" tIns="218675" rIns="676400" bIns="85325" anchor="t" anchorCtr="0">
              <a:noAutofit/>
            </a:bodyPr>
            <a:lstStyle/>
            <a:p>
              <a:pPr marL="127000" marR="0" lvl="1" indent="-127000" algn="l" rtl="0">
                <a:lnSpc>
                  <a:spcPct val="9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Neonates and Neonatal Intensive Care Unit</a:t>
              </a:r>
              <a:endParaRPr sz="1100" b="0" i="0" u="none" strike="noStrike" cap="none">
                <a:solidFill>
                  <a:srgbClr val="000000"/>
                </a:solidFill>
                <a:latin typeface="Arial"/>
                <a:ea typeface="Arial"/>
                <a:cs typeface="Arial"/>
                <a:sym typeface="Arial"/>
              </a:endParaRPr>
            </a:p>
            <a:p>
              <a:pPr marL="127000" marR="0" lvl="1" indent="-127000" algn="l" rtl="0">
                <a:lnSpc>
                  <a:spcPct val="90000"/>
                </a:lnSpc>
                <a:spcBef>
                  <a:spcPts val="20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Importance of Quality Bundles</a:t>
              </a:r>
              <a:endParaRPr sz="1100" b="0" i="0" u="none" strike="noStrike" cap="none">
                <a:solidFill>
                  <a:srgbClr val="000000"/>
                </a:solidFill>
                <a:latin typeface="Arial"/>
                <a:ea typeface="Arial"/>
                <a:cs typeface="Arial"/>
                <a:sym typeface="Arial"/>
              </a:endParaRPr>
            </a:p>
            <a:p>
              <a:pPr marL="127000" marR="0" lvl="1" indent="-127000" algn="l" rtl="0">
                <a:lnSpc>
                  <a:spcPct val="90000"/>
                </a:lnSpc>
                <a:spcBef>
                  <a:spcPts val="20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Workflow</a:t>
              </a:r>
              <a:endParaRPr sz="1100" b="0" i="0" u="none" strike="noStrike" cap="none">
                <a:solidFill>
                  <a:srgbClr val="000000"/>
                </a:solidFill>
                <a:latin typeface="Arial"/>
                <a:ea typeface="Arial"/>
                <a:cs typeface="Arial"/>
                <a:sym typeface="Arial"/>
              </a:endParaRPr>
            </a:p>
            <a:p>
              <a:pPr marL="127000" marR="0" lvl="1" indent="-127000" algn="l" rtl="0">
                <a:lnSpc>
                  <a:spcPct val="90000"/>
                </a:lnSpc>
                <a:spcBef>
                  <a:spcPts val="20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Requirement specification(Trello), use cases, mocks and test cases</a:t>
              </a:r>
              <a:endParaRPr sz="1100" b="0" i="0" u="none" strike="noStrike" cap="none">
                <a:solidFill>
                  <a:srgbClr val="000000"/>
                </a:solidFill>
                <a:latin typeface="Arial"/>
                <a:ea typeface="Arial"/>
                <a:cs typeface="Arial"/>
                <a:sym typeface="Arial"/>
              </a:endParaRPr>
            </a:p>
          </p:txBody>
        </p:sp>
        <p:sp>
          <p:nvSpPr>
            <p:cNvPr id="137" name="Google Shape;137;p29"/>
            <p:cNvSpPr/>
            <p:nvPr/>
          </p:nvSpPr>
          <p:spPr>
            <a:xfrm>
              <a:off x="411168" y="0"/>
              <a:ext cx="8134500" cy="412800"/>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29"/>
            <p:cNvSpPr txBox="1"/>
            <p:nvPr/>
          </p:nvSpPr>
          <p:spPr>
            <a:xfrm>
              <a:off x="431323" y="20155"/>
              <a:ext cx="8094000" cy="372600"/>
            </a:xfrm>
            <a:prstGeom prst="rect">
              <a:avLst/>
            </a:prstGeom>
            <a:noFill/>
            <a:ln>
              <a:noFill/>
            </a:ln>
          </p:spPr>
          <p:txBody>
            <a:bodyPr spcFirstLastPara="1" wrap="square" lIns="230600" tIns="0" rIns="2306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 sz="1200" b="0" i="0" u="none" strike="noStrike" cap="none">
                  <a:solidFill>
                    <a:schemeClr val="lt1"/>
                  </a:solidFill>
                  <a:latin typeface="Calibri"/>
                  <a:ea typeface="Calibri"/>
                  <a:cs typeface="Calibri"/>
                  <a:sym typeface="Calibri"/>
                </a:rPr>
                <a:t>1.Introduction </a:t>
              </a:r>
              <a:endParaRPr sz="1100" b="0" i="0" u="none" strike="noStrike" cap="none">
                <a:solidFill>
                  <a:srgbClr val="000000"/>
                </a:solidFill>
                <a:latin typeface="Arial"/>
                <a:ea typeface="Arial"/>
                <a:cs typeface="Arial"/>
                <a:sym typeface="Arial"/>
              </a:endParaRPr>
            </a:p>
          </p:txBody>
        </p:sp>
        <p:sp>
          <p:nvSpPr>
            <p:cNvPr id="139" name="Google Shape;139;p29"/>
            <p:cNvSpPr/>
            <p:nvPr/>
          </p:nvSpPr>
          <p:spPr>
            <a:xfrm>
              <a:off x="-16" y="1939474"/>
              <a:ext cx="11620484" cy="827592"/>
            </a:xfrm>
            <a:prstGeom prst="rect">
              <a:avLst/>
            </a:prstGeom>
            <a:solidFill>
              <a:schemeClr val="lt1">
                <a:alpha val="89411"/>
              </a:schemeClr>
            </a:solidFill>
            <a:ln w="12700" cap="flat" cmpd="sng">
              <a:solidFill>
                <a:schemeClr val="accent3"/>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29"/>
            <p:cNvSpPr/>
            <p:nvPr/>
          </p:nvSpPr>
          <p:spPr>
            <a:xfrm>
              <a:off x="544517" y="1599335"/>
              <a:ext cx="8134500" cy="412799"/>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29"/>
            <p:cNvSpPr txBox="1"/>
            <p:nvPr/>
          </p:nvSpPr>
          <p:spPr>
            <a:xfrm>
              <a:off x="578804" y="1893151"/>
              <a:ext cx="8094000" cy="372600"/>
            </a:xfrm>
            <a:prstGeom prst="rect">
              <a:avLst/>
            </a:prstGeom>
            <a:noFill/>
            <a:ln>
              <a:noFill/>
            </a:ln>
          </p:spPr>
          <p:txBody>
            <a:bodyPr spcFirstLastPara="1" wrap="square" lIns="230600" tIns="0" rIns="230600" bIns="0" anchor="ctr" anchorCtr="0">
              <a:noAutofit/>
            </a:bodyPr>
            <a:lstStyle/>
            <a:p>
              <a:pPr marL="0" marR="0" lvl="0" indent="0" algn="l" rtl="0">
                <a:lnSpc>
                  <a:spcPct val="90000"/>
                </a:lnSpc>
                <a:spcBef>
                  <a:spcPts val="0"/>
                </a:spcBef>
                <a:spcAft>
                  <a:spcPts val="0"/>
                </a:spcAft>
                <a:buClr>
                  <a:schemeClr val="lt1"/>
                </a:buClr>
                <a:buSzPts val="1200"/>
                <a:buFont typeface="Calibri"/>
                <a:buNone/>
              </a:pPr>
              <a:endParaRPr sz="1100" b="0" i="0" u="none" strike="noStrike" cap="none">
                <a:solidFill>
                  <a:srgbClr val="000000"/>
                </a:solidFill>
                <a:latin typeface="Arial"/>
                <a:ea typeface="Arial"/>
                <a:cs typeface="Arial"/>
                <a:sym typeface="Arial"/>
              </a:endParaRPr>
            </a:p>
          </p:txBody>
        </p:sp>
        <p:sp>
          <p:nvSpPr>
            <p:cNvPr id="142" name="Google Shape;142;p29"/>
            <p:cNvSpPr txBox="1"/>
            <p:nvPr/>
          </p:nvSpPr>
          <p:spPr>
            <a:xfrm>
              <a:off x="-285749" y="1843270"/>
              <a:ext cx="11620500" cy="619649"/>
            </a:xfrm>
            <a:prstGeom prst="rect">
              <a:avLst/>
            </a:prstGeom>
            <a:noFill/>
            <a:ln>
              <a:noFill/>
            </a:ln>
          </p:spPr>
          <p:txBody>
            <a:bodyPr spcFirstLastPara="1" wrap="square" lIns="676400" tIns="218675" rIns="676400" bIns="85325" anchor="t" anchorCtr="0">
              <a:noAutofit/>
            </a:bodyPr>
            <a:lstStyle/>
            <a:p>
              <a:pPr marL="127000" marR="0" lvl="1" indent="-127000" algn="l" rtl="0">
                <a:lnSpc>
                  <a:spcPct val="9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Entity relationship</a:t>
              </a:r>
              <a:endParaRPr sz="1100" b="0" i="0" u="none" strike="noStrike" cap="none">
                <a:solidFill>
                  <a:srgbClr val="000000"/>
                </a:solidFill>
                <a:latin typeface="Arial"/>
                <a:ea typeface="Arial"/>
                <a:cs typeface="Arial"/>
                <a:sym typeface="Arial"/>
              </a:endParaRPr>
            </a:p>
            <a:p>
              <a:pPr marL="127000" marR="0" lvl="1" indent="-127000" algn="l" rtl="0">
                <a:lnSpc>
                  <a:spcPct val="90000"/>
                </a:lnSpc>
                <a:spcBef>
                  <a:spcPts val="20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Postgres</a:t>
              </a:r>
              <a:endParaRPr sz="1100" b="0" i="0" u="none" strike="noStrike" cap="none">
                <a:solidFill>
                  <a:srgbClr val="000000"/>
                </a:solidFill>
                <a:latin typeface="Arial"/>
                <a:ea typeface="Arial"/>
                <a:cs typeface="Arial"/>
                <a:sym typeface="Arial"/>
              </a:endParaRPr>
            </a:p>
          </p:txBody>
        </p:sp>
        <p:sp>
          <p:nvSpPr>
            <p:cNvPr id="143" name="Google Shape;143;p29"/>
            <p:cNvSpPr/>
            <p:nvPr/>
          </p:nvSpPr>
          <p:spPr>
            <a:xfrm>
              <a:off x="538304" y="2809296"/>
              <a:ext cx="8134500" cy="412799"/>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29"/>
            <p:cNvSpPr txBox="1"/>
            <p:nvPr/>
          </p:nvSpPr>
          <p:spPr>
            <a:xfrm>
              <a:off x="431323" y="1619248"/>
              <a:ext cx="8094000" cy="372600"/>
            </a:xfrm>
            <a:prstGeom prst="rect">
              <a:avLst/>
            </a:prstGeom>
            <a:noFill/>
            <a:ln>
              <a:noFill/>
            </a:ln>
          </p:spPr>
          <p:txBody>
            <a:bodyPr spcFirstLastPara="1" wrap="square" lIns="230600" tIns="0" rIns="2306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 sz="1200" b="0" i="0" u="none" strike="noStrike" cap="none">
                  <a:solidFill>
                    <a:schemeClr val="lt1"/>
                  </a:solidFill>
                  <a:latin typeface="Calibri"/>
                  <a:ea typeface="Calibri"/>
                  <a:cs typeface="Calibri"/>
                  <a:sym typeface="Calibri"/>
                </a:rPr>
                <a:t>2. Database</a:t>
              </a:r>
              <a:endParaRPr sz="1100" b="0" i="0" u="none" strike="noStrike" cap="none">
                <a:solidFill>
                  <a:srgbClr val="000000"/>
                </a:solidFill>
                <a:latin typeface="Arial"/>
                <a:ea typeface="Arial"/>
                <a:cs typeface="Arial"/>
                <a:sym typeface="Arial"/>
              </a:endParaRPr>
            </a:p>
          </p:txBody>
        </p:sp>
        <p:sp>
          <p:nvSpPr>
            <p:cNvPr id="145" name="Google Shape;145;p29"/>
            <p:cNvSpPr/>
            <p:nvPr/>
          </p:nvSpPr>
          <p:spPr>
            <a:xfrm>
              <a:off x="0" y="4657905"/>
              <a:ext cx="11620500" cy="352500"/>
            </a:xfrm>
            <a:prstGeom prst="rect">
              <a:avLst/>
            </a:prstGeom>
            <a:solidFill>
              <a:schemeClr val="lt1">
                <a:alpha val="89411"/>
              </a:schemeClr>
            </a:solidFill>
            <a:ln w="12700" cap="flat" cmpd="sng">
              <a:solidFill>
                <a:srgbClr val="599BD5"/>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29"/>
            <p:cNvSpPr/>
            <p:nvPr/>
          </p:nvSpPr>
          <p:spPr>
            <a:xfrm>
              <a:off x="558649" y="4353759"/>
              <a:ext cx="8134500" cy="412800"/>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29"/>
            <p:cNvSpPr txBox="1"/>
            <p:nvPr/>
          </p:nvSpPr>
          <p:spPr>
            <a:xfrm>
              <a:off x="578804" y="4373914"/>
              <a:ext cx="8094000" cy="372600"/>
            </a:xfrm>
            <a:prstGeom prst="rect">
              <a:avLst/>
            </a:prstGeom>
            <a:noFill/>
            <a:ln>
              <a:noFill/>
            </a:ln>
          </p:spPr>
          <p:txBody>
            <a:bodyPr spcFirstLastPara="1" wrap="square" lIns="230600" tIns="0" rIns="2306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 sz="1200" b="0" i="0" u="none" strike="noStrike" cap="none">
                  <a:solidFill>
                    <a:schemeClr val="lt1"/>
                  </a:solidFill>
                  <a:latin typeface="Calibri"/>
                  <a:ea typeface="Calibri"/>
                  <a:cs typeface="Calibri"/>
                  <a:sym typeface="Calibri"/>
                </a:rPr>
                <a:t>4. Testing Phase</a:t>
              </a:r>
              <a:endParaRPr sz="1100" b="0" i="0" u="none" strike="noStrike" cap="none">
                <a:solidFill>
                  <a:srgbClr val="000000"/>
                </a:solidFill>
                <a:latin typeface="Arial"/>
                <a:ea typeface="Arial"/>
                <a:cs typeface="Arial"/>
                <a:sym typeface="Arial"/>
              </a:endParaRPr>
            </a:p>
          </p:txBody>
        </p:sp>
        <p:sp>
          <p:nvSpPr>
            <p:cNvPr id="148" name="Google Shape;148;p29"/>
            <p:cNvSpPr/>
            <p:nvPr/>
          </p:nvSpPr>
          <p:spPr>
            <a:xfrm>
              <a:off x="0" y="5292325"/>
              <a:ext cx="11620500" cy="352500"/>
            </a:xfrm>
            <a:prstGeom prst="rect">
              <a:avLst/>
            </a:prstGeom>
            <a:solidFill>
              <a:schemeClr val="lt1">
                <a:alpha val="89411"/>
              </a:schemeClr>
            </a:solidFill>
            <a:ln w="12700" cap="flat" cmpd="sng">
              <a:solidFill>
                <a:schemeClr val="accent6"/>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29"/>
            <p:cNvSpPr/>
            <p:nvPr/>
          </p:nvSpPr>
          <p:spPr>
            <a:xfrm>
              <a:off x="581025" y="5085886"/>
              <a:ext cx="8134500" cy="412800"/>
            </a:xfrm>
            <a:prstGeom prst="roundRect">
              <a:avLst>
                <a:gd name="adj" fmla="val 16667"/>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68575" tIns="68575" rIns="68575" bIns="685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29"/>
            <p:cNvSpPr txBox="1"/>
            <p:nvPr/>
          </p:nvSpPr>
          <p:spPr>
            <a:xfrm>
              <a:off x="601180" y="5106041"/>
              <a:ext cx="8094000" cy="372600"/>
            </a:xfrm>
            <a:prstGeom prst="rect">
              <a:avLst/>
            </a:prstGeom>
            <a:noFill/>
            <a:ln>
              <a:noFill/>
            </a:ln>
          </p:spPr>
          <p:txBody>
            <a:bodyPr spcFirstLastPara="1" wrap="square" lIns="230600" tIns="0" rIns="230600" bIns="0" anchor="ctr" anchorCtr="0">
              <a:noAutofit/>
            </a:bodyPr>
            <a:lstStyle/>
            <a:p>
              <a:pPr marL="0" marR="0" lvl="0" indent="0" algn="l" rtl="0">
                <a:lnSpc>
                  <a:spcPct val="90000"/>
                </a:lnSpc>
                <a:spcBef>
                  <a:spcPts val="0"/>
                </a:spcBef>
                <a:spcAft>
                  <a:spcPts val="0"/>
                </a:spcAft>
                <a:buClr>
                  <a:schemeClr val="lt1"/>
                </a:buClr>
                <a:buSzPts val="1200"/>
                <a:buFont typeface="Calibri"/>
                <a:buNone/>
              </a:pPr>
              <a:r>
                <a:rPr lang="en" sz="1200">
                  <a:solidFill>
                    <a:schemeClr val="dk1"/>
                  </a:solidFill>
                  <a:latin typeface="Calibri"/>
                  <a:ea typeface="Calibri"/>
                  <a:cs typeface="Calibri"/>
                  <a:sym typeface="Calibri"/>
                </a:rPr>
                <a:t>5.</a:t>
              </a:r>
              <a:r>
                <a:rPr lang="en" sz="1200" b="0" i="0" u="none" strike="noStrike" cap="none">
                  <a:solidFill>
                    <a:schemeClr val="dk1"/>
                  </a:solidFill>
                  <a:latin typeface="Calibri"/>
                  <a:ea typeface="Calibri"/>
                  <a:cs typeface="Calibri"/>
                  <a:sym typeface="Calibri"/>
                </a:rPr>
                <a:t>Live Demonstration</a:t>
              </a:r>
              <a:endParaRPr sz="1100" b="0" i="0" u="none" strike="noStrike" cap="none">
                <a:solidFill>
                  <a:schemeClr val="dk1"/>
                </a:solidFill>
                <a:latin typeface="Arial"/>
                <a:ea typeface="Arial"/>
                <a:cs typeface="Arial"/>
                <a:sym typeface="Arial"/>
              </a:endParaRPr>
            </a:p>
          </p:txBody>
        </p:sp>
        <p:sp>
          <p:nvSpPr>
            <p:cNvPr id="151" name="Google Shape;151;p29"/>
            <p:cNvSpPr txBox="1"/>
            <p:nvPr/>
          </p:nvSpPr>
          <p:spPr>
            <a:xfrm>
              <a:off x="-185532" y="3071212"/>
              <a:ext cx="11620500" cy="1257254"/>
            </a:xfrm>
            <a:prstGeom prst="rect">
              <a:avLst/>
            </a:prstGeom>
            <a:noFill/>
            <a:ln>
              <a:noFill/>
            </a:ln>
          </p:spPr>
          <p:txBody>
            <a:bodyPr spcFirstLastPara="1" wrap="square" lIns="676400" tIns="218675" rIns="676400" bIns="85325" anchor="t" anchorCtr="0">
              <a:noAutofit/>
            </a:bodyPr>
            <a:lstStyle/>
            <a:p>
              <a:pPr marL="127000" marR="0" lvl="1" indent="-127000" algn="l" rtl="0">
                <a:lnSpc>
                  <a:spcPct val="90000"/>
                </a:lnSpc>
                <a:spcBef>
                  <a:spcPts val="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Java, maven </a:t>
              </a:r>
              <a:endParaRPr sz="1100" b="0" i="0" u="none" strike="noStrike" cap="none">
                <a:solidFill>
                  <a:srgbClr val="000000"/>
                </a:solidFill>
                <a:latin typeface="Arial"/>
                <a:ea typeface="Arial"/>
                <a:cs typeface="Arial"/>
                <a:sym typeface="Arial"/>
              </a:endParaRPr>
            </a:p>
            <a:p>
              <a:pPr marL="127000" marR="0" lvl="1" indent="-127000" algn="l" rtl="0">
                <a:lnSpc>
                  <a:spcPct val="90000"/>
                </a:lnSpc>
                <a:spcBef>
                  <a:spcPts val="20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Spring framework </a:t>
              </a:r>
              <a:endParaRPr sz="1100" b="0" i="0" u="none" strike="noStrike" cap="none">
                <a:solidFill>
                  <a:srgbClr val="000000"/>
                </a:solidFill>
                <a:latin typeface="Arial"/>
                <a:ea typeface="Arial"/>
                <a:cs typeface="Arial"/>
                <a:sym typeface="Arial"/>
              </a:endParaRPr>
            </a:p>
            <a:p>
              <a:pPr marL="127000" marR="0" lvl="1" indent="-127000" algn="l" rtl="0">
                <a:lnSpc>
                  <a:spcPct val="90000"/>
                </a:lnSpc>
                <a:spcBef>
                  <a:spcPts val="20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React framework</a:t>
              </a:r>
              <a:endParaRPr sz="1100" b="0" i="0" u="none" strike="noStrike" cap="none">
                <a:solidFill>
                  <a:srgbClr val="000000"/>
                </a:solidFill>
                <a:latin typeface="Arial"/>
                <a:ea typeface="Arial"/>
                <a:cs typeface="Arial"/>
                <a:sym typeface="Arial"/>
              </a:endParaRPr>
            </a:p>
            <a:p>
              <a:pPr marL="127000" marR="0" lvl="1" indent="-127000" algn="l" rtl="0">
                <a:lnSpc>
                  <a:spcPct val="90000"/>
                </a:lnSpc>
                <a:spcBef>
                  <a:spcPts val="200"/>
                </a:spcBef>
                <a:spcAft>
                  <a:spcPts val="0"/>
                </a:spcAft>
                <a:buClr>
                  <a:schemeClr val="dk1"/>
                </a:buClr>
                <a:buSzPts val="1200"/>
                <a:buFont typeface="Calibri"/>
                <a:buChar char="•"/>
              </a:pPr>
              <a:r>
                <a:rPr lang="en" sz="1200" b="0" i="0" u="none" strike="noStrike" cap="none">
                  <a:solidFill>
                    <a:schemeClr val="dk1"/>
                  </a:solidFill>
                  <a:latin typeface="Calibri"/>
                  <a:ea typeface="Calibri"/>
                  <a:cs typeface="Calibri"/>
                  <a:sym typeface="Calibri"/>
                </a:rPr>
                <a:t>Version Control : GitHub</a:t>
              </a:r>
              <a:endParaRPr sz="1100" b="0" i="0" u="none" strike="noStrike" cap="none">
                <a:solidFill>
                  <a:srgbClr val="000000"/>
                </a:solidFill>
                <a:latin typeface="Arial"/>
                <a:ea typeface="Arial"/>
                <a:cs typeface="Arial"/>
                <a:sym typeface="Arial"/>
              </a:endParaRPr>
            </a:p>
          </p:txBody>
        </p:sp>
      </p:grpSp>
      <p:sp>
        <p:nvSpPr>
          <p:cNvPr id="152" name="Google Shape;152;p29"/>
          <p:cNvSpPr txBox="1">
            <a:spLocks noGrp="1"/>
          </p:cNvSpPr>
          <p:nvPr>
            <p:ph type="ctrTitle"/>
          </p:nvPr>
        </p:nvSpPr>
        <p:spPr>
          <a:xfrm>
            <a:off x="628638" y="114334"/>
            <a:ext cx="7886700" cy="390000"/>
          </a:xfrm>
          <a:prstGeom prst="rect">
            <a:avLst/>
          </a:prstGeom>
          <a:solidFill>
            <a:schemeClr val="lt1"/>
          </a:solidFill>
          <a:ln>
            <a:noFill/>
          </a:ln>
        </p:spPr>
        <p:txBody>
          <a:bodyPr spcFirstLastPara="1" wrap="square" lIns="68575" tIns="34275" rIns="68575" bIns="34275" anchor="ctr" anchorCtr="0">
            <a:normAutofit fontScale="90000"/>
          </a:bodyPr>
          <a:lstStyle/>
          <a:p>
            <a:pPr marL="0" lvl="0" indent="0" algn="ctr" rtl="0">
              <a:lnSpc>
                <a:spcPct val="90000"/>
              </a:lnSpc>
              <a:spcBef>
                <a:spcPts val="0"/>
              </a:spcBef>
              <a:spcAft>
                <a:spcPts val="0"/>
              </a:spcAft>
              <a:buSzPct val="51282"/>
              <a:buNone/>
            </a:pPr>
            <a:r>
              <a:rPr lang="en" sz="3800"/>
              <a:t>Agenda</a:t>
            </a:r>
            <a:endParaRPr sz="3800"/>
          </a:p>
        </p:txBody>
      </p:sp>
      <p:sp>
        <p:nvSpPr>
          <p:cNvPr id="153" name="Google Shape;153;p29"/>
          <p:cNvSpPr txBox="1"/>
          <p:nvPr/>
        </p:nvSpPr>
        <p:spPr>
          <a:xfrm>
            <a:off x="832353" y="2908057"/>
            <a:ext cx="5436704" cy="258532"/>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lt1"/>
              </a:buClr>
              <a:buSzPts val="1200"/>
              <a:buFont typeface="Calibri"/>
              <a:buNone/>
            </a:pPr>
            <a:r>
              <a:rPr lang="en" sz="1200" b="0" i="0" u="none" strike="noStrike" cap="none">
                <a:solidFill>
                  <a:schemeClr val="lt1"/>
                </a:solidFill>
                <a:latin typeface="Calibri"/>
                <a:ea typeface="Calibri"/>
                <a:cs typeface="Calibri"/>
                <a:sym typeface="Calibri"/>
              </a:rPr>
              <a:t>3. Technology Stack</a:t>
            </a:r>
            <a:endParaRPr sz="1200" b="0" i="0"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Context &amp; Domain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1"/>
          <p:cNvSpPr/>
          <p:nvPr/>
        </p:nvSpPr>
        <p:spPr>
          <a:xfrm>
            <a:off x="1143000" y="5087188"/>
            <a:ext cx="6858000" cy="66675"/>
          </a:xfrm>
          <a:prstGeom prst="rect">
            <a:avLst/>
          </a:prstGeom>
          <a:solidFill>
            <a:srgbClr val="F26C5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50" b="0" i="0" u="none" strike="noStrike" cap="none">
              <a:solidFill>
                <a:srgbClr val="F26C57"/>
              </a:solidFill>
              <a:latin typeface="Arial"/>
              <a:ea typeface="Arial"/>
              <a:cs typeface="Arial"/>
              <a:sym typeface="Arial"/>
            </a:endParaRPr>
          </a:p>
        </p:txBody>
      </p:sp>
      <p:sp>
        <p:nvSpPr>
          <p:cNvPr id="166" name="Google Shape;166;p31"/>
          <p:cNvSpPr txBox="1">
            <a:spLocks noGrp="1"/>
          </p:cNvSpPr>
          <p:nvPr>
            <p:ph type="title"/>
          </p:nvPr>
        </p:nvSpPr>
        <p:spPr>
          <a:xfrm>
            <a:off x="771653" y="237186"/>
            <a:ext cx="7886700" cy="381595"/>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F26C57"/>
              </a:buClr>
              <a:buSzPts val="2400"/>
              <a:buFont typeface="Calibri"/>
              <a:buNone/>
            </a:pPr>
            <a:r>
              <a:rPr lang="en" sz="3400">
                <a:solidFill>
                  <a:schemeClr val="dk1"/>
                </a:solidFill>
              </a:rPr>
              <a:t>Background</a:t>
            </a:r>
            <a:endParaRPr sz="3400">
              <a:solidFill>
                <a:schemeClr val="dk1"/>
              </a:solidFill>
            </a:endParaRPr>
          </a:p>
        </p:txBody>
      </p:sp>
      <p:pic>
        <p:nvPicPr>
          <p:cNvPr id="167" name="Google Shape;167;p31" descr="A picture containing text, indoor, cluttered&#10;&#10;Description automatically generated"/>
          <p:cNvPicPr preferRelativeResize="0"/>
          <p:nvPr/>
        </p:nvPicPr>
        <p:blipFill rotWithShape="1">
          <a:blip r:embed="rId3">
            <a:alphaModFix/>
          </a:blip>
          <a:srcRect/>
          <a:stretch/>
        </p:blipFill>
        <p:spPr>
          <a:xfrm>
            <a:off x="103687" y="1244015"/>
            <a:ext cx="4468313" cy="2210749"/>
          </a:xfrm>
          <a:prstGeom prst="rect">
            <a:avLst/>
          </a:prstGeom>
          <a:noFill/>
          <a:ln>
            <a:noFill/>
          </a:ln>
        </p:spPr>
      </p:pic>
      <p:pic>
        <p:nvPicPr>
          <p:cNvPr id="168" name="Google Shape;168;p31" descr="Diagram&#10;&#10;Description automatically generated"/>
          <p:cNvPicPr preferRelativeResize="0"/>
          <p:nvPr/>
        </p:nvPicPr>
        <p:blipFill rotWithShape="1">
          <a:blip r:embed="rId4">
            <a:alphaModFix/>
          </a:blip>
          <a:srcRect/>
          <a:stretch/>
        </p:blipFill>
        <p:spPr>
          <a:xfrm>
            <a:off x="4407166" y="2239462"/>
            <a:ext cx="4591592" cy="283598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2"/>
          <p:cNvSpPr/>
          <p:nvPr/>
        </p:nvSpPr>
        <p:spPr>
          <a:xfrm>
            <a:off x="331505" y="1656602"/>
            <a:ext cx="259200" cy="309375"/>
          </a:xfrm>
          <a:prstGeom prst="ellipse">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 sz="1350" b="0" i="0" u="none" strike="noStrike" cap="none">
                <a:solidFill>
                  <a:schemeClr val="lt1"/>
                </a:solidFill>
                <a:latin typeface="Calibri"/>
                <a:ea typeface="Calibri"/>
                <a:cs typeface="Calibri"/>
                <a:sym typeface="Calibri"/>
              </a:rPr>
              <a:t>1</a:t>
            </a:r>
            <a:endParaRPr sz="1050" b="0" i="0" u="none" strike="noStrike" cap="none">
              <a:solidFill>
                <a:srgbClr val="000000"/>
              </a:solidFill>
              <a:latin typeface="Arial"/>
              <a:ea typeface="Arial"/>
              <a:cs typeface="Arial"/>
              <a:sym typeface="Arial"/>
            </a:endParaRPr>
          </a:p>
        </p:txBody>
      </p:sp>
      <p:sp>
        <p:nvSpPr>
          <p:cNvPr id="175" name="Google Shape;175;p32"/>
          <p:cNvSpPr txBox="1"/>
          <p:nvPr/>
        </p:nvSpPr>
        <p:spPr>
          <a:xfrm>
            <a:off x="523095" y="1851072"/>
            <a:ext cx="1927350" cy="1523464"/>
          </a:xfrm>
          <a:prstGeom prst="rect">
            <a:avLst/>
          </a:prstGeom>
          <a:solidFill>
            <a:srgbClr val="FFD966"/>
          </a:solidFill>
          <a:ln w="9525" cap="flat" cmpd="sng">
            <a:solidFill>
              <a:srgbClr val="385623"/>
            </a:solidFill>
            <a:prstDash val="solid"/>
            <a:round/>
            <a:headEnd type="none" w="sm" len="sm"/>
            <a:tailEnd type="none" w="sm" len="sm"/>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0" i="0" u="none" strike="noStrike" cap="none">
                <a:solidFill>
                  <a:schemeClr val="dk1"/>
                </a:solidFill>
                <a:latin typeface="Calibri"/>
                <a:ea typeface="Calibri"/>
                <a:cs typeface="Calibri"/>
                <a:sym typeface="Calibri"/>
              </a:rPr>
              <a:t>Use the platform to design the bundles. Define - </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Purpose &amp; applicability</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Inclusion criteria</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The data elements for compliance check</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Rules and recommendations to ensure compliance</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Targets</a:t>
            </a:r>
            <a:endParaRPr sz="1050" b="0" i="0" u="none" strike="noStrike" cap="none">
              <a:solidFill>
                <a:srgbClr val="000000"/>
              </a:solidFill>
              <a:latin typeface="Arial"/>
              <a:ea typeface="Arial"/>
              <a:cs typeface="Arial"/>
              <a:sym typeface="Arial"/>
            </a:endParaRPr>
          </a:p>
        </p:txBody>
      </p:sp>
      <p:sp>
        <p:nvSpPr>
          <p:cNvPr id="176" name="Google Shape;176;p32"/>
          <p:cNvSpPr/>
          <p:nvPr/>
        </p:nvSpPr>
        <p:spPr>
          <a:xfrm>
            <a:off x="3611208" y="3619257"/>
            <a:ext cx="259200" cy="309375"/>
          </a:xfrm>
          <a:prstGeom prst="ellipse">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 sz="1350" b="0" i="0" u="none" strike="noStrike" cap="none">
                <a:solidFill>
                  <a:schemeClr val="lt1"/>
                </a:solidFill>
                <a:latin typeface="Calibri"/>
                <a:ea typeface="Calibri"/>
                <a:cs typeface="Calibri"/>
                <a:sym typeface="Calibri"/>
              </a:rPr>
              <a:t>2</a:t>
            </a:r>
            <a:endParaRPr sz="1050" b="0" i="0" u="none" strike="noStrike" cap="none">
              <a:solidFill>
                <a:srgbClr val="000000"/>
              </a:solidFill>
              <a:latin typeface="Arial"/>
              <a:ea typeface="Arial"/>
              <a:cs typeface="Arial"/>
              <a:sym typeface="Arial"/>
            </a:endParaRPr>
          </a:p>
        </p:txBody>
      </p:sp>
      <p:sp>
        <p:nvSpPr>
          <p:cNvPr id="177" name="Google Shape;177;p32"/>
          <p:cNvSpPr txBox="1"/>
          <p:nvPr/>
        </p:nvSpPr>
        <p:spPr>
          <a:xfrm>
            <a:off x="3731309" y="3862519"/>
            <a:ext cx="1840050" cy="1038716"/>
          </a:xfrm>
          <a:prstGeom prst="rect">
            <a:avLst/>
          </a:prstGeom>
          <a:solidFill>
            <a:srgbClr val="F4B081"/>
          </a:solidFill>
          <a:ln w="9525" cap="flat" cmpd="sng">
            <a:solidFill>
              <a:srgbClr val="385623"/>
            </a:solidFill>
            <a:prstDash val="solid"/>
            <a:round/>
            <a:headEnd type="none" w="sm" len="sm"/>
            <a:tailEnd type="none" w="sm" len="sm"/>
          </a:ln>
        </p:spPr>
        <p:txBody>
          <a:bodyPr spcFirstLastPara="1" wrap="square" lIns="68550" tIns="34275" rIns="68550" bIns="34275" anchor="t" anchorCtr="0">
            <a:spAutoFit/>
          </a:bodyPr>
          <a:lstStyle/>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Real-time data acquisition</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Real-time recommendation notifications</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Capturing reason for non-compliance</a:t>
            </a:r>
            <a:endParaRPr sz="1050" b="0" i="0" u="none" strike="noStrike" cap="none">
              <a:solidFill>
                <a:srgbClr val="000000"/>
              </a:solidFill>
              <a:latin typeface="Arial"/>
              <a:ea typeface="Arial"/>
              <a:cs typeface="Arial"/>
              <a:sym typeface="Arial"/>
            </a:endParaRPr>
          </a:p>
        </p:txBody>
      </p:sp>
      <p:sp>
        <p:nvSpPr>
          <p:cNvPr id="178" name="Google Shape;178;p32"/>
          <p:cNvSpPr/>
          <p:nvPr/>
        </p:nvSpPr>
        <p:spPr>
          <a:xfrm>
            <a:off x="6428465" y="1787404"/>
            <a:ext cx="259200" cy="309375"/>
          </a:xfrm>
          <a:prstGeom prst="ellipse">
            <a:avLst/>
          </a:prstGeom>
          <a:solidFill>
            <a:srgbClr val="8DA9DB"/>
          </a:solidFill>
          <a:ln w="12700" cap="flat" cmpd="sng">
            <a:solidFill>
              <a:srgbClr val="31538F"/>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 sz="1350" b="0" i="0" u="none" strike="noStrike" cap="none">
                <a:solidFill>
                  <a:schemeClr val="lt1"/>
                </a:solidFill>
                <a:latin typeface="Calibri"/>
                <a:ea typeface="Calibri"/>
                <a:cs typeface="Calibri"/>
                <a:sym typeface="Calibri"/>
              </a:rPr>
              <a:t>3</a:t>
            </a:r>
            <a:endParaRPr sz="1050" b="0" i="0" u="none" strike="noStrike" cap="none">
              <a:solidFill>
                <a:srgbClr val="000000"/>
              </a:solidFill>
              <a:latin typeface="Arial"/>
              <a:ea typeface="Arial"/>
              <a:cs typeface="Arial"/>
              <a:sym typeface="Arial"/>
            </a:endParaRPr>
          </a:p>
        </p:txBody>
      </p:sp>
      <p:sp>
        <p:nvSpPr>
          <p:cNvPr id="179" name="Google Shape;179;p32"/>
          <p:cNvSpPr txBox="1"/>
          <p:nvPr/>
        </p:nvSpPr>
        <p:spPr>
          <a:xfrm>
            <a:off x="6600550" y="2050822"/>
            <a:ext cx="1928925" cy="1200298"/>
          </a:xfrm>
          <a:prstGeom prst="rect">
            <a:avLst/>
          </a:prstGeom>
          <a:solidFill>
            <a:srgbClr val="A8D08C"/>
          </a:solidFill>
          <a:ln w="9525" cap="flat" cmpd="sng">
            <a:solidFill>
              <a:srgbClr val="385623"/>
            </a:solidFill>
            <a:prstDash val="solid"/>
            <a:round/>
            <a:headEnd type="none" w="sm" len="sm"/>
            <a:tailEnd type="none" w="sm" len="sm"/>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0" i="0" u="none" strike="noStrike" cap="none">
                <a:solidFill>
                  <a:schemeClr val="dk1"/>
                </a:solidFill>
                <a:latin typeface="Calibri"/>
                <a:ea typeface="Calibri"/>
                <a:cs typeface="Calibri"/>
                <a:sym typeface="Calibri"/>
              </a:rPr>
              <a:t>Real-time dashboard</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Overall compliance of the protocol/bundle</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Individual neonate compliance</a:t>
            </a:r>
            <a:endParaRPr sz="1050" b="0"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chemeClr val="dk1"/>
              </a:buClr>
              <a:buSzPts val="1400"/>
              <a:buFont typeface="Arial"/>
              <a:buChar char="•"/>
            </a:pPr>
            <a:r>
              <a:rPr lang="en" sz="1050" b="0" i="0" u="none" strike="noStrike" cap="none">
                <a:solidFill>
                  <a:schemeClr val="dk1"/>
                </a:solidFill>
                <a:latin typeface="Calibri"/>
                <a:ea typeface="Calibri"/>
                <a:cs typeface="Calibri"/>
                <a:sym typeface="Calibri"/>
              </a:rPr>
              <a:t>Non-compliant data elements</a:t>
            </a:r>
            <a:endParaRPr sz="1050" b="0" i="0" u="none" strike="noStrike" cap="none">
              <a:solidFill>
                <a:srgbClr val="000000"/>
              </a:solidFill>
              <a:latin typeface="Arial"/>
              <a:ea typeface="Arial"/>
              <a:cs typeface="Arial"/>
              <a:sym typeface="Arial"/>
            </a:endParaRPr>
          </a:p>
        </p:txBody>
      </p:sp>
      <p:pic>
        <p:nvPicPr>
          <p:cNvPr id="180" name="Google Shape;180;p32"/>
          <p:cNvPicPr preferRelativeResize="0"/>
          <p:nvPr/>
        </p:nvPicPr>
        <p:blipFill rotWithShape="1">
          <a:blip r:embed="rId3">
            <a:alphaModFix/>
          </a:blip>
          <a:srcRect/>
          <a:stretch/>
        </p:blipFill>
        <p:spPr>
          <a:xfrm>
            <a:off x="2896725" y="1006669"/>
            <a:ext cx="3146391" cy="1747053"/>
          </a:xfrm>
          <a:prstGeom prst="rect">
            <a:avLst/>
          </a:prstGeom>
          <a:noFill/>
          <a:ln>
            <a:noFill/>
          </a:ln>
        </p:spPr>
      </p:pic>
      <p:sp>
        <p:nvSpPr>
          <p:cNvPr id="181" name="Google Shape;181;p32"/>
          <p:cNvSpPr txBox="1"/>
          <p:nvPr/>
        </p:nvSpPr>
        <p:spPr>
          <a:xfrm>
            <a:off x="2925150" y="1550250"/>
            <a:ext cx="1345725" cy="392385"/>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1" i="0" u="none" strike="noStrike" cap="none">
                <a:solidFill>
                  <a:schemeClr val="dk1"/>
                </a:solidFill>
                <a:latin typeface="Calibri"/>
                <a:ea typeface="Calibri"/>
                <a:cs typeface="Calibri"/>
                <a:sym typeface="Calibri"/>
              </a:rPr>
              <a:t>Major process indicators to improve</a:t>
            </a:r>
            <a:endParaRPr sz="1050" b="1" i="0" u="none" strike="noStrike" cap="none">
              <a:solidFill>
                <a:schemeClr val="dk1"/>
              </a:solidFill>
              <a:latin typeface="Calibri"/>
              <a:ea typeface="Calibri"/>
              <a:cs typeface="Calibri"/>
              <a:sym typeface="Calibri"/>
            </a:endParaRPr>
          </a:p>
        </p:txBody>
      </p:sp>
      <p:cxnSp>
        <p:nvCxnSpPr>
          <p:cNvPr id="182" name="Google Shape;182;p32"/>
          <p:cNvCxnSpPr/>
          <p:nvPr/>
        </p:nvCxnSpPr>
        <p:spPr>
          <a:xfrm rot="10800000">
            <a:off x="1691317" y="1429529"/>
            <a:ext cx="1100540" cy="0"/>
          </a:xfrm>
          <a:prstGeom prst="straightConnector1">
            <a:avLst/>
          </a:prstGeom>
          <a:noFill/>
          <a:ln w="28575" cap="flat" cmpd="sng">
            <a:solidFill>
              <a:schemeClr val="dk2"/>
            </a:solidFill>
            <a:prstDash val="solid"/>
            <a:round/>
            <a:headEnd type="none" w="sm" len="sm"/>
            <a:tailEnd type="none" w="sm" len="sm"/>
          </a:ln>
        </p:spPr>
      </p:cxnSp>
      <p:cxnSp>
        <p:nvCxnSpPr>
          <p:cNvPr id="183" name="Google Shape;183;p32"/>
          <p:cNvCxnSpPr/>
          <p:nvPr/>
        </p:nvCxnSpPr>
        <p:spPr>
          <a:xfrm>
            <a:off x="1696009" y="1445737"/>
            <a:ext cx="0" cy="405335"/>
          </a:xfrm>
          <a:prstGeom prst="straightConnector1">
            <a:avLst/>
          </a:prstGeom>
          <a:noFill/>
          <a:ln w="28575" cap="flat" cmpd="sng">
            <a:solidFill>
              <a:schemeClr val="dk2"/>
            </a:solidFill>
            <a:prstDash val="solid"/>
            <a:round/>
            <a:headEnd type="none" w="sm" len="sm"/>
            <a:tailEnd type="triangle" w="med" len="med"/>
          </a:ln>
        </p:spPr>
      </p:cxnSp>
      <p:cxnSp>
        <p:nvCxnSpPr>
          <p:cNvPr id="184" name="Google Shape;184;p32"/>
          <p:cNvCxnSpPr/>
          <p:nvPr/>
        </p:nvCxnSpPr>
        <p:spPr>
          <a:xfrm>
            <a:off x="1770110" y="4691905"/>
            <a:ext cx="1494225" cy="0"/>
          </a:xfrm>
          <a:prstGeom prst="straightConnector1">
            <a:avLst/>
          </a:prstGeom>
          <a:noFill/>
          <a:ln w="28575" cap="flat" cmpd="sng">
            <a:solidFill>
              <a:schemeClr val="dk2"/>
            </a:solidFill>
            <a:prstDash val="solid"/>
            <a:round/>
            <a:headEnd type="none" w="sm" len="sm"/>
            <a:tailEnd type="triangle" w="med" len="med"/>
          </a:ln>
        </p:spPr>
      </p:cxnSp>
      <p:cxnSp>
        <p:nvCxnSpPr>
          <p:cNvPr id="185" name="Google Shape;185;p32"/>
          <p:cNvCxnSpPr/>
          <p:nvPr/>
        </p:nvCxnSpPr>
        <p:spPr>
          <a:xfrm rot="10800000">
            <a:off x="7152075" y="3489150"/>
            <a:ext cx="0" cy="1220670"/>
          </a:xfrm>
          <a:prstGeom prst="straightConnector1">
            <a:avLst/>
          </a:prstGeom>
          <a:noFill/>
          <a:ln w="28575" cap="flat" cmpd="sng">
            <a:solidFill>
              <a:schemeClr val="dk2"/>
            </a:solidFill>
            <a:prstDash val="solid"/>
            <a:round/>
            <a:headEnd type="none" w="sm" len="sm"/>
            <a:tailEnd type="triangle" w="med" len="med"/>
          </a:ln>
        </p:spPr>
      </p:cxnSp>
      <p:cxnSp>
        <p:nvCxnSpPr>
          <p:cNvPr id="186" name="Google Shape;186;p32"/>
          <p:cNvCxnSpPr/>
          <p:nvPr/>
        </p:nvCxnSpPr>
        <p:spPr>
          <a:xfrm>
            <a:off x="1770110" y="3766952"/>
            <a:ext cx="0" cy="924953"/>
          </a:xfrm>
          <a:prstGeom prst="straightConnector1">
            <a:avLst/>
          </a:prstGeom>
          <a:noFill/>
          <a:ln w="28575" cap="flat" cmpd="sng">
            <a:solidFill>
              <a:schemeClr val="dk2"/>
            </a:solidFill>
            <a:prstDash val="solid"/>
            <a:round/>
            <a:headEnd type="none" w="sm" len="sm"/>
            <a:tailEnd type="none" w="sm" len="sm"/>
          </a:ln>
        </p:spPr>
      </p:cxnSp>
      <p:cxnSp>
        <p:nvCxnSpPr>
          <p:cNvPr id="187" name="Google Shape;187;p32"/>
          <p:cNvCxnSpPr/>
          <p:nvPr/>
        </p:nvCxnSpPr>
        <p:spPr>
          <a:xfrm rot="10800000">
            <a:off x="5713875" y="4684337"/>
            <a:ext cx="1438200" cy="17775"/>
          </a:xfrm>
          <a:prstGeom prst="straightConnector1">
            <a:avLst/>
          </a:prstGeom>
          <a:noFill/>
          <a:ln w="28575" cap="flat" cmpd="sng">
            <a:solidFill>
              <a:schemeClr val="dk2"/>
            </a:solidFill>
            <a:prstDash val="solid"/>
            <a:round/>
            <a:headEnd type="none" w="sm" len="sm"/>
            <a:tailEnd type="none" w="sm" len="sm"/>
          </a:ln>
        </p:spPr>
      </p:cxnSp>
      <p:cxnSp>
        <p:nvCxnSpPr>
          <p:cNvPr id="188" name="Google Shape;188;p32"/>
          <p:cNvCxnSpPr/>
          <p:nvPr/>
        </p:nvCxnSpPr>
        <p:spPr>
          <a:xfrm>
            <a:off x="7248525" y="1445738"/>
            <a:ext cx="3375" cy="567675"/>
          </a:xfrm>
          <a:prstGeom prst="straightConnector1">
            <a:avLst/>
          </a:prstGeom>
          <a:noFill/>
          <a:ln w="28575" cap="flat" cmpd="sng">
            <a:solidFill>
              <a:schemeClr val="dk2"/>
            </a:solidFill>
            <a:prstDash val="solid"/>
            <a:round/>
            <a:headEnd type="none" w="sm" len="sm"/>
            <a:tailEnd type="none" w="sm" len="sm"/>
          </a:ln>
        </p:spPr>
      </p:cxnSp>
      <p:cxnSp>
        <p:nvCxnSpPr>
          <p:cNvPr id="189" name="Google Shape;189;p32"/>
          <p:cNvCxnSpPr/>
          <p:nvPr/>
        </p:nvCxnSpPr>
        <p:spPr>
          <a:xfrm flipH="1">
            <a:off x="6083888" y="1445738"/>
            <a:ext cx="1167975" cy="7200"/>
          </a:xfrm>
          <a:prstGeom prst="straightConnector1">
            <a:avLst/>
          </a:prstGeom>
          <a:noFill/>
          <a:ln w="28575" cap="flat" cmpd="sng">
            <a:solidFill>
              <a:schemeClr val="dk2"/>
            </a:solidFill>
            <a:prstDash val="solid"/>
            <a:round/>
            <a:headEnd type="none" w="sm" len="sm"/>
            <a:tailEnd type="triangle" w="med" len="med"/>
          </a:ln>
        </p:spPr>
      </p:cxnSp>
      <p:sp>
        <p:nvSpPr>
          <p:cNvPr id="190" name="Google Shape;190;p32"/>
          <p:cNvSpPr txBox="1">
            <a:spLocks noGrp="1"/>
          </p:cNvSpPr>
          <p:nvPr>
            <p:ph type="title"/>
          </p:nvPr>
        </p:nvSpPr>
        <p:spPr>
          <a:xfrm>
            <a:off x="213881" y="50175"/>
            <a:ext cx="8874900" cy="542250"/>
          </a:xfrm>
          <a:prstGeom prst="rect">
            <a:avLst/>
          </a:prstGeom>
          <a:noFill/>
          <a:ln>
            <a:noFill/>
          </a:ln>
        </p:spPr>
        <p:txBody>
          <a:bodyPr spcFirstLastPara="1" wrap="square" lIns="68550" tIns="34275" rIns="68550" bIns="34275" anchor="b" anchorCtr="0">
            <a:noAutofit/>
          </a:bodyPr>
          <a:lstStyle/>
          <a:p>
            <a:pPr marL="0" lvl="0" indent="0" algn="ctr" rtl="0">
              <a:lnSpc>
                <a:spcPct val="90000"/>
              </a:lnSpc>
              <a:spcBef>
                <a:spcPts val="0"/>
              </a:spcBef>
              <a:spcAft>
                <a:spcPts val="0"/>
              </a:spcAft>
              <a:buSzPts val="2400"/>
              <a:buNone/>
            </a:pPr>
            <a:r>
              <a:rPr lang="en" sz="3400">
                <a:solidFill>
                  <a:schemeClr val="dk1"/>
                </a:solidFill>
              </a:rPr>
              <a:t>Reasoning behind the Quality bundles</a:t>
            </a:r>
            <a:endParaRPr sz="34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fade">
                                      <p:cBhvr>
                                        <p:cTn id="7" dur="1000"/>
                                        <p:tgtEl>
                                          <p:spTgt spid="1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gtEl>
                                        <p:attrNameLst>
                                          <p:attrName>style.visibility</p:attrName>
                                        </p:attrNameLst>
                                      </p:cBhvr>
                                      <p:to>
                                        <p:strVal val="visible"/>
                                      </p:to>
                                    </p:set>
                                    <p:animEffect transition="in" filter="fade">
                                      <p:cBhvr>
                                        <p:cTn id="12" dur="1000"/>
                                        <p:tgtEl>
                                          <p:spTgt spid="174"/>
                                        </p:tgtEl>
                                      </p:cBhvr>
                                    </p:animEffect>
                                  </p:childTnLst>
                                </p:cTn>
                              </p:par>
                              <p:par>
                                <p:cTn id="13" presetID="10" presetClass="entr" presetSubtype="0" fill="hold" nodeType="withEffect">
                                  <p:stCondLst>
                                    <p:cond delay="0"/>
                                  </p:stCondLst>
                                  <p:childTnLst>
                                    <p:set>
                                      <p:cBhvr>
                                        <p:cTn id="14" dur="1" fill="hold">
                                          <p:stCondLst>
                                            <p:cond delay="0"/>
                                          </p:stCondLst>
                                        </p:cTn>
                                        <p:tgtEl>
                                          <p:spTgt spid="175"/>
                                        </p:tgtEl>
                                        <p:attrNameLst>
                                          <p:attrName>style.visibility</p:attrName>
                                        </p:attrNameLst>
                                      </p:cBhvr>
                                      <p:to>
                                        <p:strVal val="visible"/>
                                      </p:to>
                                    </p:set>
                                    <p:animEffect transition="in" filter="fade">
                                      <p:cBhvr>
                                        <p:cTn id="15" dur="1000"/>
                                        <p:tgtEl>
                                          <p:spTgt spid="17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6"/>
                                        </p:tgtEl>
                                        <p:attrNameLst>
                                          <p:attrName>style.visibility</p:attrName>
                                        </p:attrNameLst>
                                      </p:cBhvr>
                                      <p:to>
                                        <p:strVal val="visible"/>
                                      </p:to>
                                    </p:set>
                                    <p:animEffect transition="in" filter="fade">
                                      <p:cBhvr>
                                        <p:cTn id="20" dur="1000"/>
                                        <p:tgtEl>
                                          <p:spTgt spid="176"/>
                                        </p:tgtEl>
                                      </p:cBhvr>
                                    </p:animEffect>
                                  </p:childTnLst>
                                </p:cTn>
                              </p:par>
                              <p:par>
                                <p:cTn id="21" presetID="10" presetClass="entr" presetSubtype="0" fill="hold" nodeType="withEffect">
                                  <p:stCondLst>
                                    <p:cond delay="0"/>
                                  </p:stCondLst>
                                  <p:childTnLst>
                                    <p:set>
                                      <p:cBhvr>
                                        <p:cTn id="22" dur="1" fill="hold">
                                          <p:stCondLst>
                                            <p:cond delay="0"/>
                                          </p:stCondLst>
                                        </p:cTn>
                                        <p:tgtEl>
                                          <p:spTgt spid="177"/>
                                        </p:tgtEl>
                                        <p:attrNameLst>
                                          <p:attrName>style.visibility</p:attrName>
                                        </p:attrNameLst>
                                      </p:cBhvr>
                                      <p:to>
                                        <p:strVal val="visible"/>
                                      </p:to>
                                    </p:set>
                                    <p:animEffect transition="in" filter="fade">
                                      <p:cBhvr>
                                        <p:cTn id="23" dur="1000"/>
                                        <p:tgtEl>
                                          <p:spTgt spid="17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78"/>
                                        </p:tgtEl>
                                        <p:attrNameLst>
                                          <p:attrName>style.visibility</p:attrName>
                                        </p:attrNameLst>
                                      </p:cBhvr>
                                      <p:to>
                                        <p:strVal val="visible"/>
                                      </p:to>
                                    </p:set>
                                    <p:animEffect transition="in" filter="fade">
                                      <p:cBhvr>
                                        <p:cTn id="28" dur="1000"/>
                                        <p:tgtEl>
                                          <p:spTgt spid="178"/>
                                        </p:tgtEl>
                                      </p:cBhvr>
                                    </p:animEffect>
                                  </p:childTnLst>
                                </p:cTn>
                              </p:par>
                              <p:par>
                                <p:cTn id="29" presetID="10" presetClass="entr" presetSubtype="0" fill="hold" nodeType="withEffect">
                                  <p:stCondLst>
                                    <p:cond delay="0"/>
                                  </p:stCondLst>
                                  <p:childTnLst>
                                    <p:set>
                                      <p:cBhvr>
                                        <p:cTn id="30" dur="1" fill="hold">
                                          <p:stCondLst>
                                            <p:cond delay="0"/>
                                          </p:stCondLst>
                                        </p:cTn>
                                        <p:tgtEl>
                                          <p:spTgt spid="179"/>
                                        </p:tgtEl>
                                        <p:attrNameLst>
                                          <p:attrName>style.visibility</p:attrName>
                                        </p:attrNameLst>
                                      </p:cBhvr>
                                      <p:to>
                                        <p:strVal val="visible"/>
                                      </p:to>
                                    </p:set>
                                    <p:animEffect transition="in" filter="fade">
                                      <p:cBhvr>
                                        <p:cTn id="31" dur="10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3"/>
          <p:cNvSpPr/>
          <p:nvPr/>
        </p:nvSpPr>
        <p:spPr>
          <a:xfrm>
            <a:off x="216891" y="739755"/>
            <a:ext cx="5976674" cy="4295660"/>
          </a:xfrm>
          <a:prstGeom prst="rect">
            <a:avLst/>
          </a:prstGeom>
          <a:solidFill>
            <a:srgbClr val="FBE5D6"/>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96" name="Google Shape;196;p33"/>
          <p:cNvSpPr/>
          <p:nvPr/>
        </p:nvSpPr>
        <p:spPr>
          <a:xfrm>
            <a:off x="385560" y="2299913"/>
            <a:ext cx="2733543" cy="2008240"/>
          </a:xfrm>
          <a:prstGeom prst="rect">
            <a:avLst/>
          </a:prstGeom>
          <a:solidFill>
            <a:srgbClr val="EDEDED"/>
          </a:solidFill>
          <a:ln w="12700" cap="flat" cmpd="sng">
            <a:solidFill>
              <a:schemeClr val="accent1"/>
            </a:solidFill>
            <a:prstDash val="solid"/>
            <a:miter lim="8000"/>
            <a:headEnd type="none" w="sm" len="sm"/>
            <a:tailEnd type="none" w="sm" len="sm"/>
          </a:ln>
        </p:spPr>
        <p:txBody>
          <a:bodyPr spcFirstLastPara="1" wrap="square" lIns="34275" tIns="34275" rIns="34275" bIns="34275" anchor="t" anchorCtr="0">
            <a:noAutofit/>
          </a:bodyPr>
          <a:lstStyle/>
          <a:p>
            <a:pPr marL="214313" marR="0" lvl="0"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Notify the nurse to obtain a lactation consultant during the first </a:t>
            </a:r>
            <a:r>
              <a:rPr lang="en" sz="1400" b="1" i="0" u="none" strike="noStrike" cap="none">
                <a:solidFill>
                  <a:srgbClr val="000000"/>
                </a:solidFill>
                <a:latin typeface="Arial"/>
                <a:ea typeface="Arial"/>
                <a:cs typeface="Arial"/>
                <a:sym typeface="Arial"/>
              </a:rPr>
              <a:t>three days of admission</a:t>
            </a:r>
            <a:r>
              <a:rPr lang="en" sz="1400" b="0" i="0" u="none" strike="noStrike" cap="none">
                <a:solidFill>
                  <a:srgbClr val="000000"/>
                </a:solidFill>
                <a:latin typeface="Arial"/>
                <a:ea typeface="Arial"/>
                <a:cs typeface="Arial"/>
                <a:sym typeface="Arial"/>
              </a:rPr>
              <a:t>.</a:t>
            </a:r>
            <a:endParaRPr/>
          </a:p>
          <a:p>
            <a:pPr marL="214313" marR="0" lvl="0"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Notify the providers to provide education for the family about the importance of human milk  with the </a:t>
            </a:r>
            <a:r>
              <a:rPr lang="en" sz="1400" b="1" i="0" u="none" strike="noStrike" cap="none">
                <a:solidFill>
                  <a:srgbClr val="C00000"/>
                </a:solidFill>
                <a:latin typeface="Arial"/>
                <a:ea typeface="Arial"/>
                <a:cs typeface="Arial"/>
                <a:sym typeface="Arial"/>
              </a:rPr>
              <a:t>recommended</a:t>
            </a:r>
            <a:r>
              <a:rPr lang="en" sz="1400" b="0" i="0" u="none" strike="noStrike" cap="none">
                <a:solidFill>
                  <a:srgbClr val="C00000"/>
                </a:solidFill>
                <a:latin typeface="Arial"/>
                <a:ea typeface="Arial"/>
                <a:cs typeface="Arial"/>
                <a:sym typeface="Arial"/>
              </a:rPr>
              <a:t> </a:t>
            </a:r>
            <a:r>
              <a:rPr lang="en" sz="1400" b="1" i="0" u="none" strike="noStrike" cap="none">
                <a:solidFill>
                  <a:srgbClr val="C00000"/>
                </a:solidFill>
                <a:latin typeface="Arial"/>
                <a:ea typeface="Arial"/>
                <a:cs typeface="Arial"/>
                <a:sym typeface="Arial"/>
              </a:rPr>
              <a:t>script </a:t>
            </a:r>
            <a:r>
              <a:rPr lang="en" sz="1400" b="0" i="0" u="none" strike="noStrike" cap="none">
                <a:solidFill>
                  <a:srgbClr val="000000"/>
                </a:solidFill>
                <a:latin typeface="Arial"/>
                <a:ea typeface="Arial"/>
                <a:cs typeface="Arial"/>
                <a:sym typeface="Arial"/>
              </a:rPr>
              <a:t>within </a:t>
            </a:r>
            <a:r>
              <a:rPr lang="en" sz="1400" b="1" i="0" u="none" strike="noStrike" cap="none">
                <a:solidFill>
                  <a:srgbClr val="000000"/>
                </a:solidFill>
                <a:latin typeface="Arial"/>
                <a:ea typeface="Arial"/>
                <a:cs typeface="Arial"/>
                <a:sym typeface="Arial"/>
              </a:rPr>
              <a:t>72 hours after admission</a:t>
            </a:r>
            <a:r>
              <a:rPr lang="en" sz="1050" b="1" i="0" u="none" strike="noStrike" cap="none">
                <a:solidFill>
                  <a:srgbClr val="000000"/>
                </a:solidFill>
                <a:latin typeface="Arial"/>
                <a:ea typeface="Arial"/>
                <a:cs typeface="Arial"/>
                <a:sym typeface="Arial"/>
              </a:rPr>
              <a:t>.</a:t>
            </a:r>
            <a:endParaRPr/>
          </a:p>
        </p:txBody>
      </p:sp>
      <p:sp>
        <p:nvSpPr>
          <p:cNvPr id="197" name="Google Shape;197;p33"/>
          <p:cNvSpPr txBox="1"/>
          <p:nvPr/>
        </p:nvSpPr>
        <p:spPr>
          <a:xfrm>
            <a:off x="1254884" y="2022602"/>
            <a:ext cx="994895" cy="284691"/>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Admission</a:t>
            </a:r>
            <a:endParaRPr/>
          </a:p>
        </p:txBody>
      </p:sp>
      <p:sp>
        <p:nvSpPr>
          <p:cNvPr id="198" name="Google Shape;198;p33"/>
          <p:cNvSpPr/>
          <p:nvPr/>
        </p:nvSpPr>
        <p:spPr>
          <a:xfrm>
            <a:off x="3205228" y="2312161"/>
            <a:ext cx="2791329" cy="2654571"/>
          </a:xfrm>
          <a:prstGeom prst="rect">
            <a:avLst/>
          </a:prstGeom>
          <a:solidFill>
            <a:srgbClr val="EDEDED"/>
          </a:solidFill>
          <a:ln w="12700" cap="flat" cmpd="sng">
            <a:solidFill>
              <a:schemeClr val="accent1"/>
            </a:solidFill>
            <a:prstDash val="solid"/>
            <a:miter lim="8000"/>
            <a:headEnd type="none" w="sm" len="sm"/>
            <a:tailEnd type="none" w="sm" len="sm"/>
          </a:ln>
        </p:spPr>
        <p:txBody>
          <a:bodyPr spcFirstLastPara="1" wrap="square" lIns="34275" tIns="34275" rIns="34275" bIns="34275" anchor="t" anchorCtr="0">
            <a:noAutofit/>
          </a:bodyPr>
          <a:lstStyle/>
          <a:p>
            <a:pPr marL="214313" marR="0" lvl="0"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Notify the nurse for first oral care with mother’s milk within </a:t>
            </a:r>
            <a:r>
              <a:rPr lang="en" sz="1400" b="1" i="0" u="none" strike="noStrike" cap="none">
                <a:solidFill>
                  <a:srgbClr val="000000"/>
                </a:solidFill>
                <a:latin typeface="Arial"/>
                <a:ea typeface="Arial"/>
                <a:cs typeface="Arial"/>
                <a:sym typeface="Arial"/>
              </a:rPr>
              <a:t>4 days of admission.</a:t>
            </a:r>
            <a:endParaRPr/>
          </a:p>
          <a:p>
            <a:pPr marL="214313" marR="0" lvl="0"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Notify the nurse for  first Skin to skin care session within </a:t>
            </a:r>
            <a:r>
              <a:rPr lang="en" sz="1400" b="1" i="0" u="none" strike="noStrike" cap="none">
                <a:solidFill>
                  <a:srgbClr val="000000"/>
                </a:solidFill>
                <a:latin typeface="Arial"/>
                <a:ea typeface="Arial"/>
                <a:cs typeface="Arial"/>
                <a:sym typeface="Arial"/>
              </a:rPr>
              <a:t>14 days of admission </a:t>
            </a:r>
            <a:endParaRPr/>
          </a:p>
          <a:p>
            <a:pPr marL="214313" marR="0" lvl="0"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Notify nurses for </a:t>
            </a:r>
            <a:r>
              <a:rPr lang="en" sz="1400" b="1" i="0" u="none" strike="noStrike" cap="none">
                <a:solidFill>
                  <a:srgbClr val="000000"/>
                </a:solidFill>
                <a:latin typeface="Arial"/>
                <a:ea typeface="Arial"/>
                <a:cs typeface="Arial"/>
                <a:sym typeface="Arial"/>
              </a:rPr>
              <a:t>weekly</a:t>
            </a:r>
            <a:r>
              <a:rPr lang="en" sz="1400" b="0" i="0" u="none" strike="noStrike" cap="none">
                <a:solidFill>
                  <a:srgbClr val="000000"/>
                </a:solidFill>
                <a:latin typeface="Arial"/>
                <a:ea typeface="Arial"/>
                <a:cs typeface="Arial"/>
                <a:sym typeface="Arial"/>
              </a:rPr>
              <a:t> lactation rounds</a:t>
            </a:r>
            <a:endParaRPr sz="1400" b="1" i="0" u="none" strike="noStrike" cap="none">
              <a:solidFill>
                <a:srgbClr val="000000"/>
              </a:solidFill>
              <a:latin typeface="Arial"/>
              <a:ea typeface="Arial"/>
              <a:cs typeface="Arial"/>
              <a:sym typeface="Arial"/>
            </a:endParaRPr>
          </a:p>
          <a:p>
            <a:pPr marL="214313" marR="0" lvl="0"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Notify Registered Nurse(RN) </a:t>
            </a:r>
            <a:r>
              <a:rPr lang="en" sz="1400" b="1" i="0" u="none" strike="noStrike" cap="none">
                <a:solidFill>
                  <a:srgbClr val="000000"/>
                </a:solidFill>
                <a:latin typeface="Arial"/>
                <a:ea typeface="Arial"/>
                <a:cs typeface="Arial"/>
                <a:sym typeface="Arial"/>
              </a:rPr>
              <a:t>daily</a:t>
            </a:r>
            <a:r>
              <a:rPr lang="en" sz="1400" b="0" i="0" u="none" strike="noStrike" cap="none">
                <a:solidFill>
                  <a:srgbClr val="000000"/>
                </a:solidFill>
                <a:latin typeface="Arial"/>
                <a:ea typeface="Arial"/>
                <a:cs typeface="Arial"/>
                <a:sym typeface="Arial"/>
              </a:rPr>
              <a:t> about the need to perform skin-to-skin care(SSC) thrice a day</a:t>
            </a:r>
            <a:endParaRPr sz="1400" b="0" i="0" u="none" strike="noStrike" cap="none">
              <a:solidFill>
                <a:srgbClr val="000000"/>
              </a:solidFill>
              <a:latin typeface="Arial"/>
              <a:ea typeface="Arial"/>
              <a:cs typeface="Arial"/>
              <a:sym typeface="Arial"/>
            </a:endParaRPr>
          </a:p>
        </p:txBody>
      </p:sp>
      <p:sp>
        <p:nvSpPr>
          <p:cNvPr id="199" name="Google Shape;199;p33"/>
          <p:cNvSpPr txBox="1"/>
          <p:nvPr/>
        </p:nvSpPr>
        <p:spPr>
          <a:xfrm>
            <a:off x="3736629" y="2022601"/>
            <a:ext cx="1829403" cy="284691"/>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Within NICU stay</a:t>
            </a:r>
            <a:endParaRPr/>
          </a:p>
        </p:txBody>
      </p:sp>
      <p:sp>
        <p:nvSpPr>
          <p:cNvPr id="200" name="Google Shape;200;p33"/>
          <p:cNvSpPr/>
          <p:nvPr/>
        </p:nvSpPr>
        <p:spPr>
          <a:xfrm>
            <a:off x="6279690" y="754321"/>
            <a:ext cx="2828727" cy="3031597"/>
          </a:xfrm>
          <a:prstGeom prst="rect">
            <a:avLst/>
          </a:prstGeom>
          <a:solidFill>
            <a:srgbClr val="EDEDED"/>
          </a:solidFill>
          <a:ln w="12700" cap="flat" cmpd="sng">
            <a:solidFill>
              <a:schemeClr val="accent1"/>
            </a:solidFill>
            <a:prstDash val="solid"/>
            <a:miter lim="8000"/>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Measures at admission &amp; discharge</a:t>
            </a:r>
            <a:endParaRPr/>
          </a:p>
          <a:p>
            <a:pPr marL="214313" marR="0" lvl="5" indent="-128969" algn="l" rtl="0">
              <a:lnSpc>
                <a:spcPct val="100000"/>
              </a:lnSpc>
              <a:spcBef>
                <a:spcPts val="0"/>
              </a:spcBef>
              <a:spcAft>
                <a:spcPts val="0"/>
              </a:spcAft>
              <a:buClr>
                <a:srgbClr val="000000"/>
              </a:buClr>
              <a:buSzPts val="1344"/>
              <a:buFont typeface="Arial"/>
              <a:buNone/>
            </a:pPr>
            <a:endParaRPr sz="1400" b="0" i="0" u="none" strike="noStrike" cap="none">
              <a:solidFill>
                <a:srgbClr val="000000"/>
              </a:solidFill>
              <a:latin typeface="Arial"/>
              <a:ea typeface="Arial"/>
              <a:cs typeface="Arial"/>
              <a:sym typeface="Arial"/>
            </a:endParaRPr>
          </a:p>
          <a:p>
            <a:pPr marL="214313" marR="0" lvl="5" indent="-128969" algn="l" rtl="0">
              <a:lnSpc>
                <a:spcPct val="100000"/>
              </a:lnSpc>
              <a:spcBef>
                <a:spcPts val="0"/>
              </a:spcBef>
              <a:spcAft>
                <a:spcPts val="0"/>
              </a:spcAft>
              <a:buClr>
                <a:srgbClr val="000000"/>
              </a:buClr>
              <a:buSzPts val="1344"/>
              <a:buFont typeface="Arial"/>
              <a:buNone/>
            </a:pPr>
            <a:endParaRPr sz="1400" b="0" i="0" u="none" strike="noStrike" cap="none">
              <a:solidFill>
                <a:srgbClr val="000000"/>
              </a:solidFill>
              <a:latin typeface="Arial"/>
              <a:ea typeface="Arial"/>
              <a:cs typeface="Arial"/>
              <a:sym typeface="Arial"/>
            </a:endParaRPr>
          </a:p>
          <a:p>
            <a:pPr marL="214313" marR="0" lvl="5" indent="-214313" algn="l" rtl="0">
              <a:lnSpc>
                <a:spcPct val="100000"/>
              </a:lnSpc>
              <a:spcBef>
                <a:spcPts val="0"/>
              </a:spcBef>
              <a:spcAft>
                <a:spcPts val="0"/>
              </a:spcAft>
              <a:buClr>
                <a:srgbClr val="000000"/>
              </a:buClr>
              <a:buSzPts val="1344"/>
              <a:buFont typeface="Arial"/>
              <a:buChar char="•"/>
            </a:pPr>
            <a:r>
              <a:rPr lang="en" sz="1400" b="0" i="0" u="none" strike="noStrike" cap="none">
                <a:solidFill>
                  <a:srgbClr val="000000"/>
                </a:solidFill>
                <a:latin typeface="Arial"/>
                <a:ea typeface="Arial"/>
                <a:cs typeface="Arial"/>
                <a:sym typeface="Arial"/>
              </a:rPr>
              <a:t>Human milk at discharge</a:t>
            </a:r>
            <a:endParaRPr/>
          </a:p>
          <a:p>
            <a:pPr marL="214313" marR="0" lvl="5" indent="-214313" algn="l" rtl="0">
              <a:lnSpc>
                <a:spcPct val="100000"/>
              </a:lnSpc>
              <a:spcBef>
                <a:spcPts val="0"/>
              </a:spcBef>
              <a:spcAft>
                <a:spcPts val="0"/>
              </a:spcAft>
              <a:buClr>
                <a:srgbClr val="000000"/>
              </a:buClr>
              <a:buSzPts val="1344"/>
              <a:buFont typeface="Arial"/>
              <a:buChar char="•"/>
            </a:pPr>
            <a:r>
              <a:rPr lang="en" sz="1400" b="0" i="0" u="none" strike="noStrike" cap="none">
                <a:solidFill>
                  <a:srgbClr val="000000"/>
                </a:solidFill>
                <a:latin typeface="Arial"/>
                <a:ea typeface="Arial"/>
                <a:cs typeface="Arial"/>
                <a:sym typeface="Arial"/>
              </a:rPr>
              <a:t>Compliance with HM/lactation milestone HM oral care from lactating parent by 4 days of admission </a:t>
            </a:r>
            <a:endParaRPr/>
          </a:p>
          <a:p>
            <a:pPr marL="214313" marR="0" lvl="5" indent="-214313" algn="l" rtl="0">
              <a:lnSpc>
                <a:spcPct val="100000"/>
              </a:lnSpc>
              <a:spcBef>
                <a:spcPts val="0"/>
              </a:spcBef>
              <a:spcAft>
                <a:spcPts val="0"/>
              </a:spcAft>
              <a:buClr>
                <a:srgbClr val="000000"/>
              </a:buClr>
              <a:buSzPts val="1344"/>
              <a:buFont typeface="Arial"/>
              <a:buChar char="•"/>
            </a:pPr>
            <a:r>
              <a:rPr lang="en" sz="1400" b="0" i="0" u="none" strike="noStrike" cap="none">
                <a:solidFill>
                  <a:srgbClr val="000000"/>
                </a:solidFill>
                <a:latin typeface="Arial"/>
                <a:ea typeface="Arial"/>
                <a:cs typeface="Arial"/>
                <a:sym typeface="Arial"/>
              </a:rPr>
              <a:t>Skin-to-Skin care daily duration = 3 STS daily /exclusion criteria</a:t>
            </a:r>
            <a:endParaRPr/>
          </a:p>
          <a:p>
            <a:pPr marL="214313" marR="0" lvl="5" indent="-214313" algn="l" rtl="0">
              <a:lnSpc>
                <a:spcPct val="100000"/>
              </a:lnSpc>
              <a:spcBef>
                <a:spcPts val="0"/>
              </a:spcBef>
              <a:spcAft>
                <a:spcPts val="0"/>
              </a:spcAft>
              <a:buClr>
                <a:srgbClr val="000000"/>
              </a:buClr>
              <a:buSzPts val="1344"/>
              <a:buFont typeface="Arial"/>
              <a:buChar char="•"/>
            </a:pPr>
            <a:r>
              <a:rPr lang="en" sz="1400" b="0" i="0" u="none" strike="noStrike" cap="none">
                <a:solidFill>
                  <a:srgbClr val="000000"/>
                </a:solidFill>
                <a:latin typeface="Arial"/>
                <a:ea typeface="Arial"/>
                <a:cs typeface="Arial"/>
                <a:sym typeface="Arial"/>
              </a:rPr>
              <a:t>Weekly lactation consultation = once a week</a:t>
            </a:r>
            <a:endParaRPr/>
          </a:p>
          <a:p>
            <a:pPr marL="214313" marR="0" lvl="5" indent="-150305" algn="l" rtl="0">
              <a:lnSpc>
                <a:spcPct val="100000"/>
              </a:lnSpc>
              <a:spcBef>
                <a:spcPts val="0"/>
              </a:spcBef>
              <a:spcAft>
                <a:spcPts val="0"/>
              </a:spcAft>
              <a:buClr>
                <a:srgbClr val="000000"/>
              </a:buClr>
              <a:buSzPts val="1008"/>
              <a:buFont typeface="Arial"/>
              <a:buNone/>
            </a:pPr>
            <a:endParaRPr sz="1050" b="0" i="0" u="none" strike="noStrike" cap="none">
              <a:solidFill>
                <a:srgbClr val="000000"/>
              </a:solidFill>
              <a:latin typeface="Arial"/>
              <a:ea typeface="Arial"/>
              <a:cs typeface="Arial"/>
              <a:sym typeface="Arial"/>
            </a:endParaRPr>
          </a:p>
        </p:txBody>
      </p:sp>
      <p:sp>
        <p:nvSpPr>
          <p:cNvPr id="201" name="Google Shape;201;p33"/>
          <p:cNvSpPr txBox="1">
            <a:spLocks noGrp="1"/>
          </p:cNvSpPr>
          <p:nvPr>
            <p:ph type="title"/>
          </p:nvPr>
        </p:nvSpPr>
        <p:spPr>
          <a:xfrm>
            <a:off x="213881" y="50175"/>
            <a:ext cx="8874900" cy="542250"/>
          </a:xfrm>
          <a:prstGeom prst="rect">
            <a:avLst/>
          </a:prstGeom>
          <a:noFill/>
          <a:ln>
            <a:noFill/>
          </a:ln>
        </p:spPr>
        <p:txBody>
          <a:bodyPr spcFirstLastPara="1" wrap="square" lIns="68550" tIns="34275" rIns="68550" bIns="34275" anchor="b" anchorCtr="0">
            <a:noAutofit/>
          </a:bodyPr>
          <a:lstStyle/>
          <a:p>
            <a:pPr marL="0" lvl="0" indent="0" algn="ctr" rtl="0">
              <a:lnSpc>
                <a:spcPct val="90000"/>
              </a:lnSpc>
              <a:spcBef>
                <a:spcPts val="0"/>
              </a:spcBef>
              <a:spcAft>
                <a:spcPts val="0"/>
              </a:spcAft>
              <a:buSzPts val="2400"/>
              <a:buNone/>
            </a:pPr>
            <a:r>
              <a:rPr lang="en" sz="3400">
                <a:solidFill>
                  <a:schemeClr val="dk1"/>
                </a:solidFill>
              </a:rPr>
              <a:t>Process behind the QI Bundle : Human milk consumption</a:t>
            </a:r>
            <a:endParaRPr sz="3400">
              <a:solidFill>
                <a:schemeClr val="dk1"/>
              </a:solidFill>
            </a:endParaRPr>
          </a:p>
        </p:txBody>
      </p:sp>
      <p:sp>
        <p:nvSpPr>
          <p:cNvPr id="202" name="Google Shape;202;p33"/>
          <p:cNvSpPr/>
          <p:nvPr/>
        </p:nvSpPr>
        <p:spPr>
          <a:xfrm>
            <a:off x="530176" y="835347"/>
            <a:ext cx="5466381" cy="715578"/>
          </a:xfrm>
          <a:prstGeom prst="rect">
            <a:avLst/>
          </a:prstGeom>
          <a:solidFill>
            <a:srgbClr val="EDEDED"/>
          </a:solidFill>
          <a:ln w="12700" cap="flat" cmpd="sng">
            <a:solidFill>
              <a:schemeClr val="accent1"/>
            </a:solidFill>
            <a:prstDash val="solid"/>
            <a:miter lim="8000"/>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Define the inclusion/exclusion criteria</a:t>
            </a:r>
            <a:endParaRPr/>
          </a:p>
          <a:p>
            <a:pPr marL="214313" marR="0" lvl="4"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Birth Weight &amp; Gestation</a:t>
            </a:r>
            <a:endParaRPr/>
          </a:p>
          <a:p>
            <a:pPr marL="214313" marR="0" lvl="4" indent="-214313"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The baby is on medication, procedure or ventilator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4"/>
          <p:cNvSpPr txBox="1">
            <a:spLocks noGrp="1"/>
          </p:cNvSpPr>
          <p:nvPr>
            <p:ph type="title"/>
          </p:nvPr>
        </p:nvSpPr>
        <p:spPr>
          <a:xfrm>
            <a:off x="213881" y="50175"/>
            <a:ext cx="8874900" cy="542250"/>
          </a:xfrm>
          <a:prstGeom prst="rect">
            <a:avLst/>
          </a:prstGeom>
          <a:noFill/>
          <a:ln>
            <a:noFill/>
          </a:ln>
        </p:spPr>
        <p:txBody>
          <a:bodyPr spcFirstLastPara="1" wrap="square" lIns="68550" tIns="34275" rIns="68550" bIns="34275" anchor="b" anchorCtr="0">
            <a:noAutofit/>
          </a:bodyPr>
          <a:lstStyle/>
          <a:p>
            <a:pPr marL="0" lvl="0" indent="0" algn="ctr" rtl="0">
              <a:lnSpc>
                <a:spcPct val="90000"/>
              </a:lnSpc>
              <a:spcBef>
                <a:spcPts val="0"/>
              </a:spcBef>
              <a:spcAft>
                <a:spcPts val="0"/>
              </a:spcAft>
              <a:buSzPts val="2400"/>
              <a:buNone/>
            </a:pPr>
            <a:r>
              <a:rPr lang="en" sz="3400">
                <a:solidFill>
                  <a:schemeClr val="dk1"/>
                </a:solidFill>
              </a:rPr>
              <a:t>Software Development Life Cycle</a:t>
            </a:r>
            <a:endParaRPr sz="3400">
              <a:solidFill>
                <a:schemeClr val="dk1"/>
              </a:solidFill>
            </a:endParaRPr>
          </a:p>
        </p:txBody>
      </p:sp>
      <p:pic>
        <p:nvPicPr>
          <p:cNvPr id="208" name="Google Shape;208;p34" descr="A picture containing text, screenshot, circle, font&#10;&#10;Description automatically generated"/>
          <p:cNvPicPr preferRelativeResize="0"/>
          <p:nvPr/>
        </p:nvPicPr>
        <p:blipFill rotWithShape="1">
          <a:blip r:embed="rId3">
            <a:alphaModFix/>
          </a:blip>
          <a:srcRect/>
          <a:stretch/>
        </p:blipFill>
        <p:spPr>
          <a:xfrm>
            <a:off x="397565" y="711085"/>
            <a:ext cx="7772400" cy="372133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5"/>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Planning &amp;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6"/>
          <p:cNvSpPr txBox="1">
            <a:spLocks noGrp="1"/>
          </p:cNvSpPr>
          <p:nvPr>
            <p:ph type="title"/>
          </p:nvPr>
        </p:nvSpPr>
        <p:spPr>
          <a:xfrm>
            <a:off x="213881" y="50175"/>
            <a:ext cx="8874900" cy="542250"/>
          </a:xfrm>
          <a:prstGeom prst="rect">
            <a:avLst/>
          </a:prstGeom>
          <a:noFill/>
          <a:ln>
            <a:noFill/>
          </a:ln>
        </p:spPr>
        <p:txBody>
          <a:bodyPr spcFirstLastPara="1" wrap="square" lIns="68550" tIns="34275" rIns="68550" bIns="34275" anchor="b" anchorCtr="0">
            <a:noAutofit/>
          </a:bodyPr>
          <a:lstStyle/>
          <a:p>
            <a:pPr marL="0" lvl="0" indent="0" algn="ctr" rtl="0">
              <a:lnSpc>
                <a:spcPct val="90000"/>
              </a:lnSpc>
              <a:spcBef>
                <a:spcPts val="0"/>
              </a:spcBef>
              <a:spcAft>
                <a:spcPts val="0"/>
              </a:spcAft>
              <a:buSzPts val="2400"/>
              <a:buNone/>
            </a:pPr>
            <a:r>
              <a:rPr lang="en" sz="3400">
                <a:solidFill>
                  <a:schemeClr val="dk1"/>
                </a:solidFill>
              </a:rPr>
              <a:t>Planning &amp; Analysis</a:t>
            </a:r>
            <a:endParaRPr sz="3400">
              <a:solidFill>
                <a:schemeClr val="dk1"/>
              </a:solidFill>
            </a:endParaRPr>
          </a:p>
        </p:txBody>
      </p:sp>
      <p:pic>
        <p:nvPicPr>
          <p:cNvPr id="219" name="Google Shape;219;p36" descr="A picture containing text, screenshot, line, number&#10;&#10;Description automatically generated"/>
          <p:cNvPicPr preferRelativeResize="0"/>
          <p:nvPr/>
        </p:nvPicPr>
        <p:blipFill rotWithShape="1">
          <a:blip r:embed="rId3">
            <a:alphaModFix/>
          </a:blip>
          <a:srcRect/>
          <a:stretch/>
        </p:blipFill>
        <p:spPr>
          <a:xfrm>
            <a:off x="119269" y="704109"/>
            <a:ext cx="6226353" cy="2665256"/>
          </a:xfrm>
          <a:prstGeom prst="rect">
            <a:avLst/>
          </a:prstGeom>
          <a:noFill/>
          <a:ln>
            <a:noFill/>
          </a:ln>
        </p:spPr>
      </p:pic>
      <p:pic>
        <p:nvPicPr>
          <p:cNvPr id="220" name="Google Shape;220;p36" descr="Screens screenshot of a computer&#10;&#10;Description automatically generated with low confidence"/>
          <p:cNvPicPr preferRelativeResize="0"/>
          <p:nvPr/>
        </p:nvPicPr>
        <p:blipFill rotWithShape="1">
          <a:blip r:embed="rId4">
            <a:alphaModFix/>
          </a:blip>
          <a:srcRect/>
          <a:stretch/>
        </p:blipFill>
        <p:spPr>
          <a:xfrm>
            <a:off x="3240156" y="1732446"/>
            <a:ext cx="5789959" cy="322783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7"/>
          <p:cNvSpPr txBox="1">
            <a:spLocks noGrp="1"/>
          </p:cNvSpPr>
          <p:nvPr>
            <p:ph type="title"/>
          </p:nvPr>
        </p:nvSpPr>
        <p:spPr>
          <a:xfrm>
            <a:off x="213881" y="50175"/>
            <a:ext cx="8874900" cy="542250"/>
          </a:xfrm>
          <a:prstGeom prst="rect">
            <a:avLst/>
          </a:prstGeom>
          <a:noFill/>
          <a:ln>
            <a:noFill/>
          </a:ln>
        </p:spPr>
        <p:txBody>
          <a:bodyPr spcFirstLastPara="1" wrap="square" lIns="68550" tIns="34275" rIns="68550" bIns="34275" anchor="b" anchorCtr="0">
            <a:noAutofit/>
          </a:bodyPr>
          <a:lstStyle/>
          <a:p>
            <a:pPr marL="0" lvl="0" indent="0" algn="ctr" rtl="0">
              <a:lnSpc>
                <a:spcPct val="90000"/>
              </a:lnSpc>
              <a:spcBef>
                <a:spcPts val="0"/>
              </a:spcBef>
              <a:spcAft>
                <a:spcPts val="0"/>
              </a:spcAft>
              <a:buSzPts val="2400"/>
              <a:buNone/>
            </a:pPr>
            <a:r>
              <a:rPr lang="en" sz="3400">
                <a:solidFill>
                  <a:schemeClr val="dk1"/>
                </a:solidFill>
              </a:rPr>
              <a:t>Planning &amp; Analysis : ER Diagram</a:t>
            </a:r>
            <a:endParaRPr sz="3400">
              <a:solidFill>
                <a:schemeClr val="dk1"/>
              </a:solidFill>
            </a:endParaRPr>
          </a:p>
        </p:txBody>
      </p:sp>
      <p:pic>
        <p:nvPicPr>
          <p:cNvPr id="226" name="Google Shape;226;p37"/>
          <p:cNvPicPr preferRelativeResize="0"/>
          <p:nvPr/>
        </p:nvPicPr>
        <p:blipFill rotWithShape="1">
          <a:blip r:embed="rId3">
            <a:alphaModFix/>
          </a:blip>
          <a:srcRect r="14199"/>
          <a:stretch/>
        </p:blipFill>
        <p:spPr>
          <a:xfrm>
            <a:off x="1199322" y="664084"/>
            <a:ext cx="6543260" cy="40570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8"/>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Design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9"/>
          <p:cNvSpPr/>
          <p:nvPr/>
        </p:nvSpPr>
        <p:spPr>
          <a:xfrm>
            <a:off x="256762" y="955899"/>
            <a:ext cx="8867877" cy="3042814"/>
          </a:xfrm>
          <a:prstGeom prst="rect">
            <a:avLst/>
          </a:prstGeom>
          <a:solidFill>
            <a:srgbClr val="DAE3F3"/>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37" name="Google Shape;237;p39"/>
          <p:cNvSpPr txBox="1"/>
          <p:nvPr/>
        </p:nvSpPr>
        <p:spPr>
          <a:xfrm>
            <a:off x="2941397" y="1558711"/>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User Name</a:t>
            </a:r>
            <a:endParaRPr/>
          </a:p>
        </p:txBody>
      </p:sp>
      <p:sp>
        <p:nvSpPr>
          <p:cNvPr id="238" name="Google Shape;238;p39"/>
          <p:cNvSpPr/>
          <p:nvPr/>
        </p:nvSpPr>
        <p:spPr>
          <a:xfrm>
            <a:off x="4020650" y="1569535"/>
            <a:ext cx="1340101" cy="369302"/>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239" name="Google Shape;239;p39"/>
          <p:cNvSpPr/>
          <p:nvPr/>
        </p:nvSpPr>
        <p:spPr>
          <a:xfrm>
            <a:off x="4020650" y="2137339"/>
            <a:ext cx="1340101" cy="369302"/>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240" name="Google Shape;240;p39"/>
          <p:cNvSpPr/>
          <p:nvPr/>
        </p:nvSpPr>
        <p:spPr>
          <a:xfrm>
            <a:off x="2984926" y="2746006"/>
            <a:ext cx="1415843" cy="331544"/>
          </a:xfrm>
          <a:prstGeom prst="roundRect">
            <a:avLst>
              <a:gd name="adj" fmla="val 16667"/>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41" name="Google Shape;241;p39"/>
          <p:cNvSpPr txBox="1"/>
          <p:nvPr/>
        </p:nvSpPr>
        <p:spPr>
          <a:xfrm>
            <a:off x="3109204" y="2787153"/>
            <a:ext cx="1340101" cy="23083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Sign In</a:t>
            </a:r>
            <a:endParaRPr/>
          </a:p>
        </p:txBody>
      </p:sp>
      <p:sp>
        <p:nvSpPr>
          <p:cNvPr id="242" name="Google Shape;242;p39"/>
          <p:cNvSpPr txBox="1"/>
          <p:nvPr/>
        </p:nvSpPr>
        <p:spPr>
          <a:xfrm>
            <a:off x="2946443" y="2108004"/>
            <a:ext cx="873204"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Password</a:t>
            </a:r>
            <a:endParaRPr/>
          </a:p>
        </p:txBody>
      </p:sp>
      <p:sp>
        <p:nvSpPr>
          <p:cNvPr id="243" name="Google Shape;243;p39"/>
          <p:cNvSpPr/>
          <p:nvPr/>
        </p:nvSpPr>
        <p:spPr>
          <a:xfrm>
            <a:off x="4566423" y="2738154"/>
            <a:ext cx="1415843" cy="331544"/>
          </a:xfrm>
          <a:prstGeom prst="roundRect">
            <a:avLst>
              <a:gd name="adj" fmla="val 16667"/>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44" name="Google Shape;244;p39"/>
          <p:cNvSpPr txBox="1"/>
          <p:nvPr/>
        </p:nvSpPr>
        <p:spPr>
          <a:xfrm>
            <a:off x="4690701" y="2779300"/>
            <a:ext cx="1340101" cy="23083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Forgot Password</a:t>
            </a:r>
            <a:endParaRPr/>
          </a:p>
        </p:txBody>
      </p:sp>
      <p:sp>
        <p:nvSpPr>
          <p:cNvPr id="245" name="Google Shape;245;p39"/>
          <p:cNvSpPr/>
          <p:nvPr/>
        </p:nvSpPr>
        <p:spPr>
          <a:xfrm>
            <a:off x="3944908" y="3301210"/>
            <a:ext cx="1415843" cy="331544"/>
          </a:xfrm>
          <a:prstGeom prst="roundRect">
            <a:avLst>
              <a:gd name="adj" fmla="val 16667"/>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46" name="Google Shape;246;p39"/>
          <p:cNvSpPr txBox="1"/>
          <p:nvPr/>
        </p:nvSpPr>
        <p:spPr>
          <a:xfrm>
            <a:off x="4069185" y="3342356"/>
            <a:ext cx="1340101" cy="23083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Sign Up</a:t>
            </a:r>
            <a:endParaRPr/>
          </a:p>
        </p:txBody>
      </p:sp>
      <p:sp>
        <p:nvSpPr>
          <p:cNvPr id="247" name="Google Shape;247;p39"/>
          <p:cNvSpPr txBox="1">
            <a:spLocks noGrp="1"/>
          </p:cNvSpPr>
          <p:nvPr>
            <p:ph type="title"/>
          </p:nvPr>
        </p:nvSpPr>
        <p:spPr>
          <a:xfrm>
            <a:off x="11855" y="48126"/>
            <a:ext cx="9112784" cy="542250"/>
          </a:xfrm>
          <a:prstGeom prst="rect">
            <a:avLst/>
          </a:prstGeom>
          <a:noFill/>
          <a:ln>
            <a:noFill/>
          </a:ln>
        </p:spPr>
        <p:txBody>
          <a:bodyPr spcFirstLastPara="1" wrap="square" lIns="68550" tIns="34275" rIns="68550" bIns="34275" anchor="b" anchorCtr="0">
            <a:noAutofit/>
          </a:bodyPr>
          <a:lstStyle/>
          <a:p>
            <a:pPr marL="0" lvl="0" indent="0" algn="ctr" rtl="0">
              <a:lnSpc>
                <a:spcPct val="100000"/>
              </a:lnSpc>
              <a:spcBef>
                <a:spcPts val="0"/>
              </a:spcBef>
              <a:spcAft>
                <a:spcPts val="0"/>
              </a:spcAft>
              <a:buSzPts val="2400"/>
              <a:buNone/>
            </a:pPr>
            <a:r>
              <a:rPr lang="en" sz="3400"/>
              <a:t>Mocks : Login</a:t>
            </a:r>
            <a:endParaRPr sz="3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0"/>
          <p:cNvSpPr txBox="1"/>
          <p:nvPr/>
        </p:nvSpPr>
        <p:spPr>
          <a:xfrm>
            <a:off x="6876950" y="97325"/>
            <a:ext cx="2167201" cy="7109606"/>
          </a:xfrm>
          <a:prstGeom prst="rect">
            <a:avLst/>
          </a:prstGeom>
          <a:solidFill>
            <a:srgbClr val="535353"/>
          </a:solid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Nursing Dashboard Design #1</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457188" marR="0" lvl="0" indent="-317491" algn="l" rtl="0">
              <a:lnSpc>
                <a:spcPct val="100000"/>
              </a:lnSpc>
              <a:spcBef>
                <a:spcPts val="0"/>
              </a:spcBef>
              <a:spcAft>
                <a:spcPts val="0"/>
              </a:spcAft>
              <a:buClr>
                <a:srgbClr val="000000"/>
              </a:buClr>
              <a:buSzPts val="2400"/>
              <a:buFont typeface="Arial"/>
              <a:buChar char="●"/>
            </a:pPr>
            <a:r>
              <a:rPr lang="en" sz="1800" b="0" i="0" u="none" strike="noStrike" cap="none">
                <a:solidFill>
                  <a:srgbClr val="000000"/>
                </a:solidFill>
                <a:latin typeface="Arial"/>
                <a:ea typeface="Arial"/>
                <a:cs typeface="Arial"/>
                <a:sym typeface="Arial"/>
              </a:rPr>
              <a:t>Patient information displayed in a grid</a:t>
            </a:r>
            <a:endParaRPr/>
          </a:p>
          <a:p>
            <a:pPr marL="914377" marR="0" lvl="1" indent="-317492" algn="l" rtl="0">
              <a:lnSpc>
                <a:spcPct val="100000"/>
              </a:lnSpc>
              <a:spcBef>
                <a:spcPts val="0"/>
              </a:spcBef>
              <a:spcAft>
                <a:spcPts val="0"/>
              </a:spcAft>
              <a:buClr>
                <a:srgbClr val="000000"/>
              </a:buClr>
              <a:buSzPts val="2400"/>
              <a:buFont typeface="Arial"/>
              <a:buChar char="○"/>
            </a:pPr>
            <a:r>
              <a:rPr lang="en" sz="1800" b="0" i="0" u="none" strike="noStrike" cap="none">
                <a:solidFill>
                  <a:srgbClr val="000000"/>
                </a:solidFill>
                <a:latin typeface="Arial"/>
                <a:ea typeface="Arial"/>
                <a:cs typeface="Arial"/>
                <a:sym typeface="Arial"/>
              </a:rPr>
              <a:t>ID, date of birth, weight</a:t>
            </a:r>
            <a:endParaRPr/>
          </a:p>
          <a:p>
            <a:pPr marL="457188" marR="0" lvl="0" indent="-317491" algn="l" rtl="0">
              <a:lnSpc>
                <a:spcPct val="100000"/>
              </a:lnSpc>
              <a:spcBef>
                <a:spcPts val="0"/>
              </a:spcBef>
              <a:spcAft>
                <a:spcPts val="0"/>
              </a:spcAft>
              <a:buClr>
                <a:srgbClr val="000000"/>
              </a:buClr>
              <a:buSzPts val="2400"/>
              <a:buFont typeface="Arial"/>
              <a:buChar char="●"/>
            </a:pPr>
            <a:r>
              <a:rPr lang="en" sz="1800" b="0" i="0" u="none" strike="noStrike" cap="none">
                <a:solidFill>
                  <a:srgbClr val="000000"/>
                </a:solidFill>
                <a:latin typeface="Arial"/>
                <a:ea typeface="Arial"/>
                <a:cs typeface="Arial"/>
                <a:sym typeface="Arial"/>
              </a:rPr>
              <a:t>Alert displayed for skin-to-skin care</a:t>
            </a:r>
            <a:endParaRPr/>
          </a:p>
          <a:p>
            <a:pPr marL="914377" marR="0" lvl="1" indent="-317492" algn="l" rtl="0">
              <a:lnSpc>
                <a:spcPct val="100000"/>
              </a:lnSpc>
              <a:spcBef>
                <a:spcPts val="0"/>
              </a:spcBef>
              <a:spcAft>
                <a:spcPts val="0"/>
              </a:spcAft>
              <a:buClr>
                <a:srgbClr val="000000"/>
              </a:buClr>
              <a:buSzPts val="2400"/>
              <a:buFont typeface="Arial"/>
              <a:buChar char="○"/>
            </a:pPr>
            <a:r>
              <a:rPr lang="en" sz="1800" b="0" i="0" u="none" strike="noStrike" cap="none">
                <a:solidFill>
                  <a:srgbClr val="000000"/>
                </a:solidFill>
                <a:latin typeface="Arial"/>
                <a:ea typeface="Arial"/>
                <a:cs typeface="Arial"/>
                <a:sym typeface="Arial"/>
              </a:rPr>
              <a:t>thoughts?</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253" name="Google Shape;253;p40" descr="Google Shape;85;p18"/>
          <p:cNvPicPr preferRelativeResize="0"/>
          <p:nvPr/>
        </p:nvPicPr>
        <p:blipFill rotWithShape="1">
          <a:blip r:embed="rId3">
            <a:alphaModFix/>
          </a:blip>
          <a:srcRect/>
          <a:stretch/>
        </p:blipFill>
        <p:spPr>
          <a:xfrm>
            <a:off x="99849" y="948792"/>
            <a:ext cx="6776827" cy="5068625"/>
          </a:xfrm>
          <a:prstGeom prst="rect">
            <a:avLst/>
          </a:prstGeom>
          <a:noFill/>
          <a:ln>
            <a:noFill/>
          </a:ln>
        </p:spPr>
      </p:pic>
      <p:pic>
        <p:nvPicPr>
          <p:cNvPr id="254" name="Google Shape;254;p40" descr="Graphic 2"/>
          <p:cNvPicPr preferRelativeResize="0"/>
          <p:nvPr/>
        </p:nvPicPr>
        <p:blipFill rotWithShape="1">
          <a:blip r:embed="rId4">
            <a:alphaModFix/>
          </a:blip>
          <a:srcRect/>
          <a:stretch/>
        </p:blipFill>
        <p:spPr>
          <a:xfrm>
            <a:off x="2463871" y="1805993"/>
            <a:ext cx="234222" cy="234222"/>
          </a:xfrm>
          <a:prstGeom prst="rect">
            <a:avLst/>
          </a:prstGeom>
          <a:noFill/>
          <a:ln>
            <a:noFill/>
          </a:ln>
        </p:spPr>
      </p:pic>
      <p:sp>
        <p:nvSpPr>
          <p:cNvPr id="255" name="Google Shape;255;p40"/>
          <p:cNvSpPr txBox="1"/>
          <p:nvPr/>
        </p:nvSpPr>
        <p:spPr>
          <a:xfrm>
            <a:off x="2583322" y="1667495"/>
            <a:ext cx="229538" cy="23083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 sz="1050" b="0" i="0" u="none" strike="noStrike" cap="none">
                <a:solidFill>
                  <a:srgbClr val="FF0000"/>
                </a:solidFill>
                <a:latin typeface="Arial"/>
                <a:ea typeface="Arial"/>
                <a:cs typeface="Arial"/>
                <a:sym typeface="Arial"/>
              </a:rPr>
              <a:t>2</a:t>
            </a:r>
            <a:endParaRPr/>
          </a:p>
        </p:txBody>
      </p:sp>
      <p:sp>
        <p:nvSpPr>
          <p:cNvPr id="256" name="Google Shape;256;p40"/>
          <p:cNvSpPr txBox="1"/>
          <p:nvPr/>
        </p:nvSpPr>
        <p:spPr>
          <a:xfrm>
            <a:off x="11855" y="48126"/>
            <a:ext cx="9112784" cy="542250"/>
          </a:xfrm>
          <a:prstGeom prst="rect">
            <a:avLst/>
          </a:prstGeom>
          <a:noFill/>
          <a:ln>
            <a:noFill/>
          </a:ln>
        </p:spPr>
        <p:txBody>
          <a:bodyPr spcFirstLastPara="1" wrap="square" lIns="68550" tIns="34275" rIns="68550" bIns="34275" anchor="b" anchorCtr="0">
            <a:noAutofit/>
          </a:bodyPr>
          <a:lstStyle/>
          <a:p>
            <a:pPr marL="0" marR="0" lvl="0" indent="0" algn="ctr" rtl="0">
              <a:lnSpc>
                <a:spcPct val="100000"/>
              </a:lnSpc>
              <a:spcBef>
                <a:spcPts val="0"/>
              </a:spcBef>
              <a:spcAft>
                <a:spcPts val="0"/>
              </a:spcAft>
              <a:buNone/>
            </a:pPr>
            <a:r>
              <a:rPr lang="en" sz="3400" b="0" i="0" u="none" strike="noStrike" cap="none">
                <a:solidFill>
                  <a:srgbClr val="000000"/>
                </a:solidFill>
                <a:latin typeface="Arial"/>
                <a:ea typeface="Arial"/>
                <a:cs typeface="Arial"/>
                <a:sym typeface="Arial"/>
              </a:rPr>
              <a:t>Mocks : Nurse Dashboard</a:t>
            </a:r>
            <a:endParaRPr sz="340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1"/>
          <p:cNvSpPr txBox="1"/>
          <p:nvPr/>
        </p:nvSpPr>
        <p:spPr>
          <a:xfrm>
            <a:off x="6880450" y="74875"/>
            <a:ext cx="2263501" cy="5724612"/>
          </a:xfrm>
          <a:prstGeom prst="rect">
            <a:avLst/>
          </a:prstGeom>
          <a:solidFill>
            <a:srgbClr val="535353"/>
          </a:solid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To-Do List Design #1</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457188" marR="0" lvl="0" indent="-317491" algn="l" rtl="0">
              <a:lnSpc>
                <a:spcPct val="100000"/>
              </a:lnSpc>
              <a:spcBef>
                <a:spcPts val="0"/>
              </a:spcBef>
              <a:spcAft>
                <a:spcPts val="0"/>
              </a:spcAft>
              <a:buClr>
                <a:srgbClr val="000000"/>
              </a:buClr>
              <a:buSzPts val="2400"/>
              <a:buFont typeface="Arial"/>
              <a:buChar char="●"/>
            </a:pPr>
            <a:r>
              <a:rPr lang="en" sz="1800" b="0" i="0" u="none" strike="noStrike" cap="none">
                <a:solidFill>
                  <a:srgbClr val="000000"/>
                </a:solidFill>
                <a:latin typeface="Arial"/>
                <a:ea typeface="Arial"/>
                <a:cs typeface="Arial"/>
                <a:sym typeface="Arial"/>
              </a:rPr>
              <a:t>Sort function</a:t>
            </a:r>
            <a:endParaRPr/>
          </a:p>
          <a:p>
            <a:pPr marL="457188" marR="0" lvl="0" indent="-317491" algn="l" rtl="0">
              <a:lnSpc>
                <a:spcPct val="100000"/>
              </a:lnSpc>
              <a:spcBef>
                <a:spcPts val="0"/>
              </a:spcBef>
              <a:spcAft>
                <a:spcPts val="0"/>
              </a:spcAft>
              <a:buClr>
                <a:srgbClr val="000000"/>
              </a:buClr>
              <a:buSzPts val="2400"/>
              <a:buFont typeface="Arial"/>
              <a:buChar char="●"/>
            </a:pPr>
            <a:r>
              <a:rPr lang="en" sz="1800" b="0" i="0" u="none" strike="noStrike" cap="none">
                <a:solidFill>
                  <a:srgbClr val="000000"/>
                </a:solidFill>
                <a:latin typeface="Arial"/>
                <a:ea typeface="Arial"/>
                <a:cs typeface="Arial"/>
                <a:sym typeface="Arial"/>
              </a:rPr>
              <a:t>Alternatively: table with ↕ on column headers</a:t>
            </a:r>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262" name="Google Shape;262;p41" descr="Google Shape;79;p17"/>
          <p:cNvPicPr preferRelativeResize="0"/>
          <p:nvPr/>
        </p:nvPicPr>
        <p:blipFill rotWithShape="1">
          <a:blip r:embed="rId3">
            <a:alphaModFix/>
          </a:blip>
          <a:srcRect/>
          <a:stretch/>
        </p:blipFill>
        <p:spPr>
          <a:xfrm>
            <a:off x="1" y="1"/>
            <a:ext cx="6710976" cy="5017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2"/>
          <p:cNvSpPr/>
          <p:nvPr/>
        </p:nvSpPr>
        <p:spPr>
          <a:xfrm>
            <a:off x="178324" y="1872922"/>
            <a:ext cx="8904344" cy="3192995"/>
          </a:xfrm>
          <a:prstGeom prst="rect">
            <a:avLst/>
          </a:prstGeom>
          <a:solidFill>
            <a:srgbClr val="DAE3F3"/>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69" name="Google Shape;269;p42"/>
          <p:cNvSpPr txBox="1"/>
          <p:nvPr/>
        </p:nvSpPr>
        <p:spPr>
          <a:xfrm>
            <a:off x="178324" y="789580"/>
            <a:ext cx="1340102"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Rule Name:</a:t>
            </a:r>
            <a:endParaRPr sz="1200" b="0" i="0" u="none" strike="noStrike" cap="none">
              <a:solidFill>
                <a:srgbClr val="000000"/>
              </a:solidFill>
              <a:latin typeface="Arial"/>
              <a:ea typeface="Arial"/>
              <a:cs typeface="Arial"/>
              <a:sym typeface="Arial"/>
            </a:endParaRPr>
          </a:p>
        </p:txBody>
      </p:sp>
      <p:sp>
        <p:nvSpPr>
          <p:cNvPr id="270" name="Google Shape;270;p42"/>
          <p:cNvSpPr txBox="1"/>
          <p:nvPr/>
        </p:nvSpPr>
        <p:spPr>
          <a:xfrm>
            <a:off x="1117754" y="803411"/>
            <a:ext cx="2084700" cy="369300"/>
          </a:xfrm>
          <a:prstGeom prst="rect">
            <a:avLst/>
          </a:prstGeom>
          <a:solidFill>
            <a:srgbClr val="EFEFEF"/>
          </a:solid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Human milk consumption </a:t>
            </a:r>
            <a:endParaRPr/>
          </a:p>
        </p:txBody>
      </p:sp>
      <p:sp>
        <p:nvSpPr>
          <p:cNvPr id="271" name="Google Shape;271;p42"/>
          <p:cNvSpPr txBox="1"/>
          <p:nvPr/>
        </p:nvSpPr>
        <p:spPr>
          <a:xfrm>
            <a:off x="-220329" y="1198278"/>
            <a:ext cx="1590605" cy="369300"/>
          </a:xfrm>
          <a:prstGeom prst="rect">
            <a:avLst/>
          </a:prstGeom>
          <a:noFill/>
          <a:ln>
            <a:noFill/>
          </a:ln>
        </p:spPr>
        <p:txBody>
          <a:bodyPr spcFirstLastPara="1" wrap="square" lIns="91400" tIns="91400" rIns="91400" bIns="91400" anchor="t" anchorCtr="0">
            <a:spAutoFit/>
          </a:bodyPr>
          <a:lstStyle/>
          <a:p>
            <a:pPr marL="0" marR="0" lvl="1" indent="34290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Category</a:t>
            </a:r>
            <a:endParaRPr/>
          </a:p>
        </p:txBody>
      </p:sp>
      <p:sp>
        <p:nvSpPr>
          <p:cNvPr id="272" name="Google Shape;272;p42"/>
          <p:cNvSpPr txBox="1"/>
          <p:nvPr/>
        </p:nvSpPr>
        <p:spPr>
          <a:xfrm>
            <a:off x="1059291" y="2186277"/>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273" name="Google Shape;273;p42"/>
          <p:cNvSpPr txBox="1"/>
          <p:nvPr/>
        </p:nvSpPr>
        <p:spPr>
          <a:xfrm>
            <a:off x="1128769" y="2514528"/>
            <a:ext cx="182202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Gestation At Birth</a:t>
            </a:r>
            <a:endParaRPr/>
          </a:p>
        </p:txBody>
      </p:sp>
      <p:sp>
        <p:nvSpPr>
          <p:cNvPr id="274" name="Google Shape;274;p42"/>
          <p:cNvSpPr txBox="1"/>
          <p:nvPr/>
        </p:nvSpPr>
        <p:spPr>
          <a:xfrm>
            <a:off x="3024990" y="2217114"/>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Operator</a:t>
            </a:r>
            <a:endParaRPr/>
          </a:p>
        </p:txBody>
      </p:sp>
      <p:sp>
        <p:nvSpPr>
          <p:cNvPr id="275" name="Google Shape;275;p42"/>
          <p:cNvSpPr txBox="1"/>
          <p:nvPr/>
        </p:nvSpPr>
        <p:spPr>
          <a:xfrm>
            <a:off x="3090116" y="2514532"/>
            <a:ext cx="1340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&gt;</a:t>
            </a:r>
            <a:endParaRPr/>
          </a:p>
        </p:txBody>
      </p:sp>
      <p:sp>
        <p:nvSpPr>
          <p:cNvPr id="276" name="Google Shape;276;p42"/>
          <p:cNvSpPr txBox="1"/>
          <p:nvPr/>
        </p:nvSpPr>
        <p:spPr>
          <a:xfrm>
            <a:off x="4624980" y="2186277"/>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Value</a:t>
            </a:r>
            <a:endParaRPr/>
          </a:p>
        </p:txBody>
      </p:sp>
      <p:sp>
        <p:nvSpPr>
          <p:cNvPr id="277" name="Google Shape;277;p42"/>
          <p:cNvSpPr txBox="1"/>
          <p:nvPr/>
        </p:nvSpPr>
        <p:spPr>
          <a:xfrm>
            <a:off x="4670838" y="2492419"/>
            <a:ext cx="1340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29</a:t>
            </a:r>
            <a:endParaRPr/>
          </a:p>
        </p:txBody>
      </p:sp>
      <p:sp>
        <p:nvSpPr>
          <p:cNvPr id="278" name="Google Shape;278;p42"/>
          <p:cNvSpPr txBox="1"/>
          <p:nvPr/>
        </p:nvSpPr>
        <p:spPr>
          <a:xfrm>
            <a:off x="6179625" y="2176446"/>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279" name="Google Shape;279;p42"/>
          <p:cNvSpPr txBox="1"/>
          <p:nvPr/>
        </p:nvSpPr>
        <p:spPr>
          <a:xfrm>
            <a:off x="6242625" y="2471280"/>
            <a:ext cx="1277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Weeks</a:t>
            </a:r>
            <a:endParaRPr/>
          </a:p>
        </p:txBody>
      </p:sp>
      <p:cxnSp>
        <p:nvCxnSpPr>
          <p:cNvPr id="280" name="Google Shape;280;p42"/>
          <p:cNvCxnSpPr/>
          <p:nvPr/>
        </p:nvCxnSpPr>
        <p:spPr>
          <a:xfrm flipH="1">
            <a:off x="4125913" y="2509473"/>
            <a:ext cx="6529" cy="351914"/>
          </a:xfrm>
          <a:prstGeom prst="straightConnector1">
            <a:avLst/>
          </a:prstGeom>
          <a:noFill/>
          <a:ln w="12700" cap="flat" cmpd="sng">
            <a:solidFill>
              <a:schemeClr val="accent1"/>
            </a:solidFill>
            <a:prstDash val="solid"/>
            <a:miter lim="8000"/>
            <a:headEnd type="none" w="sm" len="sm"/>
            <a:tailEnd type="none" w="sm" len="sm"/>
          </a:ln>
        </p:spPr>
      </p:cxnSp>
      <p:sp>
        <p:nvSpPr>
          <p:cNvPr id="281" name="Google Shape;281;p42"/>
          <p:cNvSpPr/>
          <p:nvPr/>
        </p:nvSpPr>
        <p:spPr>
          <a:xfrm rot="10800000">
            <a:off x="4187320" y="2633219"/>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282" name="Google Shape;282;p42"/>
          <p:cNvCxnSpPr/>
          <p:nvPr/>
        </p:nvCxnSpPr>
        <p:spPr>
          <a:xfrm>
            <a:off x="7249311" y="2466377"/>
            <a:ext cx="1" cy="359769"/>
          </a:xfrm>
          <a:prstGeom prst="straightConnector1">
            <a:avLst/>
          </a:prstGeom>
          <a:noFill/>
          <a:ln w="12700" cap="flat" cmpd="sng">
            <a:solidFill>
              <a:schemeClr val="accent1"/>
            </a:solidFill>
            <a:prstDash val="solid"/>
            <a:miter lim="8000"/>
            <a:headEnd type="none" w="sm" len="sm"/>
            <a:tailEnd type="none" w="sm" len="sm"/>
          </a:ln>
        </p:spPr>
      </p:cxnSp>
      <p:sp>
        <p:nvSpPr>
          <p:cNvPr id="283" name="Google Shape;283;p42"/>
          <p:cNvSpPr/>
          <p:nvPr/>
        </p:nvSpPr>
        <p:spPr>
          <a:xfrm rot="10800000">
            <a:off x="7287780" y="2567396"/>
            <a:ext cx="204796"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84" name="Google Shape;284;p42"/>
          <p:cNvSpPr txBox="1"/>
          <p:nvPr/>
        </p:nvSpPr>
        <p:spPr>
          <a:xfrm>
            <a:off x="1125742" y="3109085"/>
            <a:ext cx="1852065"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Medication</a:t>
            </a:r>
            <a:endParaRPr/>
          </a:p>
        </p:txBody>
      </p:sp>
      <p:sp>
        <p:nvSpPr>
          <p:cNvPr id="285" name="Google Shape;285;p42"/>
          <p:cNvSpPr txBox="1"/>
          <p:nvPr/>
        </p:nvSpPr>
        <p:spPr>
          <a:xfrm>
            <a:off x="3048410" y="2802863"/>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Operator</a:t>
            </a:r>
            <a:endParaRPr sz="1200" b="0" i="0" u="none" strike="noStrike" cap="none">
              <a:solidFill>
                <a:srgbClr val="000000"/>
              </a:solidFill>
              <a:latin typeface="Arial"/>
              <a:ea typeface="Arial"/>
              <a:cs typeface="Arial"/>
              <a:sym typeface="Arial"/>
            </a:endParaRPr>
          </a:p>
        </p:txBody>
      </p:sp>
      <p:sp>
        <p:nvSpPr>
          <p:cNvPr id="286" name="Google Shape;286;p42"/>
          <p:cNvSpPr txBox="1"/>
          <p:nvPr/>
        </p:nvSpPr>
        <p:spPr>
          <a:xfrm>
            <a:off x="3117132" y="3109089"/>
            <a:ext cx="1340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No</a:t>
            </a:r>
            <a:endParaRPr sz="1200" b="0" i="0" u="none" strike="noStrike" cap="none">
              <a:solidFill>
                <a:srgbClr val="000000"/>
              </a:solidFill>
              <a:latin typeface="Arial"/>
              <a:ea typeface="Arial"/>
              <a:cs typeface="Arial"/>
              <a:sym typeface="Arial"/>
            </a:endParaRPr>
          </a:p>
        </p:txBody>
      </p:sp>
      <p:sp>
        <p:nvSpPr>
          <p:cNvPr id="287" name="Google Shape;287;p42"/>
          <p:cNvSpPr txBox="1"/>
          <p:nvPr/>
        </p:nvSpPr>
        <p:spPr>
          <a:xfrm>
            <a:off x="4629132" y="2803131"/>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Value</a:t>
            </a:r>
            <a:endParaRPr sz="1200" b="0" i="0" u="none" strike="noStrike" cap="none">
              <a:solidFill>
                <a:srgbClr val="000000"/>
              </a:solidFill>
              <a:latin typeface="Arial"/>
              <a:ea typeface="Arial"/>
              <a:cs typeface="Arial"/>
              <a:sym typeface="Arial"/>
            </a:endParaRPr>
          </a:p>
        </p:txBody>
      </p:sp>
      <p:sp>
        <p:nvSpPr>
          <p:cNvPr id="288" name="Google Shape;288;p42"/>
          <p:cNvSpPr txBox="1"/>
          <p:nvPr/>
        </p:nvSpPr>
        <p:spPr>
          <a:xfrm>
            <a:off x="4688433" y="3097720"/>
            <a:ext cx="1340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Inotrope</a:t>
            </a:r>
            <a:endParaRPr sz="1200" b="0" i="0" u="none" strike="noStrike" cap="none">
              <a:solidFill>
                <a:srgbClr val="000000"/>
              </a:solidFill>
              <a:latin typeface="Arial"/>
              <a:ea typeface="Arial"/>
              <a:cs typeface="Arial"/>
              <a:sym typeface="Arial"/>
            </a:endParaRPr>
          </a:p>
        </p:txBody>
      </p:sp>
      <p:sp>
        <p:nvSpPr>
          <p:cNvPr id="289" name="Google Shape;289;p42"/>
          <p:cNvSpPr txBox="1"/>
          <p:nvPr/>
        </p:nvSpPr>
        <p:spPr>
          <a:xfrm>
            <a:off x="6206149" y="2783651"/>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290" name="Google Shape;290;p42"/>
          <p:cNvSpPr txBox="1"/>
          <p:nvPr/>
        </p:nvSpPr>
        <p:spPr>
          <a:xfrm>
            <a:off x="6279030" y="3109085"/>
            <a:ext cx="1277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cxnSp>
        <p:nvCxnSpPr>
          <p:cNvPr id="291" name="Google Shape;291;p42"/>
          <p:cNvCxnSpPr/>
          <p:nvPr/>
        </p:nvCxnSpPr>
        <p:spPr>
          <a:xfrm flipH="1">
            <a:off x="4136210" y="3114287"/>
            <a:ext cx="9525" cy="346721"/>
          </a:xfrm>
          <a:prstGeom prst="straightConnector1">
            <a:avLst/>
          </a:prstGeom>
          <a:noFill/>
          <a:ln w="12700" cap="flat" cmpd="sng">
            <a:solidFill>
              <a:schemeClr val="accent1"/>
            </a:solidFill>
            <a:prstDash val="solid"/>
            <a:miter lim="8000"/>
            <a:headEnd type="none" w="sm" len="sm"/>
            <a:tailEnd type="none" w="sm" len="sm"/>
          </a:ln>
        </p:spPr>
      </p:cxnSp>
      <p:sp>
        <p:nvSpPr>
          <p:cNvPr id="292" name="Google Shape;292;p42"/>
          <p:cNvSpPr/>
          <p:nvPr/>
        </p:nvSpPr>
        <p:spPr>
          <a:xfrm rot="10800000">
            <a:off x="4204810" y="3237302"/>
            <a:ext cx="204797" cy="180289"/>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293" name="Google Shape;293;p42"/>
          <p:cNvCxnSpPr/>
          <p:nvPr/>
        </p:nvCxnSpPr>
        <p:spPr>
          <a:xfrm>
            <a:off x="5691702" y="3111681"/>
            <a:ext cx="1192" cy="346859"/>
          </a:xfrm>
          <a:prstGeom prst="straightConnector1">
            <a:avLst/>
          </a:prstGeom>
          <a:noFill/>
          <a:ln w="12700" cap="flat" cmpd="sng">
            <a:solidFill>
              <a:schemeClr val="accent1"/>
            </a:solidFill>
            <a:prstDash val="solid"/>
            <a:miter lim="8000"/>
            <a:headEnd type="none" w="sm" len="sm"/>
            <a:tailEnd type="none" w="sm" len="sm"/>
          </a:ln>
        </p:spPr>
      </p:cxnSp>
      <p:sp>
        <p:nvSpPr>
          <p:cNvPr id="294" name="Google Shape;294;p42"/>
          <p:cNvSpPr/>
          <p:nvPr/>
        </p:nvSpPr>
        <p:spPr>
          <a:xfrm rot="10800000">
            <a:off x="5760303" y="3214281"/>
            <a:ext cx="204797" cy="180289"/>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nvGrpSpPr>
          <p:cNvPr id="295" name="Google Shape;295;p42"/>
          <p:cNvGrpSpPr/>
          <p:nvPr/>
        </p:nvGrpSpPr>
        <p:grpSpPr>
          <a:xfrm>
            <a:off x="7758124" y="2592409"/>
            <a:ext cx="184629" cy="191902"/>
            <a:chOff x="0" y="0"/>
            <a:chExt cx="246169" cy="255867"/>
          </a:xfrm>
        </p:grpSpPr>
        <p:sp>
          <p:nvSpPr>
            <p:cNvPr id="296" name="Google Shape;296;p42"/>
            <p:cNvSpPr/>
            <p:nvPr/>
          </p:nvSpPr>
          <p:spPr>
            <a:xfrm>
              <a:off x="0" y="0"/>
              <a:ext cx="246168" cy="255866"/>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97" name="Google Shape;297;p42"/>
            <p:cNvSpPr/>
            <p:nvPr/>
          </p:nvSpPr>
          <p:spPr>
            <a:xfrm>
              <a:off x="0" y="0"/>
              <a:ext cx="246169" cy="255867"/>
            </a:xfrm>
            <a:custGeom>
              <a:avLst/>
              <a:gdLst/>
              <a:ahLst/>
              <a:cxnLst/>
              <a:rect l="l" t="t" r="r" b="b"/>
              <a:pathLst>
                <a:path w="21600" h="21600" extrusionOk="0">
                  <a:moveTo>
                    <a:pt x="3163" y="3163"/>
                  </a:moveTo>
                  <a:lnTo>
                    <a:pt x="18437" y="18437"/>
                  </a:lnTo>
                  <a:moveTo>
                    <a:pt x="18437" y="3163"/>
                  </a:moveTo>
                  <a:lnTo>
                    <a:pt x="3163" y="18437"/>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grpSp>
        <p:nvGrpSpPr>
          <p:cNvPr id="298" name="Google Shape;298;p42"/>
          <p:cNvGrpSpPr/>
          <p:nvPr/>
        </p:nvGrpSpPr>
        <p:grpSpPr>
          <a:xfrm>
            <a:off x="7764258" y="3197118"/>
            <a:ext cx="184629" cy="191902"/>
            <a:chOff x="0" y="0"/>
            <a:chExt cx="246169" cy="255867"/>
          </a:xfrm>
        </p:grpSpPr>
        <p:sp>
          <p:nvSpPr>
            <p:cNvPr id="299" name="Google Shape;299;p42"/>
            <p:cNvSpPr/>
            <p:nvPr/>
          </p:nvSpPr>
          <p:spPr>
            <a:xfrm>
              <a:off x="0" y="0"/>
              <a:ext cx="246168" cy="255866"/>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00" name="Google Shape;300;p42"/>
            <p:cNvSpPr/>
            <p:nvPr/>
          </p:nvSpPr>
          <p:spPr>
            <a:xfrm>
              <a:off x="0" y="0"/>
              <a:ext cx="246169" cy="255867"/>
            </a:xfrm>
            <a:custGeom>
              <a:avLst/>
              <a:gdLst/>
              <a:ahLst/>
              <a:cxnLst/>
              <a:rect l="l" t="t" r="r" b="b"/>
              <a:pathLst>
                <a:path w="21600" h="21600" extrusionOk="0">
                  <a:moveTo>
                    <a:pt x="3163" y="3163"/>
                  </a:moveTo>
                  <a:lnTo>
                    <a:pt x="18437" y="18437"/>
                  </a:lnTo>
                  <a:moveTo>
                    <a:pt x="18437" y="3163"/>
                  </a:moveTo>
                  <a:lnTo>
                    <a:pt x="3163" y="18437"/>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301" name="Google Shape;301;p42"/>
          <p:cNvSpPr txBox="1"/>
          <p:nvPr/>
        </p:nvSpPr>
        <p:spPr>
          <a:xfrm>
            <a:off x="323121" y="1908544"/>
            <a:ext cx="690311" cy="415466"/>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500" b="1" i="0" u="none" strike="noStrike" cap="none">
                <a:solidFill>
                  <a:srgbClr val="000000"/>
                </a:solidFill>
                <a:latin typeface="Arial"/>
                <a:ea typeface="Arial"/>
                <a:cs typeface="Arial"/>
                <a:sym typeface="Arial"/>
              </a:rPr>
              <a:t>If</a:t>
            </a:r>
            <a:endParaRPr/>
          </a:p>
        </p:txBody>
      </p:sp>
      <p:sp>
        <p:nvSpPr>
          <p:cNvPr id="302" name="Google Shape;302;p42"/>
          <p:cNvSpPr txBox="1"/>
          <p:nvPr/>
        </p:nvSpPr>
        <p:spPr>
          <a:xfrm>
            <a:off x="1117755" y="3737772"/>
            <a:ext cx="1850224"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Peripherial Arterial Line</a:t>
            </a:r>
            <a:endParaRPr/>
          </a:p>
        </p:txBody>
      </p:sp>
      <p:sp>
        <p:nvSpPr>
          <p:cNvPr id="303" name="Google Shape;303;p42"/>
          <p:cNvSpPr txBox="1"/>
          <p:nvPr/>
        </p:nvSpPr>
        <p:spPr>
          <a:xfrm>
            <a:off x="3117132" y="3739614"/>
            <a:ext cx="1340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No</a:t>
            </a:r>
            <a:endParaRPr/>
          </a:p>
        </p:txBody>
      </p:sp>
      <p:cxnSp>
        <p:nvCxnSpPr>
          <p:cNvPr id="304" name="Google Shape;304;p42"/>
          <p:cNvCxnSpPr/>
          <p:nvPr/>
        </p:nvCxnSpPr>
        <p:spPr>
          <a:xfrm>
            <a:off x="4193360" y="3734555"/>
            <a:ext cx="0" cy="343250"/>
          </a:xfrm>
          <a:prstGeom prst="straightConnector1">
            <a:avLst/>
          </a:prstGeom>
          <a:noFill/>
          <a:ln w="12700" cap="flat" cmpd="sng">
            <a:solidFill>
              <a:schemeClr val="accent1"/>
            </a:solidFill>
            <a:prstDash val="solid"/>
            <a:miter lim="8000"/>
            <a:headEnd type="none" w="sm" len="sm"/>
            <a:tailEnd type="none" w="sm" len="sm"/>
          </a:ln>
        </p:spPr>
      </p:cxnSp>
      <p:sp>
        <p:nvSpPr>
          <p:cNvPr id="305" name="Google Shape;305;p42"/>
          <p:cNvSpPr/>
          <p:nvPr/>
        </p:nvSpPr>
        <p:spPr>
          <a:xfrm rot="10800000">
            <a:off x="4243643" y="3848777"/>
            <a:ext cx="204797" cy="178107"/>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nvGrpSpPr>
          <p:cNvPr id="306" name="Google Shape;306;p42"/>
          <p:cNvGrpSpPr/>
          <p:nvPr/>
        </p:nvGrpSpPr>
        <p:grpSpPr>
          <a:xfrm>
            <a:off x="7755578" y="3850614"/>
            <a:ext cx="184629" cy="191902"/>
            <a:chOff x="0" y="0"/>
            <a:chExt cx="246169" cy="255867"/>
          </a:xfrm>
        </p:grpSpPr>
        <p:sp>
          <p:nvSpPr>
            <p:cNvPr id="307" name="Google Shape;307;p42"/>
            <p:cNvSpPr/>
            <p:nvPr/>
          </p:nvSpPr>
          <p:spPr>
            <a:xfrm>
              <a:off x="0" y="0"/>
              <a:ext cx="246168" cy="255866"/>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08" name="Google Shape;308;p42"/>
            <p:cNvSpPr/>
            <p:nvPr/>
          </p:nvSpPr>
          <p:spPr>
            <a:xfrm>
              <a:off x="0" y="0"/>
              <a:ext cx="246169" cy="255867"/>
            </a:xfrm>
            <a:custGeom>
              <a:avLst/>
              <a:gdLst/>
              <a:ahLst/>
              <a:cxnLst/>
              <a:rect l="l" t="t" r="r" b="b"/>
              <a:pathLst>
                <a:path w="21600" h="21600" extrusionOk="0">
                  <a:moveTo>
                    <a:pt x="3163" y="3163"/>
                  </a:moveTo>
                  <a:lnTo>
                    <a:pt x="18437" y="18437"/>
                  </a:lnTo>
                  <a:moveTo>
                    <a:pt x="18437" y="3163"/>
                  </a:moveTo>
                  <a:lnTo>
                    <a:pt x="3163" y="18437"/>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309" name="Google Shape;309;p42"/>
          <p:cNvSpPr txBox="1"/>
          <p:nvPr/>
        </p:nvSpPr>
        <p:spPr>
          <a:xfrm>
            <a:off x="2314322" y="1162655"/>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310" name="Google Shape;310;p42"/>
          <p:cNvSpPr txBox="1"/>
          <p:nvPr/>
        </p:nvSpPr>
        <p:spPr>
          <a:xfrm>
            <a:off x="2313368" y="1468279"/>
            <a:ext cx="1583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Gestation At Birth</a:t>
            </a:r>
            <a:endParaRPr/>
          </a:p>
        </p:txBody>
      </p:sp>
      <p:cxnSp>
        <p:nvCxnSpPr>
          <p:cNvPr id="311" name="Google Shape;311;p42"/>
          <p:cNvCxnSpPr/>
          <p:nvPr/>
        </p:nvCxnSpPr>
        <p:spPr>
          <a:xfrm>
            <a:off x="3557814" y="1464429"/>
            <a:ext cx="1" cy="373153"/>
          </a:xfrm>
          <a:prstGeom prst="straightConnector1">
            <a:avLst/>
          </a:prstGeom>
          <a:noFill/>
          <a:ln w="12700" cap="flat" cmpd="sng">
            <a:solidFill>
              <a:schemeClr val="accent1"/>
            </a:solidFill>
            <a:prstDash val="solid"/>
            <a:miter lim="8000"/>
            <a:headEnd type="none" w="sm" len="sm"/>
            <a:tailEnd type="none" w="sm" len="sm"/>
          </a:ln>
        </p:spPr>
      </p:cxnSp>
      <p:sp>
        <p:nvSpPr>
          <p:cNvPr id="312" name="Google Shape;312;p42"/>
          <p:cNvSpPr/>
          <p:nvPr/>
        </p:nvSpPr>
        <p:spPr>
          <a:xfrm rot="10800000">
            <a:off x="3616889" y="1578652"/>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13" name="Google Shape;313;p42"/>
          <p:cNvSpPr txBox="1"/>
          <p:nvPr/>
        </p:nvSpPr>
        <p:spPr>
          <a:xfrm>
            <a:off x="183159" y="1487066"/>
            <a:ext cx="1583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Birth Details</a:t>
            </a:r>
            <a:endParaRPr/>
          </a:p>
        </p:txBody>
      </p:sp>
      <p:cxnSp>
        <p:nvCxnSpPr>
          <p:cNvPr id="314" name="Google Shape;314;p42"/>
          <p:cNvCxnSpPr/>
          <p:nvPr/>
        </p:nvCxnSpPr>
        <p:spPr>
          <a:xfrm flipH="1">
            <a:off x="1370276" y="1482177"/>
            <a:ext cx="3" cy="332962"/>
          </a:xfrm>
          <a:prstGeom prst="straightConnector1">
            <a:avLst/>
          </a:prstGeom>
          <a:noFill/>
          <a:ln w="12700" cap="flat" cmpd="sng">
            <a:solidFill>
              <a:schemeClr val="accent1"/>
            </a:solidFill>
            <a:prstDash val="solid"/>
            <a:miter lim="8000"/>
            <a:headEnd type="none" w="sm" len="sm"/>
            <a:tailEnd type="none" w="sm" len="sm"/>
          </a:ln>
        </p:spPr>
      </p:cxnSp>
      <p:sp>
        <p:nvSpPr>
          <p:cNvPr id="315" name="Google Shape;315;p42"/>
          <p:cNvSpPr/>
          <p:nvPr/>
        </p:nvSpPr>
        <p:spPr>
          <a:xfrm rot="10800000">
            <a:off x="1429354" y="1596400"/>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16" name="Google Shape;316;p42"/>
          <p:cNvSpPr txBox="1"/>
          <p:nvPr/>
        </p:nvSpPr>
        <p:spPr>
          <a:xfrm>
            <a:off x="3039900" y="3426138"/>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Operator</a:t>
            </a:r>
            <a:endParaRPr sz="1200" b="0" i="0" u="none" strike="noStrike" cap="none">
              <a:solidFill>
                <a:srgbClr val="000000"/>
              </a:solidFill>
              <a:latin typeface="Arial"/>
              <a:ea typeface="Arial"/>
              <a:cs typeface="Arial"/>
              <a:sym typeface="Arial"/>
            </a:endParaRPr>
          </a:p>
        </p:txBody>
      </p:sp>
      <p:sp>
        <p:nvSpPr>
          <p:cNvPr id="317" name="Google Shape;317;p42"/>
          <p:cNvSpPr txBox="1"/>
          <p:nvPr/>
        </p:nvSpPr>
        <p:spPr>
          <a:xfrm>
            <a:off x="8084710" y="2439828"/>
            <a:ext cx="736721" cy="346216"/>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And</a:t>
            </a:r>
            <a:endParaRPr/>
          </a:p>
        </p:txBody>
      </p:sp>
      <p:cxnSp>
        <p:nvCxnSpPr>
          <p:cNvPr id="318" name="Google Shape;318;p42"/>
          <p:cNvCxnSpPr/>
          <p:nvPr/>
        </p:nvCxnSpPr>
        <p:spPr>
          <a:xfrm>
            <a:off x="8555882" y="2476328"/>
            <a:ext cx="1" cy="267696"/>
          </a:xfrm>
          <a:prstGeom prst="straightConnector1">
            <a:avLst/>
          </a:prstGeom>
          <a:noFill/>
          <a:ln w="12700" cap="flat" cmpd="sng">
            <a:solidFill>
              <a:schemeClr val="accent1"/>
            </a:solidFill>
            <a:prstDash val="solid"/>
            <a:miter lim="8000"/>
            <a:headEnd type="none" w="sm" len="sm"/>
            <a:tailEnd type="none" w="sm" len="sm"/>
          </a:ln>
        </p:spPr>
      </p:cxnSp>
      <p:sp>
        <p:nvSpPr>
          <p:cNvPr id="319" name="Google Shape;319;p42"/>
          <p:cNvSpPr/>
          <p:nvPr/>
        </p:nvSpPr>
        <p:spPr>
          <a:xfrm rot="10800000">
            <a:off x="8617289" y="2542794"/>
            <a:ext cx="139016" cy="14185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20" name="Google Shape;320;p42"/>
          <p:cNvSpPr txBox="1"/>
          <p:nvPr/>
        </p:nvSpPr>
        <p:spPr>
          <a:xfrm>
            <a:off x="8142266" y="3105142"/>
            <a:ext cx="736722" cy="346216"/>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And</a:t>
            </a:r>
            <a:endParaRPr/>
          </a:p>
        </p:txBody>
      </p:sp>
      <p:cxnSp>
        <p:nvCxnSpPr>
          <p:cNvPr id="321" name="Google Shape;321;p42"/>
          <p:cNvCxnSpPr/>
          <p:nvPr/>
        </p:nvCxnSpPr>
        <p:spPr>
          <a:xfrm>
            <a:off x="8613439" y="3113068"/>
            <a:ext cx="1" cy="267696"/>
          </a:xfrm>
          <a:prstGeom prst="straightConnector1">
            <a:avLst/>
          </a:prstGeom>
          <a:noFill/>
          <a:ln w="12700" cap="flat" cmpd="sng">
            <a:solidFill>
              <a:schemeClr val="accent1"/>
            </a:solidFill>
            <a:prstDash val="solid"/>
            <a:miter lim="8000"/>
            <a:headEnd type="none" w="sm" len="sm"/>
            <a:tailEnd type="none" w="sm" len="sm"/>
          </a:ln>
        </p:spPr>
      </p:cxnSp>
      <p:sp>
        <p:nvSpPr>
          <p:cNvPr id="322" name="Google Shape;322;p42"/>
          <p:cNvSpPr/>
          <p:nvPr/>
        </p:nvSpPr>
        <p:spPr>
          <a:xfrm rot="10800000">
            <a:off x="8674845" y="3198584"/>
            <a:ext cx="139016" cy="141849"/>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23" name="Google Shape;323;p42"/>
          <p:cNvSpPr txBox="1"/>
          <p:nvPr/>
        </p:nvSpPr>
        <p:spPr>
          <a:xfrm>
            <a:off x="8142266" y="3771032"/>
            <a:ext cx="736722" cy="346216"/>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And</a:t>
            </a:r>
            <a:endParaRPr/>
          </a:p>
        </p:txBody>
      </p:sp>
      <p:cxnSp>
        <p:nvCxnSpPr>
          <p:cNvPr id="324" name="Google Shape;324;p42"/>
          <p:cNvCxnSpPr/>
          <p:nvPr/>
        </p:nvCxnSpPr>
        <p:spPr>
          <a:xfrm>
            <a:off x="8613439" y="3798007"/>
            <a:ext cx="1" cy="267696"/>
          </a:xfrm>
          <a:prstGeom prst="straightConnector1">
            <a:avLst/>
          </a:prstGeom>
          <a:noFill/>
          <a:ln w="12700" cap="flat" cmpd="sng">
            <a:solidFill>
              <a:schemeClr val="accent1"/>
            </a:solidFill>
            <a:prstDash val="solid"/>
            <a:miter lim="8000"/>
            <a:headEnd type="none" w="sm" len="sm"/>
            <a:tailEnd type="none" w="sm" len="sm"/>
          </a:ln>
        </p:spPr>
      </p:cxnSp>
      <p:sp>
        <p:nvSpPr>
          <p:cNvPr id="325" name="Google Shape;325;p42"/>
          <p:cNvSpPr/>
          <p:nvPr/>
        </p:nvSpPr>
        <p:spPr>
          <a:xfrm rot="10800000">
            <a:off x="8674845" y="3883524"/>
            <a:ext cx="139016" cy="14185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26" name="Google Shape;326;p42"/>
          <p:cNvSpPr txBox="1"/>
          <p:nvPr/>
        </p:nvSpPr>
        <p:spPr>
          <a:xfrm>
            <a:off x="1125743" y="4318660"/>
            <a:ext cx="1850223"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Whole Body Cooling</a:t>
            </a:r>
            <a:endParaRPr/>
          </a:p>
        </p:txBody>
      </p:sp>
      <p:sp>
        <p:nvSpPr>
          <p:cNvPr id="327" name="Google Shape;327;p42"/>
          <p:cNvSpPr txBox="1"/>
          <p:nvPr/>
        </p:nvSpPr>
        <p:spPr>
          <a:xfrm>
            <a:off x="3117131" y="4328189"/>
            <a:ext cx="1340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No</a:t>
            </a:r>
            <a:endParaRPr/>
          </a:p>
        </p:txBody>
      </p:sp>
      <p:cxnSp>
        <p:nvCxnSpPr>
          <p:cNvPr id="328" name="Google Shape;328;p42"/>
          <p:cNvCxnSpPr/>
          <p:nvPr/>
        </p:nvCxnSpPr>
        <p:spPr>
          <a:xfrm>
            <a:off x="4193360" y="4323129"/>
            <a:ext cx="6488" cy="364831"/>
          </a:xfrm>
          <a:prstGeom prst="straightConnector1">
            <a:avLst/>
          </a:prstGeom>
          <a:noFill/>
          <a:ln w="12700" cap="flat" cmpd="sng">
            <a:solidFill>
              <a:schemeClr val="accent1"/>
            </a:solidFill>
            <a:prstDash val="solid"/>
            <a:miter lim="8000"/>
            <a:headEnd type="none" w="sm" len="sm"/>
            <a:tailEnd type="none" w="sm" len="sm"/>
          </a:ln>
        </p:spPr>
      </p:cxnSp>
      <p:sp>
        <p:nvSpPr>
          <p:cNvPr id="329" name="Google Shape;329;p42"/>
          <p:cNvSpPr txBox="1"/>
          <p:nvPr/>
        </p:nvSpPr>
        <p:spPr>
          <a:xfrm>
            <a:off x="3056226" y="4036840"/>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Operator</a:t>
            </a:r>
            <a:endParaRPr sz="1200" b="0" i="0" u="none" strike="noStrike" cap="none">
              <a:solidFill>
                <a:srgbClr val="000000"/>
              </a:solidFill>
              <a:latin typeface="Arial"/>
              <a:ea typeface="Arial"/>
              <a:cs typeface="Arial"/>
              <a:sym typeface="Arial"/>
            </a:endParaRPr>
          </a:p>
        </p:txBody>
      </p:sp>
      <p:sp>
        <p:nvSpPr>
          <p:cNvPr id="330" name="Google Shape;330;p42"/>
          <p:cNvSpPr txBox="1"/>
          <p:nvPr/>
        </p:nvSpPr>
        <p:spPr>
          <a:xfrm>
            <a:off x="8142266" y="4343012"/>
            <a:ext cx="736722" cy="346216"/>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And</a:t>
            </a:r>
            <a:endParaRPr/>
          </a:p>
        </p:txBody>
      </p:sp>
      <p:cxnSp>
        <p:nvCxnSpPr>
          <p:cNvPr id="331" name="Google Shape;331;p42"/>
          <p:cNvCxnSpPr/>
          <p:nvPr/>
        </p:nvCxnSpPr>
        <p:spPr>
          <a:xfrm>
            <a:off x="8613439" y="4369988"/>
            <a:ext cx="1" cy="267696"/>
          </a:xfrm>
          <a:prstGeom prst="straightConnector1">
            <a:avLst/>
          </a:prstGeom>
          <a:noFill/>
          <a:ln w="12700" cap="flat" cmpd="sng">
            <a:solidFill>
              <a:schemeClr val="accent1"/>
            </a:solidFill>
            <a:prstDash val="solid"/>
            <a:miter lim="8000"/>
            <a:headEnd type="none" w="sm" len="sm"/>
            <a:tailEnd type="none" w="sm" len="sm"/>
          </a:ln>
        </p:spPr>
      </p:cxnSp>
      <p:sp>
        <p:nvSpPr>
          <p:cNvPr id="332" name="Google Shape;332;p42"/>
          <p:cNvSpPr txBox="1"/>
          <p:nvPr/>
        </p:nvSpPr>
        <p:spPr>
          <a:xfrm>
            <a:off x="1053720" y="2820622"/>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333" name="Google Shape;333;p42"/>
          <p:cNvSpPr txBox="1"/>
          <p:nvPr/>
        </p:nvSpPr>
        <p:spPr>
          <a:xfrm>
            <a:off x="1043891" y="3431416"/>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334" name="Google Shape;334;p42"/>
          <p:cNvSpPr txBox="1"/>
          <p:nvPr/>
        </p:nvSpPr>
        <p:spPr>
          <a:xfrm>
            <a:off x="1068886" y="4036840"/>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335" name="Google Shape;335;p42"/>
          <p:cNvSpPr txBox="1"/>
          <p:nvPr/>
        </p:nvSpPr>
        <p:spPr>
          <a:xfrm>
            <a:off x="4681734" y="3437689"/>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Value</a:t>
            </a:r>
            <a:endParaRPr sz="1200" b="0" i="0" u="none" strike="noStrike" cap="none">
              <a:solidFill>
                <a:srgbClr val="000000"/>
              </a:solidFill>
              <a:latin typeface="Arial"/>
              <a:ea typeface="Arial"/>
              <a:cs typeface="Arial"/>
              <a:sym typeface="Arial"/>
            </a:endParaRPr>
          </a:p>
        </p:txBody>
      </p:sp>
      <p:sp>
        <p:nvSpPr>
          <p:cNvPr id="336" name="Google Shape;336;p42"/>
          <p:cNvSpPr txBox="1"/>
          <p:nvPr/>
        </p:nvSpPr>
        <p:spPr>
          <a:xfrm>
            <a:off x="4715642" y="3756279"/>
            <a:ext cx="1340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337" name="Google Shape;337;p42"/>
          <p:cNvSpPr txBox="1"/>
          <p:nvPr/>
        </p:nvSpPr>
        <p:spPr>
          <a:xfrm>
            <a:off x="6230595" y="3432549"/>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338" name="Google Shape;338;p42"/>
          <p:cNvSpPr txBox="1"/>
          <p:nvPr/>
        </p:nvSpPr>
        <p:spPr>
          <a:xfrm>
            <a:off x="6306239" y="3767644"/>
            <a:ext cx="1277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cxnSp>
        <p:nvCxnSpPr>
          <p:cNvPr id="339" name="Google Shape;339;p42"/>
          <p:cNvCxnSpPr/>
          <p:nvPr/>
        </p:nvCxnSpPr>
        <p:spPr>
          <a:xfrm>
            <a:off x="5718911" y="3770240"/>
            <a:ext cx="1192" cy="346859"/>
          </a:xfrm>
          <a:prstGeom prst="straightConnector1">
            <a:avLst/>
          </a:prstGeom>
          <a:noFill/>
          <a:ln w="12700" cap="flat" cmpd="sng">
            <a:solidFill>
              <a:schemeClr val="accent1"/>
            </a:solidFill>
            <a:prstDash val="solid"/>
            <a:miter lim="8000"/>
            <a:headEnd type="none" w="sm" len="sm"/>
            <a:tailEnd type="none" w="sm" len="sm"/>
          </a:ln>
        </p:spPr>
      </p:cxnSp>
      <p:sp>
        <p:nvSpPr>
          <p:cNvPr id="340" name="Google Shape;340;p42"/>
          <p:cNvSpPr/>
          <p:nvPr/>
        </p:nvSpPr>
        <p:spPr>
          <a:xfrm rot="10800000">
            <a:off x="5787512" y="3872840"/>
            <a:ext cx="204797" cy="180289"/>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41" name="Google Shape;341;p42"/>
          <p:cNvSpPr txBox="1"/>
          <p:nvPr/>
        </p:nvSpPr>
        <p:spPr>
          <a:xfrm>
            <a:off x="4655813" y="4052251"/>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Value</a:t>
            </a:r>
            <a:endParaRPr sz="1200" b="0" i="0" u="none" strike="noStrike" cap="none">
              <a:solidFill>
                <a:srgbClr val="000000"/>
              </a:solidFill>
              <a:latin typeface="Arial"/>
              <a:ea typeface="Arial"/>
              <a:cs typeface="Arial"/>
              <a:sym typeface="Arial"/>
            </a:endParaRPr>
          </a:p>
        </p:txBody>
      </p:sp>
      <p:sp>
        <p:nvSpPr>
          <p:cNvPr id="342" name="Google Shape;342;p42"/>
          <p:cNvSpPr txBox="1"/>
          <p:nvPr/>
        </p:nvSpPr>
        <p:spPr>
          <a:xfrm>
            <a:off x="4705513" y="4323252"/>
            <a:ext cx="1340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343" name="Google Shape;343;p42"/>
          <p:cNvSpPr txBox="1"/>
          <p:nvPr/>
        </p:nvSpPr>
        <p:spPr>
          <a:xfrm>
            <a:off x="6251953" y="4069027"/>
            <a:ext cx="1340101" cy="369300"/>
          </a:xfrm>
          <a:prstGeom prst="rect">
            <a:avLst/>
          </a:prstGeom>
          <a:noFill/>
          <a:ln>
            <a:noFill/>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344" name="Google Shape;344;p42"/>
          <p:cNvSpPr txBox="1"/>
          <p:nvPr/>
        </p:nvSpPr>
        <p:spPr>
          <a:xfrm>
            <a:off x="6303000" y="4320748"/>
            <a:ext cx="1277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just"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cxnSp>
        <p:nvCxnSpPr>
          <p:cNvPr id="345" name="Google Shape;345;p42"/>
          <p:cNvCxnSpPr/>
          <p:nvPr/>
        </p:nvCxnSpPr>
        <p:spPr>
          <a:xfrm>
            <a:off x="5708781" y="4337212"/>
            <a:ext cx="1192" cy="346859"/>
          </a:xfrm>
          <a:prstGeom prst="straightConnector1">
            <a:avLst/>
          </a:prstGeom>
          <a:noFill/>
          <a:ln w="12700" cap="flat" cmpd="sng">
            <a:solidFill>
              <a:schemeClr val="accent1"/>
            </a:solidFill>
            <a:prstDash val="solid"/>
            <a:miter lim="8000"/>
            <a:headEnd type="none" w="sm" len="sm"/>
            <a:tailEnd type="none" w="sm" len="sm"/>
          </a:ln>
        </p:spPr>
      </p:cxnSp>
      <p:cxnSp>
        <p:nvCxnSpPr>
          <p:cNvPr id="346" name="Google Shape;346;p42"/>
          <p:cNvCxnSpPr/>
          <p:nvPr/>
        </p:nvCxnSpPr>
        <p:spPr>
          <a:xfrm>
            <a:off x="7295298" y="3094549"/>
            <a:ext cx="6439" cy="373028"/>
          </a:xfrm>
          <a:prstGeom prst="straightConnector1">
            <a:avLst/>
          </a:prstGeom>
          <a:noFill/>
          <a:ln w="12700" cap="flat" cmpd="sng">
            <a:solidFill>
              <a:schemeClr val="accent1"/>
            </a:solidFill>
            <a:prstDash val="solid"/>
            <a:miter lim="8000"/>
            <a:headEnd type="none" w="sm" len="sm"/>
            <a:tailEnd type="none" w="sm" len="sm"/>
          </a:ln>
        </p:spPr>
      </p:cxnSp>
      <p:sp>
        <p:nvSpPr>
          <p:cNvPr id="347" name="Google Shape;347;p42"/>
          <p:cNvSpPr/>
          <p:nvPr/>
        </p:nvSpPr>
        <p:spPr>
          <a:xfrm rot="10800000">
            <a:off x="7333767" y="3195568"/>
            <a:ext cx="204796"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348" name="Google Shape;348;p42"/>
          <p:cNvCxnSpPr/>
          <p:nvPr/>
        </p:nvCxnSpPr>
        <p:spPr>
          <a:xfrm>
            <a:off x="7301736" y="3750637"/>
            <a:ext cx="1" cy="359769"/>
          </a:xfrm>
          <a:prstGeom prst="straightConnector1">
            <a:avLst/>
          </a:prstGeom>
          <a:noFill/>
          <a:ln w="12700" cap="flat" cmpd="sng">
            <a:solidFill>
              <a:schemeClr val="accent1"/>
            </a:solidFill>
            <a:prstDash val="solid"/>
            <a:miter lim="8000"/>
            <a:headEnd type="none" w="sm" len="sm"/>
            <a:tailEnd type="none" w="sm" len="sm"/>
          </a:ln>
        </p:spPr>
      </p:cxnSp>
      <p:sp>
        <p:nvSpPr>
          <p:cNvPr id="349" name="Google Shape;349;p42"/>
          <p:cNvSpPr/>
          <p:nvPr/>
        </p:nvSpPr>
        <p:spPr>
          <a:xfrm rot="10800000">
            <a:off x="7340205" y="3851656"/>
            <a:ext cx="204796"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350" name="Google Shape;350;p42"/>
          <p:cNvCxnSpPr/>
          <p:nvPr/>
        </p:nvCxnSpPr>
        <p:spPr>
          <a:xfrm>
            <a:off x="7314281" y="4318612"/>
            <a:ext cx="1" cy="359769"/>
          </a:xfrm>
          <a:prstGeom prst="straightConnector1">
            <a:avLst/>
          </a:prstGeom>
          <a:noFill/>
          <a:ln w="12700" cap="flat" cmpd="sng">
            <a:solidFill>
              <a:schemeClr val="accent1"/>
            </a:solidFill>
            <a:prstDash val="solid"/>
            <a:miter lim="8000"/>
            <a:headEnd type="none" w="sm" len="sm"/>
            <a:tailEnd type="none" w="sm" len="sm"/>
          </a:ln>
        </p:spPr>
      </p:cxnSp>
      <p:sp>
        <p:nvSpPr>
          <p:cNvPr id="351" name="Google Shape;351;p42"/>
          <p:cNvSpPr/>
          <p:nvPr/>
        </p:nvSpPr>
        <p:spPr>
          <a:xfrm rot="10800000">
            <a:off x="8739973" y="4450485"/>
            <a:ext cx="139016" cy="14185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just"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52" name="Google Shape;352;p42"/>
          <p:cNvSpPr txBox="1">
            <a:spLocks noGrp="1"/>
          </p:cNvSpPr>
          <p:nvPr>
            <p:ph type="title"/>
          </p:nvPr>
        </p:nvSpPr>
        <p:spPr>
          <a:xfrm>
            <a:off x="134550" y="11161"/>
            <a:ext cx="8874900" cy="542250"/>
          </a:xfrm>
          <a:prstGeom prst="rect">
            <a:avLst/>
          </a:prstGeom>
          <a:noFill/>
          <a:ln>
            <a:noFill/>
          </a:ln>
        </p:spPr>
        <p:txBody>
          <a:bodyPr spcFirstLastPara="1" wrap="square" lIns="68550" tIns="34275" rIns="68550" bIns="34275" anchor="b" anchorCtr="0">
            <a:noAutofit/>
          </a:bodyPr>
          <a:lstStyle/>
          <a:p>
            <a:pPr marL="0" lvl="0" indent="0" algn="ctr" rtl="0">
              <a:lnSpc>
                <a:spcPct val="100000"/>
              </a:lnSpc>
              <a:spcBef>
                <a:spcPts val="0"/>
              </a:spcBef>
              <a:spcAft>
                <a:spcPts val="0"/>
              </a:spcAft>
              <a:buSzPts val="2400"/>
              <a:buNone/>
            </a:pPr>
            <a:r>
              <a:rPr lang="en" sz="3400">
                <a:solidFill>
                  <a:schemeClr val="dk1"/>
                </a:solidFill>
              </a:rPr>
              <a:t>Mocks : Design Rules</a:t>
            </a:r>
            <a:endParaRPr sz="3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3"/>
          <p:cNvSpPr/>
          <p:nvPr/>
        </p:nvSpPr>
        <p:spPr>
          <a:xfrm>
            <a:off x="151672" y="1337675"/>
            <a:ext cx="8840656" cy="3418292"/>
          </a:xfrm>
          <a:prstGeom prst="rect">
            <a:avLst/>
          </a:prstGeom>
          <a:solidFill>
            <a:srgbClr val="DAE3F3"/>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59" name="Google Shape;359;p43"/>
          <p:cNvSpPr txBox="1"/>
          <p:nvPr/>
        </p:nvSpPr>
        <p:spPr>
          <a:xfrm>
            <a:off x="1421280" y="1362090"/>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360" name="Google Shape;360;p43"/>
          <p:cNvSpPr txBox="1"/>
          <p:nvPr/>
        </p:nvSpPr>
        <p:spPr>
          <a:xfrm>
            <a:off x="1420326" y="1667715"/>
            <a:ext cx="1583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Enteral Feeds</a:t>
            </a:r>
            <a:endParaRPr/>
          </a:p>
        </p:txBody>
      </p:sp>
      <p:sp>
        <p:nvSpPr>
          <p:cNvPr id="361" name="Google Shape;361;p43"/>
          <p:cNvSpPr txBox="1"/>
          <p:nvPr/>
        </p:nvSpPr>
        <p:spPr>
          <a:xfrm>
            <a:off x="3243040" y="1370589"/>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Operator</a:t>
            </a:r>
            <a:endParaRPr/>
          </a:p>
        </p:txBody>
      </p:sp>
      <p:sp>
        <p:nvSpPr>
          <p:cNvPr id="362" name="Google Shape;362;p43"/>
          <p:cNvSpPr txBox="1"/>
          <p:nvPr/>
        </p:nvSpPr>
        <p:spPr>
          <a:xfrm>
            <a:off x="3318083" y="1667719"/>
            <a:ext cx="1164770"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&lt;=</a:t>
            </a:r>
            <a:endParaRPr/>
          </a:p>
        </p:txBody>
      </p:sp>
      <p:sp>
        <p:nvSpPr>
          <p:cNvPr id="363" name="Google Shape;363;p43"/>
          <p:cNvSpPr txBox="1"/>
          <p:nvPr/>
        </p:nvSpPr>
        <p:spPr>
          <a:xfrm>
            <a:off x="4735539" y="1644472"/>
            <a:ext cx="62267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4</a:t>
            </a:r>
            <a:endParaRPr/>
          </a:p>
        </p:txBody>
      </p:sp>
      <p:sp>
        <p:nvSpPr>
          <p:cNvPr id="364" name="Google Shape;364;p43"/>
          <p:cNvSpPr txBox="1"/>
          <p:nvPr/>
        </p:nvSpPr>
        <p:spPr>
          <a:xfrm>
            <a:off x="5537211" y="1330643"/>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365" name="Google Shape;365;p43"/>
          <p:cNvSpPr txBox="1"/>
          <p:nvPr/>
        </p:nvSpPr>
        <p:spPr>
          <a:xfrm>
            <a:off x="5600217" y="1636267"/>
            <a:ext cx="1277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days</a:t>
            </a:r>
            <a:endParaRPr/>
          </a:p>
        </p:txBody>
      </p:sp>
      <p:cxnSp>
        <p:nvCxnSpPr>
          <p:cNvPr id="366" name="Google Shape;366;p43"/>
          <p:cNvCxnSpPr/>
          <p:nvPr/>
        </p:nvCxnSpPr>
        <p:spPr>
          <a:xfrm>
            <a:off x="4218980" y="1662660"/>
            <a:ext cx="1" cy="373153"/>
          </a:xfrm>
          <a:prstGeom prst="straightConnector1">
            <a:avLst/>
          </a:prstGeom>
          <a:noFill/>
          <a:ln w="12700" cap="flat" cmpd="sng">
            <a:solidFill>
              <a:schemeClr val="accent1"/>
            </a:solidFill>
            <a:prstDash val="solid"/>
            <a:miter lim="8000"/>
            <a:headEnd type="none" w="sm" len="sm"/>
            <a:tailEnd type="none" w="sm" len="sm"/>
          </a:ln>
        </p:spPr>
      </p:cxnSp>
      <p:sp>
        <p:nvSpPr>
          <p:cNvPr id="367" name="Google Shape;367;p43"/>
          <p:cNvSpPr/>
          <p:nvPr/>
        </p:nvSpPr>
        <p:spPr>
          <a:xfrm rot="10800000">
            <a:off x="4261122" y="1776881"/>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368" name="Google Shape;368;p43"/>
          <p:cNvCxnSpPr/>
          <p:nvPr/>
        </p:nvCxnSpPr>
        <p:spPr>
          <a:xfrm flipH="1">
            <a:off x="6592987" y="1648389"/>
            <a:ext cx="10577" cy="342944"/>
          </a:xfrm>
          <a:prstGeom prst="straightConnector1">
            <a:avLst/>
          </a:prstGeom>
          <a:noFill/>
          <a:ln w="12700" cap="flat" cmpd="sng">
            <a:solidFill>
              <a:schemeClr val="accent1"/>
            </a:solidFill>
            <a:prstDash val="solid"/>
            <a:miter lim="8000"/>
            <a:headEnd type="none" w="sm" len="sm"/>
            <a:tailEnd type="none" w="sm" len="sm"/>
          </a:ln>
        </p:spPr>
      </p:cxnSp>
      <p:sp>
        <p:nvSpPr>
          <p:cNvPr id="369" name="Google Shape;369;p43"/>
          <p:cNvSpPr/>
          <p:nvPr/>
        </p:nvSpPr>
        <p:spPr>
          <a:xfrm rot="10800000">
            <a:off x="6662639" y="1750987"/>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70" name="Google Shape;370;p43"/>
          <p:cNvSpPr txBox="1"/>
          <p:nvPr/>
        </p:nvSpPr>
        <p:spPr>
          <a:xfrm>
            <a:off x="1399533" y="2537336"/>
            <a:ext cx="1583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Skin to Skin Care</a:t>
            </a:r>
            <a:endParaRPr/>
          </a:p>
        </p:txBody>
      </p:sp>
      <p:sp>
        <p:nvSpPr>
          <p:cNvPr id="371" name="Google Shape;371;p43"/>
          <p:cNvSpPr txBox="1"/>
          <p:nvPr/>
        </p:nvSpPr>
        <p:spPr>
          <a:xfrm>
            <a:off x="3235869" y="2223373"/>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Operator</a:t>
            </a:r>
            <a:endParaRPr/>
          </a:p>
        </p:txBody>
      </p:sp>
      <p:sp>
        <p:nvSpPr>
          <p:cNvPr id="372" name="Google Shape;372;p43"/>
          <p:cNvSpPr txBox="1"/>
          <p:nvPr/>
        </p:nvSpPr>
        <p:spPr>
          <a:xfrm>
            <a:off x="3318083" y="2528976"/>
            <a:ext cx="1191786"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&lt;=</a:t>
            </a:r>
            <a:endParaRPr/>
          </a:p>
        </p:txBody>
      </p:sp>
      <p:sp>
        <p:nvSpPr>
          <p:cNvPr id="373" name="Google Shape;373;p43"/>
          <p:cNvSpPr txBox="1"/>
          <p:nvPr/>
        </p:nvSpPr>
        <p:spPr>
          <a:xfrm>
            <a:off x="4711863" y="1345713"/>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Value</a:t>
            </a:r>
            <a:endParaRPr/>
          </a:p>
        </p:txBody>
      </p:sp>
      <p:sp>
        <p:nvSpPr>
          <p:cNvPr id="374" name="Google Shape;374;p43"/>
          <p:cNvSpPr txBox="1"/>
          <p:nvPr/>
        </p:nvSpPr>
        <p:spPr>
          <a:xfrm>
            <a:off x="4749336" y="2484378"/>
            <a:ext cx="701150"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14</a:t>
            </a:r>
            <a:endParaRPr/>
          </a:p>
        </p:txBody>
      </p:sp>
      <p:sp>
        <p:nvSpPr>
          <p:cNvPr id="375" name="Google Shape;375;p43"/>
          <p:cNvSpPr txBox="1"/>
          <p:nvPr/>
        </p:nvSpPr>
        <p:spPr>
          <a:xfrm>
            <a:off x="5554352" y="2181616"/>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376" name="Google Shape;376;p43"/>
          <p:cNvSpPr txBox="1"/>
          <p:nvPr/>
        </p:nvSpPr>
        <p:spPr>
          <a:xfrm>
            <a:off x="5627232" y="2497525"/>
            <a:ext cx="1277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Days</a:t>
            </a:r>
            <a:endParaRPr/>
          </a:p>
        </p:txBody>
      </p:sp>
      <p:cxnSp>
        <p:nvCxnSpPr>
          <p:cNvPr id="377" name="Google Shape;377;p43"/>
          <p:cNvCxnSpPr/>
          <p:nvPr/>
        </p:nvCxnSpPr>
        <p:spPr>
          <a:xfrm>
            <a:off x="4245996" y="2523917"/>
            <a:ext cx="1" cy="373153"/>
          </a:xfrm>
          <a:prstGeom prst="straightConnector1">
            <a:avLst/>
          </a:prstGeom>
          <a:noFill/>
          <a:ln w="12700" cap="flat" cmpd="sng">
            <a:solidFill>
              <a:schemeClr val="accent1"/>
            </a:solidFill>
            <a:prstDash val="solid"/>
            <a:miter lim="8000"/>
            <a:headEnd type="none" w="sm" len="sm"/>
            <a:tailEnd type="none" w="sm" len="sm"/>
          </a:ln>
        </p:spPr>
      </p:cxnSp>
      <p:sp>
        <p:nvSpPr>
          <p:cNvPr id="378" name="Google Shape;378;p43"/>
          <p:cNvSpPr/>
          <p:nvPr/>
        </p:nvSpPr>
        <p:spPr>
          <a:xfrm rot="10800000">
            <a:off x="4288138" y="2638138"/>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379" name="Google Shape;379;p43"/>
          <p:cNvCxnSpPr/>
          <p:nvPr/>
        </p:nvCxnSpPr>
        <p:spPr>
          <a:xfrm>
            <a:off x="6561925" y="2494543"/>
            <a:ext cx="9842" cy="339716"/>
          </a:xfrm>
          <a:prstGeom prst="straightConnector1">
            <a:avLst/>
          </a:prstGeom>
          <a:noFill/>
          <a:ln w="12700" cap="flat" cmpd="sng">
            <a:solidFill>
              <a:schemeClr val="accent1"/>
            </a:solidFill>
            <a:prstDash val="solid"/>
            <a:miter lim="8000"/>
            <a:headEnd type="none" w="sm" len="sm"/>
            <a:tailEnd type="none" w="sm" len="sm"/>
          </a:ln>
        </p:spPr>
      </p:cxnSp>
      <p:sp>
        <p:nvSpPr>
          <p:cNvPr id="380" name="Google Shape;380;p43"/>
          <p:cNvSpPr/>
          <p:nvPr/>
        </p:nvSpPr>
        <p:spPr>
          <a:xfrm rot="10800000">
            <a:off x="6622222" y="2610235"/>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nvGrpSpPr>
          <p:cNvPr id="381" name="Google Shape;381;p43"/>
          <p:cNvGrpSpPr/>
          <p:nvPr/>
        </p:nvGrpSpPr>
        <p:grpSpPr>
          <a:xfrm>
            <a:off x="8700624" y="1713748"/>
            <a:ext cx="184628" cy="191901"/>
            <a:chOff x="0" y="0"/>
            <a:chExt cx="246168" cy="255866"/>
          </a:xfrm>
        </p:grpSpPr>
        <p:sp>
          <p:nvSpPr>
            <p:cNvPr id="382" name="Google Shape;382;p43"/>
            <p:cNvSpPr/>
            <p:nvPr/>
          </p:nvSpPr>
          <p:spPr>
            <a:xfrm>
              <a:off x="0" y="0"/>
              <a:ext cx="246168" cy="255866"/>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83" name="Google Shape;383;p43"/>
            <p:cNvSpPr/>
            <p:nvPr/>
          </p:nvSpPr>
          <p:spPr>
            <a:xfrm>
              <a:off x="0" y="0"/>
              <a:ext cx="246168" cy="255866"/>
            </a:xfrm>
            <a:custGeom>
              <a:avLst/>
              <a:gdLst/>
              <a:ahLst/>
              <a:cxnLst/>
              <a:rect l="l" t="t" r="r" b="b"/>
              <a:pathLst>
                <a:path w="21600" h="21600" extrusionOk="0">
                  <a:moveTo>
                    <a:pt x="3163" y="3163"/>
                  </a:moveTo>
                  <a:lnTo>
                    <a:pt x="18437" y="18437"/>
                  </a:lnTo>
                  <a:moveTo>
                    <a:pt x="18437" y="3163"/>
                  </a:moveTo>
                  <a:lnTo>
                    <a:pt x="3163" y="18437"/>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grpSp>
        <p:nvGrpSpPr>
          <p:cNvPr id="384" name="Google Shape;384;p43"/>
          <p:cNvGrpSpPr/>
          <p:nvPr/>
        </p:nvGrpSpPr>
        <p:grpSpPr>
          <a:xfrm>
            <a:off x="8700624" y="2575005"/>
            <a:ext cx="184628" cy="191901"/>
            <a:chOff x="0" y="0"/>
            <a:chExt cx="246168" cy="255866"/>
          </a:xfrm>
        </p:grpSpPr>
        <p:sp>
          <p:nvSpPr>
            <p:cNvPr id="385" name="Google Shape;385;p43"/>
            <p:cNvSpPr/>
            <p:nvPr/>
          </p:nvSpPr>
          <p:spPr>
            <a:xfrm>
              <a:off x="0" y="0"/>
              <a:ext cx="246168" cy="255866"/>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86" name="Google Shape;386;p43"/>
            <p:cNvSpPr/>
            <p:nvPr/>
          </p:nvSpPr>
          <p:spPr>
            <a:xfrm>
              <a:off x="0" y="0"/>
              <a:ext cx="246168" cy="255866"/>
            </a:xfrm>
            <a:custGeom>
              <a:avLst/>
              <a:gdLst/>
              <a:ahLst/>
              <a:cxnLst/>
              <a:rect l="l" t="t" r="r" b="b"/>
              <a:pathLst>
                <a:path w="21600" h="21600" extrusionOk="0">
                  <a:moveTo>
                    <a:pt x="3163" y="3163"/>
                  </a:moveTo>
                  <a:lnTo>
                    <a:pt x="18437" y="18437"/>
                  </a:lnTo>
                  <a:moveTo>
                    <a:pt x="18437" y="3163"/>
                  </a:moveTo>
                  <a:lnTo>
                    <a:pt x="3163" y="18437"/>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387" name="Google Shape;387;p43"/>
          <p:cNvSpPr txBox="1"/>
          <p:nvPr/>
        </p:nvSpPr>
        <p:spPr>
          <a:xfrm>
            <a:off x="432019" y="1413133"/>
            <a:ext cx="690311" cy="415466"/>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500" b="1" i="0" u="none" strike="noStrike" cap="none">
                <a:solidFill>
                  <a:srgbClr val="000000"/>
                </a:solidFill>
                <a:latin typeface="Arial"/>
                <a:ea typeface="Arial"/>
                <a:cs typeface="Arial"/>
                <a:sym typeface="Arial"/>
              </a:rPr>
              <a:t>Then</a:t>
            </a:r>
            <a:endParaRPr/>
          </a:p>
        </p:txBody>
      </p:sp>
      <p:sp>
        <p:nvSpPr>
          <p:cNvPr id="388" name="Google Shape;388;p43"/>
          <p:cNvSpPr/>
          <p:nvPr/>
        </p:nvSpPr>
        <p:spPr>
          <a:xfrm>
            <a:off x="4023327" y="4377387"/>
            <a:ext cx="1097346" cy="331544"/>
          </a:xfrm>
          <a:prstGeom prst="roundRect">
            <a:avLst>
              <a:gd name="adj" fmla="val 16667"/>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89" name="Google Shape;389;p43"/>
          <p:cNvSpPr txBox="1"/>
          <p:nvPr/>
        </p:nvSpPr>
        <p:spPr>
          <a:xfrm>
            <a:off x="4100254" y="4384806"/>
            <a:ext cx="1020419" cy="23083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Add Action</a:t>
            </a:r>
            <a:endParaRPr/>
          </a:p>
        </p:txBody>
      </p:sp>
      <p:sp>
        <p:nvSpPr>
          <p:cNvPr id="390" name="Google Shape;390;p43"/>
          <p:cNvSpPr txBox="1"/>
          <p:nvPr/>
        </p:nvSpPr>
        <p:spPr>
          <a:xfrm>
            <a:off x="-341149" y="666584"/>
            <a:ext cx="1590605" cy="369300"/>
          </a:xfrm>
          <a:prstGeom prst="rect">
            <a:avLst/>
          </a:prstGeom>
          <a:noFill/>
          <a:ln>
            <a:noFill/>
          </a:ln>
        </p:spPr>
        <p:txBody>
          <a:bodyPr spcFirstLastPara="1" wrap="square" lIns="91400" tIns="91400" rIns="91400" bIns="91400" anchor="t" anchorCtr="0">
            <a:spAutoFit/>
          </a:bodyPr>
          <a:lstStyle/>
          <a:p>
            <a:pPr marL="0" marR="0" lvl="1" indent="34290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Category</a:t>
            </a:r>
            <a:endParaRPr/>
          </a:p>
        </p:txBody>
      </p:sp>
      <p:sp>
        <p:nvSpPr>
          <p:cNvPr id="391" name="Google Shape;391;p43"/>
          <p:cNvSpPr txBox="1"/>
          <p:nvPr/>
        </p:nvSpPr>
        <p:spPr>
          <a:xfrm>
            <a:off x="3078064" y="646855"/>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392" name="Google Shape;392;p43"/>
          <p:cNvSpPr txBox="1"/>
          <p:nvPr/>
        </p:nvSpPr>
        <p:spPr>
          <a:xfrm>
            <a:off x="3902506" y="679538"/>
            <a:ext cx="1583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Enteral Feeds</a:t>
            </a:r>
            <a:endParaRPr/>
          </a:p>
        </p:txBody>
      </p:sp>
      <p:cxnSp>
        <p:nvCxnSpPr>
          <p:cNvPr id="393" name="Google Shape;393;p43"/>
          <p:cNvCxnSpPr/>
          <p:nvPr/>
        </p:nvCxnSpPr>
        <p:spPr>
          <a:xfrm>
            <a:off x="5126734" y="671859"/>
            <a:ext cx="1" cy="373153"/>
          </a:xfrm>
          <a:prstGeom prst="straightConnector1">
            <a:avLst/>
          </a:prstGeom>
          <a:noFill/>
          <a:ln w="12700" cap="flat" cmpd="sng">
            <a:solidFill>
              <a:schemeClr val="accent1"/>
            </a:solidFill>
            <a:prstDash val="solid"/>
            <a:miter lim="8000"/>
            <a:headEnd type="none" w="sm" len="sm"/>
            <a:tailEnd type="none" w="sm" len="sm"/>
          </a:ln>
        </p:spPr>
      </p:cxnSp>
      <p:sp>
        <p:nvSpPr>
          <p:cNvPr id="394" name="Google Shape;394;p43"/>
          <p:cNvSpPr/>
          <p:nvPr/>
        </p:nvSpPr>
        <p:spPr>
          <a:xfrm rot="10800000">
            <a:off x="5203773" y="765169"/>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nvGrpSpPr>
          <p:cNvPr id="395" name="Google Shape;395;p43"/>
          <p:cNvGrpSpPr/>
          <p:nvPr/>
        </p:nvGrpSpPr>
        <p:grpSpPr>
          <a:xfrm>
            <a:off x="5683311" y="773245"/>
            <a:ext cx="185982" cy="180292"/>
            <a:chOff x="-1" y="-1"/>
            <a:chExt cx="247974" cy="240388"/>
          </a:xfrm>
        </p:grpSpPr>
        <p:sp>
          <p:nvSpPr>
            <p:cNvPr id="396" name="Google Shape;396;p43"/>
            <p:cNvSpPr/>
            <p:nvPr/>
          </p:nvSpPr>
          <p:spPr>
            <a:xfrm>
              <a:off x="-1" y="-1"/>
              <a:ext cx="247974" cy="240388"/>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97" name="Google Shape;397;p43"/>
            <p:cNvSpPr/>
            <p:nvPr/>
          </p:nvSpPr>
          <p:spPr>
            <a:xfrm>
              <a:off x="-1" y="-1"/>
              <a:ext cx="247974" cy="240388"/>
            </a:xfrm>
            <a:custGeom>
              <a:avLst/>
              <a:gdLst/>
              <a:ahLst/>
              <a:cxnLst/>
              <a:rect l="l" t="t" r="r" b="b"/>
              <a:pathLst>
                <a:path w="21600" h="21600" extrusionOk="0">
                  <a:moveTo>
                    <a:pt x="10800" y="0"/>
                  </a:moveTo>
                  <a:lnTo>
                    <a:pt x="10800" y="21600"/>
                  </a:lnTo>
                  <a:moveTo>
                    <a:pt x="0" y="10800"/>
                  </a:moveTo>
                  <a:lnTo>
                    <a:pt x="21600" y="10800"/>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398" name="Google Shape;398;p43"/>
          <p:cNvSpPr txBox="1"/>
          <p:nvPr/>
        </p:nvSpPr>
        <p:spPr>
          <a:xfrm>
            <a:off x="800931" y="685006"/>
            <a:ext cx="1583102"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Nutrition</a:t>
            </a:r>
            <a:endParaRPr/>
          </a:p>
        </p:txBody>
      </p:sp>
      <p:cxnSp>
        <p:nvCxnSpPr>
          <p:cNvPr id="399" name="Google Shape;399;p43"/>
          <p:cNvCxnSpPr/>
          <p:nvPr/>
        </p:nvCxnSpPr>
        <p:spPr>
          <a:xfrm>
            <a:off x="2091329" y="671859"/>
            <a:ext cx="1" cy="373153"/>
          </a:xfrm>
          <a:prstGeom prst="straightConnector1">
            <a:avLst/>
          </a:prstGeom>
          <a:noFill/>
          <a:ln w="12700" cap="flat" cmpd="sng">
            <a:solidFill>
              <a:schemeClr val="accent1"/>
            </a:solidFill>
            <a:prstDash val="solid"/>
            <a:miter lim="8000"/>
            <a:headEnd type="none" w="sm" len="sm"/>
            <a:tailEnd type="none" w="sm" len="sm"/>
          </a:ln>
        </p:spPr>
      </p:cxnSp>
      <p:sp>
        <p:nvSpPr>
          <p:cNvPr id="400" name="Google Shape;400;p43"/>
          <p:cNvSpPr/>
          <p:nvPr/>
        </p:nvSpPr>
        <p:spPr>
          <a:xfrm rot="10800000">
            <a:off x="2149558" y="768951"/>
            <a:ext cx="204797" cy="180289"/>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01" name="Google Shape;401;p43"/>
          <p:cNvSpPr txBox="1"/>
          <p:nvPr/>
        </p:nvSpPr>
        <p:spPr>
          <a:xfrm>
            <a:off x="4708227" y="2186453"/>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Value</a:t>
            </a:r>
            <a:endParaRPr/>
          </a:p>
        </p:txBody>
      </p:sp>
      <p:sp>
        <p:nvSpPr>
          <p:cNvPr id="402" name="Google Shape;402;p43"/>
          <p:cNvSpPr txBox="1"/>
          <p:nvPr/>
        </p:nvSpPr>
        <p:spPr>
          <a:xfrm>
            <a:off x="1354515" y="2923835"/>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403" name="Google Shape;403;p43"/>
          <p:cNvSpPr txBox="1"/>
          <p:nvPr/>
        </p:nvSpPr>
        <p:spPr>
          <a:xfrm>
            <a:off x="1398309" y="3220387"/>
            <a:ext cx="1746469" cy="553966"/>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Weekly lactation rounds</a:t>
            </a:r>
            <a:endParaRPr/>
          </a:p>
        </p:txBody>
      </p:sp>
      <p:grpSp>
        <p:nvGrpSpPr>
          <p:cNvPr id="404" name="Google Shape;404;p43"/>
          <p:cNvGrpSpPr/>
          <p:nvPr/>
        </p:nvGrpSpPr>
        <p:grpSpPr>
          <a:xfrm>
            <a:off x="8700624" y="3277477"/>
            <a:ext cx="184628" cy="191901"/>
            <a:chOff x="0" y="0"/>
            <a:chExt cx="246168" cy="255866"/>
          </a:xfrm>
        </p:grpSpPr>
        <p:sp>
          <p:nvSpPr>
            <p:cNvPr id="405" name="Google Shape;405;p43"/>
            <p:cNvSpPr/>
            <p:nvPr/>
          </p:nvSpPr>
          <p:spPr>
            <a:xfrm>
              <a:off x="0" y="0"/>
              <a:ext cx="246168" cy="255866"/>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06" name="Google Shape;406;p43"/>
            <p:cNvSpPr/>
            <p:nvPr/>
          </p:nvSpPr>
          <p:spPr>
            <a:xfrm>
              <a:off x="0" y="0"/>
              <a:ext cx="246168" cy="255866"/>
            </a:xfrm>
            <a:custGeom>
              <a:avLst/>
              <a:gdLst/>
              <a:ahLst/>
              <a:cxnLst/>
              <a:rect l="l" t="t" r="r" b="b"/>
              <a:pathLst>
                <a:path w="21600" h="21600" extrusionOk="0">
                  <a:moveTo>
                    <a:pt x="3163" y="3163"/>
                  </a:moveTo>
                  <a:lnTo>
                    <a:pt x="18437" y="18437"/>
                  </a:lnTo>
                  <a:moveTo>
                    <a:pt x="18437" y="3163"/>
                  </a:moveTo>
                  <a:lnTo>
                    <a:pt x="3163" y="18437"/>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407" name="Google Shape;407;p43"/>
          <p:cNvSpPr txBox="1"/>
          <p:nvPr/>
        </p:nvSpPr>
        <p:spPr>
          <a:xfrm>
            <a:off x="7067914" y="3188775"/>
            <a:ext cx="425069"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1</a:t>
            </a:r>
            <a:endParaRPr/>
          </a:p>
        </p:txBody>
      </p:sp>
      <p:sp>
        <p:nvSpPr>
          <p:cNvPr id="408" name="Google Shape;408;p43"/>
          <p:cNvSpPr txBox="1"/>
          <p:nvPr/>
        </p:nvSpPr>
        <p:spPr>
          <a:xfrm>
            <a:off x="7001230" y="2898386"/>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Every</a:t>
            </a:r>
            <a:endParaRPr/>
          </a:p>
        </p:txBody>
      </p:sp>
      <p:sp>
        <p:nvSpPr>
          <p:cNvPr id="409" name="Google Shape;409;p43"/>
          <p:cNvSpPr txBox="1"/>
          <p:nvPr/>
        </p:nvSpPr>
        <p:spPr>
          <a:xfrm>
            <a:off x="7559666" y="3184745"/>
            <a:ext cx="848348"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Week</a:t>
            </a:r>
            <a:endParaRPr/>
          </a:p>
        </p:txBody>
      </p:sp>
      <p:sp>
        <p:nvSpPr>
          <p:cNvPr id="410" name="Google Shape;410;p43"/>
          <p:cNvSpPr/>
          <p:nvPr/>
        </p:nvSpPr>
        <p:spPr>
          <a:xfrm rot="10800000">
            <a:off x="8148931" y="3280546"/>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11" name="Google Shape;411;p43"/>
          <p:cNvSpPr txBox="1"/>
          <p:nvPr/>
        </p:nvSpPr>
        <p:spPr>
          <a:xfrm>
            <a:off x="1304454" y="3584518"/>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412" name="Google Shape;412;p43"/>
          <p:cNvSpPr txBox="1"/>
          <p:nvPr/>
        </p:nvSpPr>
        <p:spPr>
          <a:xfrm>
            <a:off x="1377249" y="3907599"/>
            <a:ext cx="1583101"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Skin to Skin Care</a:t>
            </a:r>
            <a:endParaRPr/>
          </a:p>
        </p:txBody>
      </p:sp>
      <p:grpSp>
        <p:nvGrpSpPr>
          <p:cNvPr id="413" name="Google Shape;413;p43"/>
          <p:cNvGrpSpPr/>
          <p:nvPr/>
        </p:nvGrpSpPr>
        <p:grpSpPr>
          <a:xfrm>
            <a:off x="8700624" y="3946679"/>
            <a:ext cx="184628" cy="191901"/>
            <a:chOff x="0" y="0"/>
            <a:chExt cx="246168" cy="255866"/>
          </a:xfrm>
        </p:grpSpPr>
        <p:sp>
          <p:nvSpPr>
            <p:cNvPr id="414" name="Google Shape;414;p43"/>
            <p:cNvSpPr/>
            <p:nvPr/>
          </p:nvSpPr>
          <p:spPr>
            <a:xfrm>
              <a:off x="0" y="0"/>
              <a:ext cx="246168" cy="255866"/>
            </a:xfrm>
            <a:prstGeom prst="ellipse">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15" name="Google Shape;415;p43"/>
            <p:cNvSpPr/>
            <p:nvPr/>
          </p:nvSpPr>
          <p:spPr>
            <a:xfrm>
              <a:off x="0" y="0"/>
              <a:ext cx="246168" cy="255866"/>
            </a:xfrm>
            <a:custGeom>
              <a:avLst/>
              <a:gdLst/>
              <a:ahLst/>
              <a:cxnLst/>
              <a:rect l="l" t="t" r="r" b="b"/>
              <a:pathLst>
                <a:path w="21600" h="21600" extrusionOk="0">
                  <a:moveTo>
                    <a:pt x="3163" y="3163"/>
                  </a:moveTo>
                  <a:lnTo>
                    <a:pt x="18437" y="18437"/>
                  </a:lnTo>
                  <a:moveTo>
                    <a:pt x="18437" y="3163"/>
                  </a:moveTo>
                  <a:lnTo>
                    <a:pt x="3163" y="18437"/>
                  </a:ln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12700" cap="flat" cmpd="sng">
              <a:solidFill>
                <a:schemeClr val="accent1"/>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416" name="Google Shape;416;p43"/>
          <p:cNvSpPr txBox="1"/>
          <p:nvPr/>
        </p:nvSpPr>
        <p:spPr>
          <a:xfrm>
            <a:off x="7086964" y="3858272"/>
            <a:ext cx="425069"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3</a:t>
            </a:r>
            <a:endParaRPr/>
          </a:p>
        </p:txBody>
      </p:sp>
      <p:sp>
        <p:nvSpPr>
          <p:cNvPr id="417" name="Google Shape;417;p43"/>
          <p:cNvSpPr txBox="1"/>
          <p:nvPr/>
        </p:nvSpPr>
        <p:spPr>
          <a:xfrm>
            <a:off x="7020280" y="3567882"/>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Every</a:t>
            </a:r>
            <a:endParaRPr/>
          </a:p>
        </p:txBody>
      </p:sp>
      <p:sp>
        <p:nvSpPr>
          <p:cNvPr id="418" name="Google Shape;418;p43"/>
          <p:cNvSpPr txBox="1"/>
          <p:nvPr/>
        </p:nvSpPr>
        <p:spPr>
          <a:xfrm>
            <a:off x="7578716" y="3854242"/>
            <a:ext cx="848348"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Day</a:t>
            </a:r>
            <a:endParaRPr/>
          </a:p>
        </p:txBody>
      </p:sp>
      <p:sp>
        <p:nvSpPr>
          <p:cNvPr id="419" name="Google Shape;419;p43"/>
          <p:cNvSpPr/>
          <p:nvPr/>
        </p:nvSpPr>
        <p:spPr>
          <a:xfrm rot="10800000">
            <a:off x="8167981" y="3950044"/>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20" name="Google Shape;420;p43"/>
          <p:cNvSpPr txBox="1"/>
          <p:nvPr/>
        </p:nvSpPr>
        <p:spPr>
          <a:xfrm>
            <a:off x="7522714" y="2904353"/>
            <a:ext cx="1340102"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421" name="Google Shape;421;p43"/>
          <p:cNvSpPr txBox="1"/>
          <p:nvPr/>
        </p:nvSpPr>
        <p:spPr>
          <a:xfrm>
            <a:off x="3318083" y="3232726"/>
            <a:ext cx="1191786"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Yes</a:t>
            </a:r>
            <a:endParaRPr/>
          </a:p>
        </p:txBody>
      </p:sp>
      <p:cxnSp>
        <p:nvCxnSpPr>
          <p:cNvPr id="422" name="Google Shape;422;p43"/>
          <p:cNvCxnSpPr/>
          <p:nvPr/>
        </p:nvCxnSpPr>
        <p:spPr>
          <a:xfrm>
            <a:off x="4245995" y="3235449"/>
            <a:ext cx="1" cy="373153"/>
          </a:xfrm>
          <a:prstGeom prst="straightConnector1">
            <a:avLst/>
          </a:prstGeom>
          <a:noFill/>
          <a:ln w="12700" cap="flat" cmpd="sng">
            <a:solidFill>
              <a:schemeClr val="accent1"/>
            </a:solidFill>
            <a:prstDash val="solid"/>
            <a:miter lim="8000"/>
            <a:headEnd type="none" w="sm" len="sm"/>
            <a:tailEnd type="none" w="sm" len="sm"/>
          </a:ln>
        </p:spPr>
      </p:cxnSp>
      <p:sp>
        <p:nvSpPr>
          <p:cNvPr id="423" name="Google Shape;423;p43"/>
          <p:cNvSpPr/>
          <p:nvPr/>
        </p:nvSpPr>
        <p:spPr>
          <a:xfrm rot="10800000">
            <a:off x="4296267" y="3351314"/>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24" name="Google Shape;424;p43"/>
          <p:cNvSpPr txBox="1"/>
          <p:nvPr/>
        </p:nvSpPr>
        <p:spPr>
          <a:xfrm>
            <a:off x="3274290" y="2935597"/>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Options</a:t>
            </a:r>
            <a:endParaRPr/>
          </a:p>
        </p:txBody>
      </p:sp>
      <p:sp>
        <p:nvSpPr>
          <p:cNvPr id="425" name="Google Shape;425;p43"/>
          <p:cNvSpPr txBox="1"/>
          <p:nvPr/>
        </p:nvSpPr>
        <p:spPr>
          <a:xfrm>
            <a:off x="3337133" y="3880426"/>
            <a:ext cx="1190017"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Yes</a:t>
            </a:r>
            <a:endParaRPr/>
          </a:p>
        </p:txBody>
      </p:sp>
      <p:cxnSp>
        <p:nvCxnSpPr>
          <p:cNvPr id="426" name="Google Shape;426;p43"/>
          <p:cNvCxnSpPr/>
          <p:nvPr/>
        </p:nvCxnSpPr>
        <p:spPr>
          <a:xfrm>
            <a:off x="4245994" y="3892281"/>
            <a:ext cx="1" cy="344463"/>
          </a:xfrm>
          <a:prstGeom prst="straightConnector1">
            <a:avLst/>
          </a:prstGeom>
          <a:noFill/>
          <a:ln w="12700" cap="flat" cmpd="sng">
            <a:solidFill>
              <a:schemeClr val="accent1"/>
            </a:solidFill>
            <a:prstDash val="solid"/>
            <a:miter lim="8000"/>
            <a:headEnd type="none" w="sm" len="sm"/>
            <a:tailEnd type="none" w="sm" len="sm"/>
          </a:ln>
        </p:spPr>
      </p:cxnSp>
      <p:sp>
        <p:nvSpPr>
          <p:cNvPr id="427" name="Google Shape;427;p43"/>
          <p:cNvSpPr/>
          <p:nvPr/>
        </p:nvSpPr>
        <p:spPr>
          <a:xfrm rot="10800000">
            <a:off x="4279682" y="3996646"/>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28" name="Google Shape;428;p43"/>
          <p:cNvSpPr txBox="1"/>
          <p:nvPr/>
        </p:nvSpPr>
        <p:spPr>
          <a:xfrm>
            <a:off x="3293340" y="3583297"/>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Options</a:t>
            </a:r>
            <a:endParaRPr/>
          </a:p>
        </p:txBody>
      </p:sp>
      <p:sp>
        <p:nvSpPr>
          <p:cNvPr id="429" name="Google Shape;429;p43"/>
          <p:cNvSpPr txBox="1"/>
          <p:nvPr/>
        </p:nvSpPr>
        <p:spPr>
          <a:xfrm>
            <a:off x="1377249" y="2206335"/>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Data Field</a:t>
            </a:r>
            <a:endParaRPr/>
          </a:p>
        </p:txBody>
      </p:sp>
      <p:sp>
        <p:nvSpPr>
          <p:cNvPr id="430" name="Google Shape;430;p43"/>
          <p:cNvSpPr txBox="1"/>
          <p:nvPr/>
        </p:nvSpPr>
        <p:spPr>
          <a:xfrm>
            <a:off x="7010098" y="1624243"/>
            <a:ext cx="425069"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431" name="Google Shape;431;p43"/>
          <p:cNvSpPr txBox="1"/>
          <p:nvPr/>
        </p:nvSpPr>
        <p:spPr>
          <a:xfrm>
            <a:off x="6943413" y="1333854"/>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Every</a:t>
            </a:r>
            <a:endParaRPr/>
          </a:p>
        </p:txBody>
      </p:sp>
      <p:sp>
        <p:nvSpPr>
          <p:cNvPr id="432" name="Google Shape;432;p43"/>
          <p:cNvSpPr txBox="1"/>
          <p:nvPr/>
        </p:nvSpPr>
        <p:spPr>
          <a:xfrm>
            <a:off x="7501849" y="1620213"/>
            <a:ext cx="848348"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433" name="Google Shape;433;p43"/>
          <p:cNvSpPr/>
          <p:nvPr/>
        </p:nvSpPr>
        <p:spPr>
          <a:xfrm rot="10800000">
            <a:off x="8091115" y="1716014"/>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434" name="Google Shape;434;p43"/>
          <p:cNvSpPr txBox="1"/>
          <p:nvPr/>
        </p:nvSpPr>
        <p:spPr>
          <a:xfrm>
            <a:off x="7036590" y="2488845"/>
            <a:ext cx="425069"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435" name="Google Shape;435;p43"/>
          <p:cNvSpPr txBox="1"/>
          <p:nvPr/>
        </p:nvSpPr>
        <p:spPr>
          <a:xfrm>
            <a:off x="6969906" y="2198455"/>
            <a:ext cx="13401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Every</a:t>
            </a:r>
            <a:endParaRPr/>
          </a:p>
        </p:txBody>
      </p:sp>
      <p:sp>
        <p:nvSpPr>
          <p:cNvPr id="436" name="Google Shape;436;p43"/>
          <p:cNvSpPr txBox="1"/>
          <p:nvPr/>
        </p:nvSpPr>
        <p:spPr>
          <a:xfrm>
            <a:off x="7528342" y="2484814"/>
            <a:ext cx="848348" cy="369300"/>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Arial"/>
              <a:ea typeface="Arial"/>
              <a:cs typeface="Arial"/>
              <a:sym typeface="Arial"/>
            </a:endParaRPr>
          </a:p>
        </p:txBody>
      </p:sp>
      <p:sp>
        <p:nvSpPr>
          <p:cNvPr id="437" name="Google Shape;437;p43"/>
          <p:cNvSpPr/>
          <p:nvPr/>
        </p:nvSpPr>
        <p:spPr>
          <a:xfrm rot="10800000">
            <a:off x="8117607" y="2580616"/>
            <a:ext cx="204797" cy="180290"/>
          </a:xfrm>
          <a:prstGeom prst="triangle">
            <a:avLst>
              <a:gd name="adj" fmla="val 50000"/>
            </a:avLst>
          </a:prstGeom>
          <a:solidFill>
            <a:srgbClr val="FFFFFF"/>
          </a:solidFill>
          <a:ln w="12700" cap="flat" cmpd="sng">
            <a:solidFill>
              <a:schemeClr val="accent1"/>
            </a:solidFill>
            <a:prstDash val="solid"/>
            <a:miter lim="8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cxnSp>
        <p:nvCxnSpPr>
          <p:cNvPr id="438" name="Google Shape;438;p43"/>
          <p:cNvCxnSpPr/>
          <p:nvPr/>
        </p:nvCxnSpPr>
        <p:spPr>
          <a:xfrm>
            <a:off x="8057772" y="1630761"/>
            <a:ext cx="1" cy="373153"/>
          </a:xfrm>
          <a:prstGeom prst="straightConnector1">
            <a:avLst/>
          </a:prstGeom>
          <a:noFill/>
          <a:ln w="12700" cap="flat" cmpd="sng">
            <a:solidFill>
              <a:schemeClr val="accent1"/>
            </a:solidFill>
            <a:prstDash val="solid"/>
            <a:miter lim="8000"/>
            <a:headEnd type="none" w="sm" len="sm"/>
            <a:tailEnd type="none" w="sm" len="sm"/>
          </a:ln>
        </p:spPr>
      </p:cxnSp>
      <p:cxnSp>
        <p:nvCxnSpPr>
          <p:cNvPr id="439" name="Google Shape;439;p43"/>
          <p:cNvCxnSpPr/>
          <p:nvPr/>
        </p:nvCxnSpPr>
        <p:spPr>
          <a:xfrm>
            <a:off x="8082705" y="2471232"/>
            <a:ext cx="1" cy="373153"/>
          </a:xfrm>
          <a:prstGeom prst="straightConnector1">
            <a:avLst/>
          </a:prstGeom>
          <a:noFill/>
          <a:ln w="12700" cap="flat" cmpd="sng">
            <a:solidFill>
              <a:schemeClr val="accent1"/>
            </a:solidFill>
            <a:prstDash val="solid"/>
            <a:miter lim="8000"/>
            <a:headEnd type="none" w="sm" len="sm"/>
            <a:tailEnd type="none" w="sm" len="sm"/>
          </a:ln>
        </p:spPr>
      </p:cxnSp>
      <p:sp>
        <p:nvSpPr>
          <p:cNvPr id="440" name="Google Shape;440;p43"/>
          <p:cNvSpPr txBox="1"/>
          <p:nvPr/>
        </p:nvSpPr>
        <p:spPr>
          <a:xfrm>
            <a:off x="7422367" y="1321968"/>
            <a:ext cx="1340102"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441" name="Google Shape;441;p43"/>
          <p:cNvSpPr txBox="1"/>
          <p:nvPr/>
        </p:nvSpPr>
        <p:spPr>
          <a:xfrm>
            <a:off x="7460047" y="2178791"/>
            <a:ext cx="1340102"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Units</a:t>
            </a:r>
            <a:endParaRPr/>
          </a:p>
        </p:txBody>
      </p:sp>
      <p:sp>
        <p:nvSpPr>
          <p:cNvPr id="442" name="Google Shape;442;p43"/>
          <p:cNvSpPr txBox="1">
            <a:spLocks noGrp="1"/>
          </p:cNvSpPr>
          <p:nvPr>
            <p:ph type="title"/>
          </p:nvPr>
        </p:nvSpPr>
        <p:spPr>
          <a:xfrm>
            <a:off x="214313" y="50800"/>
            <a:ext cx="8874125" cy="541338"/>
          </a:xfrm>
          <a:prstGeom prst="rect">
            <a:avLst/>
          </a:prstGeom>
          <a:noFill/>
          <a:ln>
            <a:noFill/>
          </a:ln>
        </p:spPr>
        <p:txBody>
          <a:bodyPr spcFirstLastPara="1" wrap="square" lIns="68550" tIns="34275" rIns="68550" bIns="34275" anchor="b" anchorCtr="0">
            <a:noAutofit/>
          </a:bodyPr>
          <a:lstStyle/>
          <a:p>
            <a:pPr marL="0" lvl="0" indent="0" algn="ctr" rtl="0">
              <a:lnSpc>
                <a:spcPct val="100000"/>
              </a:lnSpc>
              <a:spcBef>
                <a:spcPts val="0"/>
              </a:spcBef>
              <a:spcAft>
                <a:spcPts val="0"/>
              </a:spcAft>
              <a:buSzPts val="2400"/>
              <a:buNone/>
            </a:pPr>
            <a:r>
              <a:rPr lang="en" sz="3400">
                <a:solidFill>
                  <a:schemeClr val="dk1"/>
                </a:solidFill>
              </a:rPr>
              <a:t>Mocks : Design Recommendations</a:t>
            </a:r>
            <a:endParaRPr sz="34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7" name="Google Shape;447;p44"/>
          <p:cNvPicPr preferRelativeResize="0"/>
          <p:nvPr/>
        </p:nvPicPr>
        <p:blipFill rotWithShape="1">
          <a:blip r:embed="rId3">
            <a:alphaModFix/>
          </a:blip>
          <a:srcRect/>
          <a:stretch/>
        </p:blipFill>
        <p:spPr>
          <a:xfrm>
            <a:off x="1" y="699300"/>
            <a:ext cx="9143997" cy="4392024"/>
          </a:xfrm>
          <a:prstGeom prst="rect">
            <a:avLst/>
          </a:prstGeom>
          <a:noFill/>
          <a:ln>
            <a:noFill/>
          </a:ln>
        </p:spPr>
      </p:pic>
      <p:pic>
        <p:nvPicPr>
          <p:cNvPr id="448" name="Google Shape;448;p44"/>
          <p:cNvPicPr preferRelativeResize="0"/>
          <p:nvPr/>
        </p:nvPicPr>
        <p:blipFill rotWithShape="1">
          <a:blip r:embed="rId4">
            <a:alphaModFix/>
          </a:blip>
          <a:srcRect/>
          <a:stretch/>
        </p:blipFill>
        <p:spPr>
          <a:xfrm>
            <a:off x="108972" y="3806778"/>
            <a:ext cx="4463028" cy="1042953"/>
          </a:xfrm>
          <a:prstGeom prst="rect">
            <a:avLst/>
          </a:prstGeom>
          <a:noFill/>
          <a:ln>
            <a:noFill/>
          </a:ln>
        </p:spPr>
      </p:pic>
      <p:sp>
        <p:nvSpPr>
          <p:cNvPr id="449" name="Google Shape;449;p44"/>
          <p:cNvSpPr txBox="1">
            <a:spLocks noGrp="1"/>
          </p:cNvSpPr>
          <p:nvPr>
            <p:ph type="title"/>
          </p:nvPr>
        </p:nvSpPr>
        <p:spPr>
          <a:xfrm>
            <a:off x="134550" y="11161"/>
            <a:ext cx="8874900" cy="542250"/>
          </a:xfrm>
          <a:prstGeom prst="rect">
            <a:avLst/>
          </a:prstGeom>
          <a:noFill/>
          <a:ln>
            <a:noFill/>
          </a:ln>
        </p:spPr>
        <p:txBody>
          <a:bodyPr spcFirstLastPara="1" wrap="square" lIns="68550" tIns="34275" rIns="68550" bIns="34275" anchor="b" anchorCtr="0">
            <a:noAutofit/>
          </a:bodyPr>
          <a:lstStyle/>
          <a:p>
            <a:pPr marL="0" lvl="0" indent="0" algn="ctr" rtl="0">
              <a:lnSpc>
                <a:spcPct val="90000"/>
              </a:lnSpc>
              <a:spcBef>
                <a:spcPts val="0"/>
              </a:spcBef>
              <a:spcAft>
                <a:spcPts val="0"/>
              </a:spcAft>
              <a:buSzPts val="2400"/>
              <a:buNone/>
            </a:pPr>
            <a:r>
              <a:rPr lang="en" sz="3400">
                <a:solidFill>
                  <a:schemeClr val="dk1"/>
                </a:solidFill>
              </a:rPr>
              <a:t>Mocks : Fill Assessments</a:t>
            </a:r>
            <a:endParaRPr sz="34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5"/>
          <p:cNvSpPr/>
          <p:nvPr/>
        </p:nvSpPr>
        <p:spPr>
          <a:xfrm>
            <a:off x="22783" y="0"/>
            <a:ext cx="9808802" cy="6399302"/>
          </a:xfrm>
          <a:prstGeom prst="rect">
            <a:avLst/>
          </a:prstGeom>
          <a:solidFill>
            <a:srgbClr val="FFFFFF"/>
          </a:solidFill>
          <a:ln w="19050"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cxnSp>
        <p:nvCxnSpPr>
          <p:cNvPr id="455" name="Google Shape;455;p45"/>
          <p:cNvCxnSpPr/>
          <p:nvPr/>
        </p:nvCxnSpPr>
        <p:spPr>
          <a:xfrm rot="10800000">
            <a:off x="109942" y="409467"/>
            <a:ext cx="1827600" cy="3601"/>
          </a:xfrm>
          <a:prstGeom prst="straightConnector1">
            <a:avLst/>
          </a:prstGeom>
          <a:noFill/>
          <a:ln w="19050" cap="flat" cmpd="sng">
            <a:solidFill>
              <a:srgbClr val="A7A7A7"/>
            </a:solidFill>
            <a:prstDash val="solid"/>
            <a:round/>
            <a:headEnd type="none" w="sm" len="sm"/>
            <a:tailEnd type="none" w="sm" len="sm"/>
          </a:ln>
        </p:spPr>
      </p:cxnSp>
      <p:sp>
        <p:nvSpPr>
          <p:cNvPr id="456" name="Google Shape;456;p45"/>
          <p:cNvSpPr txBox="1"/>
          <p:nvPr/>
        </p:nvSpPr>
        <p:spPr>
          <a:xfrm>
            <a:off x="3067" y="-5869"/>
            <a:ext cx="1900800" cy="4616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Discharge Date</a:t>
            </a:r>
            <a:endParaRPr/>
          </a:p>
        </p:txBody>
      </p:sp>
      <p:cxnSp>
        <p:nvCxnSpPr>
          <p:cNvPr id="457" name="Google Shape;457;p45"/>
          <p:cNvCxnSpPr/>
          <p:nvPr/>
        </p:nvCxnSpPr>
        <p:spPr>
          <a:xfrm rot="10800000">
            <a:off x="109692" y="1565467"/>
            <a:ext cx="1867201" cy="1501"/>
          </a:xfrm>
          <a:prstGeom prst="straightConnector1">
            <a:avLst/>
          </a:prstGeom>
          <a:noFill/>
          <a:ln w="9525" cap="flat" cmpd="sng">
            <a:solidFill>
              <a:srgbClr val="A7A7A7"/>
            </a:solidFill>
            <a:prstDash val="solid"/>
            <a:round/>
            <a:headEnd type="none" w="sm" len="sm"/>
            <a:tailEnd type="none" w="sm" len="sm"/>
          </a:ln>
        </p:spPr>
      </p:cxnSp>
      <p:cxnSp>
        <p:nvCxnSpPr>
          <p:cNvPr id="458" name="Google Shape;458;p45"/>
          <p:cNvCxnSpPr/>
          <p:nvPr/>
        </p:nvCxnSpPr>
        <p:spPr>
          <a:xfrm flipH="1">
            <a:off x="559767" y="435567"/>
            <a:ext cx="8701" cy="1855801"/>
          </a:xfrm>
          <a:prstGeom prst="straightConnector1">
            <a:avLst/>
          </a:prstGeom>
          <a:noFill/>
          <a:ln w="9525" cap="flat" cmpd="sng">
            <a:solidFill>
              <a:srgbClr val="A7A7A7"/>
            </a:solidFill>
            <a:prstDash val="solid"/>
            <a:round/>
            <a:headEnd type="none" w="sm" len="sm"/>
            <a:tailEnd type="none" w="sm" len="sm"/>
          </a:ln>
        </p:spPr>
      </p:cxnSp>
      <p:cxnSp>
        <p:nvCxnSpPr>
          <p:cNvPr id="459" name="Google Shape;459;p45"/>
          <p:cNvCxnSpPr/>
          <p:nvPr/>
        </p:nvCxnSpPr>
        <p:spPr>
          <a:xfrm>
            <a:off x="1025667" y="435567"/>
            <a:ext cx="6601" cy="1855801"/>
          </a:xfrm>
          <a:prstGeom prst="straightConnector1">
            <a:avLst/>
          </a:prstGeom>
          <a:noFill/>
          <a:ln w="9525" cap="flat" cmpd="sng">
            <a:solidFill>
              <a:srgbClr val="A7A7A7"/>
            </a:solidFill>
            <a:prstDash val="solid"/>
            <a:round/>
            <a:headEnd type="none" w="sm" len="sm"/>
            <a:tailEnd type="none" w="sm" len="sm"/>
          </a:ln>
        </p:spPr>
      </p:cxnSp>
      <p:cxnSp>
        <p:nvCxnSpPr>
          <p:cNvPr id="460" name="Google Shape;460;p45"/>
          <p:cNvCxnSpPr/>
          <p:nvPr/>
        </p:nvCxnSpPr>
        <p:spPr>
          <a:xfrm flipH="1">
            <a:off x="1481967" y="435567"/>
            <a:ext cx="901" cy="1855801"/>
          </a:xfrm>
          <a:prstGeom prst="straightConnector1">
            <a:avLst/>
          </a:prstGeom>
          <a:noFill/>
          <a:ln w="9525" cap="flat" cmpd="sng">
            <a:solidFill>
              <a:srgbClr val="A7A7A7"/>
            </a:solidFill>
            <a:prstDash val="solid"/>
            <a:round/>
            <a:headEnd type="none" w="sm" len="sm"/>
            <a:tailEnd type="none" w="sm" len="sm"/>
          </a:ln>
        </p:spPr>
      </p:cxnSp>
      <p:cxnSp>
        <p:nvCxnSpPr>
          <p:cNvPr id="461" name="Google Shape;461;p45"/>
          <p:cNvCxnSpPr/>
          <p:nvPr/>
        </p:nvCxnSpPr>
        <p:spPr>
          <a:xfrm>
            <a:off x="132342" y="835416"/>
            <a:ext cx="1732200" cy="11401"/>
          </a:xfrm>
          <a:prstGeom prst="straightConnector1">
            <a:avLst/>
          </a:prstGeom>
          <a:noFill/>
          <a:ln w="19050" cap="flat" cmpd="sng">
            <a:solidFill>
              <a:srgbClr val="A7A7A7"/>
            </a:solidFill>
            <a:prstDash val="solid"/>
            <a:round/>
            <a:headEnd type="none" w="sm" len="sm"/>
            <a:tailEnd type="none" w="sm" len="sm"/>
          </a:ln>
        </p:spPr>
      </p:cxnSp>
      <p:cxnSp>
        <p:nvCxnSpPr>
          <p:cNvPr id="462" name="Google Shape;462;p45"/>
          <p:cNvCxnSpPr/>
          <p:nvPr/>
        </p:nvCxnSpPr>
        <p:spPr>
          <a:xfrm>
            <a:off x="132342" y="1216416"/>
            <a:ext cx="1732200" cy="11401"/>
          </a:xfrm>
          <a:prstGeom prst="straightConnector1">
            <a:avLst/>
          </a:prstGeom>
          <a:noFill/>
          <a:ln w="19050" cap="flat" cmpd="sng">
            <a:solidFill>
              <a:srgbClr val="A7A7A7"/>
            </a:solidFill>
            <a:prstDash val="solid"/>
            <a:round/>
            <a:headEnd type="none" w="sm" len="sm"/>
            <a:tailEnd type="none" w="sm" len="sm"/>
          </a:ln>
        </p:spPr>
      </p:cxnSp>
      <p:cxnSp>
        <p:nvCxnSpPr>
          <p:cNvPr id="463" name="Google Shape;463;p45"/>
          <p:cNvCxnSpPr/>
          <p:nvPr/>
        </p:nvCxnSpPr>
        <p:spPr>
          <a:xfrm>
            <a:off x="132342" y="1902216"/>
            <a:ext cx="1732200" cy="11401"/>
          </a:xfrm>
          <a:prstGeom prst="straightConnector1">
            <a:avLst/>
          </a:prstGeom>
          <a:noFill/>
          <a:ln w="9525" cap="flat" cmpd="sng">
            <a:solidFill>
              <a:srgbClr val="A7A7A7"/>
            </a:solidFill>
            <a:prstDash val="solid"/>
            <a:round/>
            <a:headEnd type="none" w="sm" len="sm"/>
            <a:tailEnd type="none" w="sm" len="sm"/>
          </a:ln>
        </p:spPr>
      </p:cxnSp>
      <p:cxnSp>
        <p:nvCxnSpPr>
          <p:cNvPr id="464" name="Google Shape;464;p45"/>
          <p:cNvCxnSpPr/>
          <p:nvPr/>
        </p:nvCxnSpPr>
        <p:spPr>
          <a:xfrm>
            <a:off x="132342" y="2283216"/>
            <a:ext cx="1732200" cy="11401"/>
          </a:xfrm>
          <a:prstGeom prst="straightConnector1">
            <a:avLst/>
          </a:prstGeom>
          <a:noFill/>
          <a:ln w="19050" cap="flat" cmpd="sng">
            <a:solidFill>
              <a:srgbClr val="A7A7A7"/>
            </a:solidFill>
            <a:prstDash val="solid"/>
            <a:round/>
            <a:headEnd type="none" w="sm" len="sm"/>
            <a:tailEnd type="none" w="sm" len="sm"/>
          </a:ln>
        </p:spPr>
      </p:cxnSp>
      <p:sp>
        <p:nvSpPr>
          <p:cNvPr id="465" name="Google Shape;465;p45"/>
          <p:cNvSpPr txBox="1"/>
          <p:nvPr/>
        </p:nvSpPr>
        <p:spPr>
          <a:xfrm>
            <a:off x="112392" y="491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2018</a:t>
            </a:r>
            <a:endParaRPr/>
          </a:p>
        </p:txBody>
      </p:sp>
      <p:sp>
        <p:nvSpPr>
          <p:cNvPr id="466" name="Google Shape;466;p45"/>
          <p:cNvSpPr txBox="1"/>
          <p:nvPr/>
        </p:nvSpPr>
        <p:spPr>
          <a:xfrm>
            <a:off x="569592" y="491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2019</a:t>
            </a:r>
            <a:endParaRPr/>
          </a:p>
        </p:txBody>
      </p:sp>
      <p:sp>
        <p:nvSpPr>
          <p:cNvPr id="467" name="Google Shape;467;p45"/>
          <p:cNvSpPr txBox="1"/>
          <p:nvPr/>
        </p:nvSpPr>
        <p:spPr>
          <a:xfrm>
            <a:off x="1026792" y="491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2020</a:t>
            </a:r>
            <a:endParaRPr/>
          </a:p>
        </p:txBody>
      </p:sp>
      <p:sp>
        <p:nvSpPr>
          <p:cNvPr id="468" name="Google Shape;468;p45"/>
          <p:cNvSpPr txBox="1"/>
          <p:nvPr/>
        </p:nvSpPr>
        <p:spPr>
          <a:xfrm>
            <a:off x="1483992" y="491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2021</a:t>
            </a:r>
            <a:endParaRPr/>
          </a:p>
        </p:txBody>
      </p:sp>
      <p:sp>
        <p:nvSpPr>
          <p:cNvPr id="469" name="Google Shape;469;p45"/>
          <p:cNvSpPr txBox="1"/>
          <p:nvPr/>
        </p:nvSpPr>
        <p:spPr>
          <a:xfrm>
            <a:off x="112392" y="872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Q1</a:t>
            </a:r>
            <a:endParaRPr/>
          </a:p>
        </p:txBody>
      </p:sp>
      <p:sp>
        <p:nvSpPr>
          <p:cNvPr id="470" name="Google Shape;470;p45"/>
          <p:cNvSpPr txBox="1"/>
          <p:nvPr/>
        </p:nvSpPr>
        <p:spPr>
          <a:xfrm>
            <a:off x="569592" y="872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Q2</a:t>
            </a:r>
            <a:endParaRPr/>
          </a:p>
        </p:txBody>
      </p:sp>
      <p:sp>
        <p:nvSpPr>
          <p:cNvPr id="471" name="Google Shape;471;p45"/>
          <p:cNvSpPr txBox="1"/>
          <p:nvPr/>
        </p:nvSpPr>
        <p:spPr>
          <a:xfrm>
            <a:off x="1026792" y="872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Q3</a:t>
            </a:r>
            <a:endParaRPr/>
          </a:p>
        </p:txBody>
      </p:sp>
      <p:sp>
        <p:nvSpPr>
          <p:cNvPr id="472" name="Google Shape;472;p45"/>
          <p:cNvSpPr txBox="1"/>
          <p:nvPr/>
        </p:nvSpPr>
        <p:spPr>
          <a:xfrm>
            <a:off x="1483992" y="872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Q4</a:t>
            </a:r>
            <a:endParaRPr/>
          </a:p>
        </p:txBody>
      </p:sp>
      <p:sp>
        <p:nvSpPr>
          <p:cNvPr id="473" name="Google Shape;473;p45"/>
          <p:cNvSpPr txBox="1"/>
          <p:nvPr/>
        </p:nvSpPr>
        <p:spPr>
          <a:xfrm>
            <a:off x="112392" y="1253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Jan</a:t>
            </a:r>
            <a:endParaRPr/>
          </a:p>
        </p:txBody>
      </p:sp>
      <p:sp>
        <p:nvSpPr>
          <p:cNvPr id="474" name="Google Shape;474;p45"/>
          <p:cNvSpPr txBox="1"/>
          <p:nvPr/>
        </p:nvSpPr>
        <p:spPr>
          <a:xfrm>
            <a:off x="569592" y="1253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April</a:t>
            </a:r>
            <a:endParaRPr/>
          </a:p>
        </p:txBody>
      </p:sp>
      <p:sp>
        <p:nvSpPr>
          <p:cNvPr id="475" name="Google Shape;475;p45"/>
          <p:cNvSpPr txBox="1"/>
          <p:nvPr/>
        </p:nvSpPr>
        <p:spPr>
          <a:xfrm>
            <a:off x="1026792" y="1253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July</a:t>
            </a:r>
            <a:endParaRPr/>
          </a:p>
        </p:txBody>
      </p:sp>
      <p:sp>
        <p:nvSpPr>
          <p:cNvPr id="476" name="Google Shape;476;p45"/>
          <p:cNvSpPr txBox="1"/>
          <p:nvPr/>
        </p:nvSpPr>
        <p:spPr>
          <a:xfrm>
            <a:off x="1483992" y="12538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Oct</a:t>
            </a:r>
            <a:endParaRPr/>
          </a:p>
        </p:txBody>
      </p:sp>
      <p:sp>
        <p:nvSpPr>
          <p:cNvPr id="477" name="Google Shape;477;p45"/>
          <p:cNvSpPr txBox="1"/>
          <p:nvPr/>
        </p:nvSpPr>
        <p:spPr>
          <a:xfrm>
            <a:off x="112392" y="15586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Feb</a:t>
            </a:r>
            <a:endParaRPr/>
          </a:p>
        </p:txBody>
      </p:sp>
      <p:sp>
        <p:nvSpPr>
          <p:cNvPr id="478" name="Google Shape;478;p45"/>
          <p:cNvSpPr txBox="1"/>
          <p:nvPr/>
        </p:nvSpPr>
        <p:spPr>
          <a:xfrm>
            <a:off x="569592" y="15586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May</a:t>
            </a:r>
            <a:endParaRPr/>
          </a:p>
        </p:txBody>
      </p:sp>
      <p:sp>
        <p:nvSpPr>
          <p:cNvPr id="479" name="Google Shape;479;p45"/>
          <p:cNvSpPr txBox="1"/>
          <p:nvPr/>
        </p:nvSpPr>
        <p:spPr>
          <a:xfrm>
            <a:off x="1026792" y="15586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Aug</a:t>
            </a:r>
            <a:endParaRPr/>
          </a:p>
        </p:txBody>
      </p:sp>
      <p:sp>
        <p:nvSpPr>
          <p:cNvPr id="480" name="Google Shape;480;p45"/>
          <p:cNvSpPr txBox="1"/>
          <p:nvPr/>
        </p:nvSpPr>
        <p:spPr>
          <a:xfrm>
            <a:off x="1483992" y="15586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Nov</a:t>
            </a:r>
            <a:endParaRPr/>
          </a:p>
        </p:txBody>
      </p:sp>
      <p:sp>
        <p:nvSpPr>
          <p:cNvPr id="481" name="Google Shape;481;p45"/>
          <p:cNvSpPr txBox="1"/>
          <p:nvPr/>
        </p:nvSpPr>
        <p:spPr>
          <a:xfrm>
            <a:off x="112392" y="18634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Mar</a:t>
            </a:r>
            <a:endParaRPr/>
          </a:p>
        </p:txBody>
      </p:sp>
      <p:sp>
        <p:nvSpPr>
          <p:cNvPr id="482" name="Google Shape;482;p45"/>
          <p:cNvSpPr txBox="1"/>
          <p:nvPr/>
        </p:nvSpPr>
        <p:spPr>
          <a:xfrm>
            <a:off x="569592" y="18634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June</a:t>
            </a:r>
            <a:endParaRPr/>
          </a:p>
        </p:txBody>
      </p:sp>
      <p:sp>
        <p:nvSpPr>
          <p:cNvPr id="483" name="Google Shape;483;p45"/>
          <p:cNvSpPr txBox="1"/>
          <p:nvPr/>
        </p:nvSpPr>
        <p:spPr>
          <a:xfrm>
            <a:off x="1026792" y="18634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Sept</a:t>
            </a:r>
            <a:endParaRPr/>
          </a:p>
        </p:txBody>
      </p:sp>
      <p:sp>
        <p:nvSpPr>
          <p:cNvPr id="484" name="Google Shape;484;p45"/>
          <p:cNvSpPr txBox="1"/>
          <p:nvPr/>
        </p:nvSpPr>
        <p:spPr>
          <a:xfrm>
            <a:off x="1483992" y="1863416"/>
            <a:ext cx="510301" cy="3231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Dec</a:t>
            </a:r>
            <a:endParaRPr/>
          </a:p>
        </p:txBody>
      </p:sp>
      <p:cxnSp>
        <p:nvCxnSpPr>
          <p:cNvPr id="485" name="Google Shape;485;p45"/>
          <p:cNvCxnSpPr/>
          <p:nvPr/>
        </p:nvCxnSpPr>
        <p:spPr>
          <a:xfrm>
            <a:off x="132342" y="2892816"/>
            <a:ext cx="1732200" cy="11401"/>
          </a:xfrm>
          <a:prstGeom prst="straightConnector1">
            <a:avLst/>
          </a:prstGeom>
          <a:noFill/>
          <a:ln w="19050" cap="flat" cmpd="sng">
            <a:solidFill>
              <a:srgbClr val="A7A7A7"/>
            </a:solidFill>
            <a:prstDash val="solid"/>
            <a:round/>
            <a:headEnd type="none" w="sm" len="sm"/>
            <a:tailEnd type="none" w="sm" len="sm"/>
          </a:ln>
        </p:spPr>
      </p:cxnSp>
      <p:cxnSp>
        <p:nvCxnSpPr>
          <p:cNvPr id="486" name="Google Shape;486;p45"/>
          <p:cNvCxnSpPr/>
          <p:nvPr/>
        </p:nvCxnSpPr>
        <p:spPr>
          <a:xfrm>
            <a:off x="132342" y="2588016"/>
            <a:ext cx="1732200" cy="11401"/>
          </a:xfrm>
          <a:prstGeom prst="straightConnector1">
            <a:avLst/>
          </a:prstGeom>
          <a:noFill/>
          <a:ln w="19050" cap="flat" cmpd="sng">
            <a:solidFill>
              <a:srgbClr val="A7A7A7"/>
            </a:solidFill>
            <a:prstDash val="solid"/>
            <a:round/>
            <a:headEnd type="none" w="sm" len="sm"/>
            <a:tailEnd type="none" w="sm" len="sm"/>
          </a:ln>
        </p:spPr>
      </p:cxnSp>
      <p:sp>
        <p:nvSpPr>
          <p:cNvPr id="487" name="Google Shape;487;p45"/>
          <p:cNvSpPr txBox="1"/>
          <p:nvPr/>
        </p:nvSpPr>
        <p:spPr>
          <a:xfrm>
            <a:off x="68179" y="2247798"/>
            <a:ext cx="1414800"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Baseline : 66%</a:t>
            </a:r>
            <a:endParaRPr/>
          </a:p>
        </p:txBody>
      </p:sp>
      <p:sp>
        <p:nvSpPr>
          <p:cNvPr id="488" name="Google Shape;488;p45"/>
          <p:cNvSpPr txBox="1"/>
          <p:nvPr/>
        </p:nvSpPr>
        <p:spPr>
          <a:xfrm>
            <a:off x="73723" y="2595100"/>
            <a:ext cx="1988400"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Post Bundle  : 72%</a:t>
            </a:r>
            <a:endParaRPr/>
          </a:p>
        </p:txBody>
      </p:sp>
      <p:cxnSp>
        <p:nvCxnSpPr>
          <p:cNvPr id="489" name="Google Shape;489;p45"/>
          <p:cNvCxnSpPr/>
          <p:nvPr/>
        </p:nvCxnSpPr>
        <p:spPr>
          <a:xfrm>
            <a:off x="2148225" y="224950"/>
            <a:ext cx="16591" cy="6181835"/>
          </a:xfrm>
          <a:prstGeom prst="straightConnector1">
            <a:avLst/>
          </a:prstGeom>
          <a:noFill/>
          <a:ln w="19050" cap="flat" cmpd="sng">
            <a:solidFill>
              <a:srgbClr val="A7A7A7"/>
            </a:solidFill>
            <a:prstDash val="solid"/>
            <a:round/>
            <a:headEnd type="none" w="sm" len="sm"/>
            <a:tailEnd type="none" w="sm" len="sm"/>
          </a:ln>
        </p:spPr>
      </p:cxnSp>
      <p:cxnSp>
        <p:nvCxnSpPr>
          <p:cNvPr id="490" name="Google Shape;490;p45"/>
          <p:cNvCxnSpPr/>
          <p:nvPr/>
        </p:nvCxnSpPr>
        <p:spPr>
          <a:xfrm>
            <a:off x="2170725" y="584849"/>
            <a:ext cx="7660860" cy="11801"/>
          </a:xfrm>
          <a:prstGeom prst="straightConnector1">
            <a:avLst/>
          </a:prstGeom>
          <a:noFill/>
          <a:ln w="19050" cap="flat" cmpd="sng">
            <a:solidFill>
              <a:srgbClr val="A7A7A7"/>
            </a:solidFill>
            <a:prstDash val="solid"/>
            <a:round/>
            <a:headEnd type="none" w="sm" len="sm"/>
            <a:tailEnd type="none" w="sm" len="sm"/>
          </a:ln>
        </p:spPr>
      </p:cxnSp>
      <p:sp>
        <p:nvSpPr>
          <p:cNvPr id="491" name="Google Shape;491;p45"/>
          <p:cNvSpPr txBox="1"/>
          <p:nvPr/>
        </p:nvSpPr>
        <p:spPr>
          <a:xfrm>
            <a:off x="2181900" y="55108"/>
            <a:ext cx="3166801" cy="461633"/>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Human milk consumption</a:t>
            </a:r>
            <a:endParaRPr/>
          </a:p>
        </p:txBody>
      </p:sp>
      <p:cxnSp>
        <p:nvCxnSpPr>
          <p:cNvPr id="492" name="Google Shape;492;p45"/>
          <p:cNvCxnSpPr/>
          <p:nvPr/>
        </p:nvCxnSpPr>
        <p:spPr>
          <a:xfrm>
            <a:off x="2148112" y="941790"/>
            <a:ext cx="7683473" cy="6832"/>
          </a:xfrm>
          <a:prstGeom prst="straightConnector1">
            <a:avLst/>
          </a:prstGeom>
          <a:noFill/>
          <a:ln w="19050" cap="flat" cmpd="sng">
            <a:solidFill>
              <a:srgbClr val="A7A7A7"/>
            </a:solidFill>
            <a:prstDash val="solid"/>
            <a:round/>
            <a:headEnd type="none" w="sm" len="sm"/>
            <a:tailEnd type="none" w="sm" len="sm"/>
          </a:ln>
        </p:spPr>
      </p:cxnSp>
      <p:cxnSp>
        <p:nvCxnSpPr>
          <p:cNvPr id="493" name="Google Shape;493;p45"/>
          <p:cNvCxnSpPr/>
          <p:nvPr/>
        </p:nvCxnSpPr>
        <p:spPr>
          <a:xfrm>
            <a:off x="3365751" y="584850"/>
            <a:ext cx="11101" cy="405001"/>
          </a:xfrm>
          <a:prstGeom prst="straightConnector1">
            <a:avLst/>
          </a:prstGeom>
          <a:noFill/>
          <a:ln w="9525" cap="flat" cmpd="sng">
            <a:solidFill>
              <a:srgbClr val="A7A7A7"/>
            </a:solidFill>
            <a:prstDash val="solid"/>
            <a:round/>
            <a:headEnd type="none" w="sm" len="sm"/>
            <a:tailEnd type="none" w="sm" len="sm"/>
          </a:ln>
        </p:spPr>
      </p:cxnSp>
      <p:sp>
        <p:nvSpPr>
          <p:cNvPr id="494" name="Google Shape;494;p45"/>
          <p:cNvSpPr txBox="1"/>
          <p:nvPr/>
        </p:nvSpPr>
        <p:spPr>
          <a:xfrm>
            <a:off x="2186178" y="605252"/>
            <a:ext cx="11979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At Admission</a:t>
            </a:r>
            <a:endParaRPr/>
          </a:p>
        </p:txBody>
      </p:sp>
      <p:sp>
        <p:nvSpPr>
          <p:cNvPr id="495" name="Google Shape;495;p45"/>
          <p:cNvSpPr txBox="1"/>
          <p:nvPr/>
        </p:nvSpPr>
        <p:spPr>
          <a:xfrm>
            <a:off x="3371301" y="586709"/>
            <a:ext cx="1881174" cy="369300"/>
          </a:xfrm>
          <a:prstGeom prst="rect">
            <a:avLst/>
          </a:prstGeom>
          <a:solidFill>
            <a:srgbClr val="0070C0"/>
          </a:solidFill>
          <a:ln w="12700" cap="flat" cmpd="sng">
            <a:solidFill>
              <a:schemeClr val="accent1"/>
            </a:solidFill>
            <a:prstDash val="solid"/>
            <a:miter lim="400000"/>
            <a:headEnd type="none" w="sm" len="sm"/>
            <a:tailEnd type="none" w="sm" len="sm"/>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In NICU</a:t>
            </a:r>
            <a:endParaRPr/>
          </a:p>
        </p:txBody>
      </p:sp>
      <p:cxnSp>
        <p:nvCxnSpPr>
          <p:cNvPr id="496" name="Google Shape;496;p45"/>
          <p:cNvCxnSpPr/>
          <p:nvPr/>
        </p:nvCxnSpPr>
        <p:spPr>
          <a:xfrm rot="10800000" flipH="1">
            <a:off x="2170724" y="1712499"/>
            <a:ext cx="7653362" cy="9451"/>
          </a:xfrm>
          <a:prstGeom prst="straightConnector1">
            <a:avLst/>
          </a:prstGeom>
          <a:noFill/>
          <a:ln w="19050" cap="flat" cmpd="sng">
            <a:solidFill>
              <a:srgbClr val="A7A7A7"/>
            </a:solidFill>
            <a:prstDash val="solid"/>
            <a:round/>
            <a:headEnd type="none" w="sm" len="sm"/>
            <a:tailEnd type="none" w="sm" len="sm"/>
          </a:ln>
        </p:spPr>
      </p:cxnSp>
      <p:sp>
        <p:nvSpPr>
          <p:cNvPr id="497" name="Google Shape;497;p45"/>
          <p:cNvSpPr txBox="1"/>
          <p:nvPr/>
        </p:nvSpPr>
        <p:spPr>
          <a:xfrm>
            <a:off x="2187575" y="965851"/>
            <a:ext cx="975001" cy="669382"/>
          </a:xfrm>
          <a:prstGeom prst="rect">
            <a:avLst/>
          </a:prstGeom>
          <a:noFill/>
          <a:ln>
            <a:noFill/>
          </a:ln>
        </p:spPr>
        <p:txBody>
          <a:bodyPr spcFirstLastPara="1" wrap="square" lIns="91400" tIns="91400" rIns="91400" bIns="91400" anchor="t" anchorCtr="0">
            <a:spAutoFit/>
          </a:bodyPr>
          <a:lstStyle/>
          <a:p>
            <a:pPr marL="0" marR="0" lvl="0" indent="0" algn="ctr"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Total Babies qualified</a:t>
            </a:r>
            <a:endParaRPr/>
          </a:p>
          <a:p>
            <a:pPr marL="0" marR="0" lvl="0" indent="0" algn="ctr"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633</a:t>
            </a:r>
            <a:endParaRPr/>
          </a:p>
        </p:txBody>
      </p:sp>
      <p:cxnSp>
        <p:nvCxnSpPr>
          <p:cNvPr id="498" name="Google Shape;498;p45"/>
          <p:cNvCxnSpPr/>
          <p:nvPr/>
        </p:nvCxnSpPr>
        <p:spPr>
          <a:xfrm>
            <a:off x="6357474" y="952538"/>
            <a:ext cx="11377" cy="767285"/>
          </a:xfrm>
          <a:prstGeom prst="straightConnector1">
            <a:avLst/>
          </a:prstGeom>
          <a:noFill/>
          <a:ln w="9525" cap="flat" cmpd="sng">
            <a:solidFill>
              <a:srgbClr val="A7A7A7"/>
            </a:solidFill>
            <a:prstDash val="solid"/>
            <a:round/>
            <a:headEnd type="none" w="sm" len="sm"/>
            <a:tailEnd type="none" w="sm" len="sm"/>
          </a:ln>
        </p:spPr>
      </p:cxnSp>
      <p:sp>
        <p:nvSpPr>
          <p:cNvPr id="499" name="Google Shape;499;p45"/>
          <p:cNvSpPr txBox="1"/>
          <p:nvPr/>
        </p:nvSpPr>
        <p:spPr>
          <a:xfrm>
            <a:off x="4665242" y="959019"/>
            <a:ext cx="207666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S2S thrice/day</a:t>
            </a:r>
            <a:endParaRPr sz="1200" b="0" i="0" u="none" strike="noStrike" cap="none">
              <a:solidFill>
                <a:srgbClr val="000000"/>
              </a:solidFill>
              <a:latin typeface="Arial"/>
              <a:ea typeface="Arial"/>
              <a:cs typeface="Arial"/>
              <a:sym typeface="Arial"/>
            </a:endParaRPr>
          </a:p>
        </p:txBody>
      </p:sp>
      <p:sp>
        <p:nvSpPr>
          <p:cNvPr id="500" name="Google Shape;500;p45"/>
          <p:cNvSpPr txBox="1"/>
          <p:nvPr/>
        </p:nvSpPr>
        <p:spPr>
          <a:xfrm>
            <a:off x="4643850" y="1312875"/>
            <a:ext cx="1463525"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85%</a:t>
            </a:r>
            <a:endParaRPr/>
          </a:p>
        </p:txBody>
      </p:sp>
      <p:sp>
        <p:nvSpPr>
          <p:cNvPr id="501" name="Google Shape;501;p45"/>
          <p:cNvSpPr/>
          <p:nvPr/>
        </p:nvSpPr>
        <p:spPr>
          <a:xfrm>
            <a:off x="5431779" y="1384275"/>
            <a:ext cx="226501" cy="256201"/>
          </a:xfrm>
          <a:prstGeom prst="rect">
            <a:avLst/>
          </a:prstGeom>
          <a:solidFill>
            <a:srgbClr val="FFFF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02" name="Google Shape;502;p45"/>
          <p:cNvSpPr/>
          <p:nvPr/>
        </p:nvSpPr>
        <p:spPr>
          <a:xfrm>
            <a:off x="5660379" y="1384275"/>
            <a:ext cx="226501" cy="256201"/>
          </a:xfrm>
          <a:prstGeom prst="rect">
            <a:avLst/>
          </a:prstGeom>
          <a:solidFill>
            <a:srgbClr val="00FF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03" name="Google Shape;503;p45"/>
          <p:cNvSpPr/>
          <p:nvPr/>
        </p:nvSpPr>
        <p:spPr>
          <a:xfrm>
            <a:off x="5050779" y="1384275"/>
            <a:ext cx="438601" cy="256201"/>
          </a:xfrm>
          <a:prstGeom prst="rect">
            <a:avLst/>
          </a:prstGeom>
          <a:solidFill>
            <a:srgbClr val="FF00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cxnSp>
        <p:nvCxnSpPr>
          <p:cNvPr id="504" name="Google Shape;504;p45"/>
          <p:cNvCxnSpPr/>
          <p:nvPr/>
        </p:nvCxnSpPr>
        <p:spPr>
          <a:xfrm>
            <a:off x="5737469" y="1396591"/>
            <a:ext cx="6711" cy="245670"/>
          </a:xfrm>
          <a:prstGeom prst="straightConnector1">
            <a:avLst/>
          </a:prstGeom>
          <a:noFill/>
          <a:ln w="28575" cap="flat" cmpd="sng">
            <a:solidFill>
              <a:srgbClr val="000000"/>
            </a:solidFill>
            <a:prstDash val="solid"/>
            <a:round/>
            <a:headEnd type="none" w="sm" len="sm"/>
            <a:tailEnd type="none" w="sm" len="sm"/>
          </a:ln>
        </p:spPr>
      </p:cxnSp>
      <p:cxnSp>
        <p:nvCxnSpPr>
          <p:cNvPr id="505" name="Google Shape;505;p45"/>
          <p:cNvCxnSpPr/>
          <p:nvPr/>
        </p:nvCxnSpPr>
        <p:spPr>
          <a:xfrm rot="10800000" flipH="1">
            <a:off x="2170724" y="2023576"/>
            <a:ext cx="7653362" cy="9074"/>
          </a:xfrm>
          <a:prstGeom prst="straightConnector1">
            <a:avLst/>
          </a:prstGeom>
          <a:noFill/>
          <a:ln w="19050" cap="flat" cmpd="sng">
            <a:solidFill>
              <a:srgbClr val="A7A7A7"/>
            </a:solidFill>
            <a:prstDash val="solid"/>
            <a:round/>
            <a:headEnd type="none" w="sm" len="sm"/>
            <a:tailEnd type="none" w="sm" len="sm"/>
          </a:ln>
        </p:spPr>
      </p:cxnSp>
      <p:cxnSp>
        <p:nvCxnSpPr>
          <p:cNvPr id="506" name="Google Shape;506;p45"/>
          <p:cNvCxnSpPr/>
          <p:nvPr/>
        </p:nvCxnSpPr>
        <p:spPr>
          <a:xfrm>
            <a:off x="5988300" y="1687074"/>
            <a:ext cx="1" cy="2260802"/>
          </a:xfrm>
          <a:prstGeom prst="straightConnector1">
            <a:avLst/>
          </a:prstGeom>
          <a:noFill/>
          <a:ln w="19050" cap="flat" cmpd="sng">
            <a:solidFill>
              <a:srgbClr val="A7A7A7"/>
            </a:solidFill>
            <a:prstDash val="solid"/>
            <a:round/>
            <a:headEnd type="none" w="sm" len="sm"/>
            <a:tailEnd type="none" w="sm" len="sm"/>
          </a:ln>
        </p:spPr>
      </p:cxnSp>
      <p:sp>
        <p:nvSpPr>
          <p:cNvPr id="507" name="Google Shape;507;p45"/>
          <p:cNvSpPr txBox="1"/>
          <p:nvPr/>
        </p:nvSpPr>
        <p:spPr>
          <a:xfrm>
            <a:off x="2226950" y="1672751"/>
            <a:ext cx="3112201"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Human milk consumption  Compliance</a:t>
            </a:r>
            <a:endParaRPr/>
          </a:p>
        </p:txBody>
      </p:sp>
      <p:sp>
        <p:nvSpPr>
          <p:cNvPr id="508" name="Google Shape;508;p45"/>
          <p:cNvSpPr txBox="1"/>
          <p:nvPr/>
        </p:nvSpPr>
        <p:spPr>
          <a:xfrm>
            <a:off x="5960750" y="1672750"/>
            <a:ext cx="3562519"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Human milk consumption Element Compliance</a:t>
            </a:r>
            <a:endParaRPr/>
          </a:p>
        </p:txBody>
      </p:sp>
      <p:cxnSp>
        <p:nvCxnSpPr>
          <p:cNvPr id="509" name="Google Shape;509;p45"/>
          <p:cNvCxnSpPr/>
          <p:nvPr/>
        </p:nvCxnSpPr>
        <p:spPr>
          <a:xfrm>
            <a:off x="2170725" y="3937651"/>
            <a:ext cx="7660860" cy="4502"/>
          </a:xfrm>
          <a:prstGeom prst="straightConnector1">
            <a:avLst/>
          </a:prstGeom>
          <a:noFill/>
          <a:ln w="19050" cap="flat" cmpd="sng">
            <a:solidFill>
              <a:srgbClr val="A7A7A7"/>
            </a:solidFill>
            <a:prstDash val="solid"/>
            <a:round/>
            <a:headEnd type="none" w="sm" len="sm"/>
            <a:tailEnd type="none" w="sm" len="sm"/>
          </a:ln>
        </p:spPr>
      </p:cxnSp>
      <p:pic>
        <p:nvPicPr>
          <p:cNvPr id="510" name="Google Shape;510;p45" descr="ChartGoogle Shape;980;p38"/>
          <p:cNvPicPr preferRelativeResize="0"/>
          <p:nvPr/>
        </p:nvPicPr>
        <p:blipFill rotWithShape="1">
          <a:blip r:embed="rId3">
            <a:alphaModFix/>
          </a:blip>
          <a:srcRect/>
          <a:stretch/>
        </p:blipFill>
        <p:spPr>
          <a:xfrm>
            <a:off x="2163332" y="2066775"/>
            <a:ext cx="3723277" cy="1828651"/>
          </a:xfrm>
          <a:prstGeom prst="rect">
            <a:avLst/>
          </a:prstGeom>
          <a:noFill/>
          <a:ln>
            <a:noFill/>
          </a:ln>
        </p:spPr>
      </p:pic>
      <p:graphicFrame>
        <p:nvGraphicFramePr>
          <p:cNvPr id="511" name="Google Shape;511;p45"/>
          <p:cNvGraphicFramePr/>
          <p:nvPr/>
        </p:nvGraphicFramePr>
        <p:xfrm>
          <a:off x="2167128" y="4418604"/>
          <a:ext cx="3000000" cy="3000000"/>
        </p:xfrm>
        <a:graphic>
          <a:graphicData uri="http://schemas.openxmlformats.org/drawingml/2006/table">
            <a:tbl>
              <a:tblPr>
                <a:noFill/>
                <a:tableStyleId>{3C18615C-E8B8-4C2A-B8ED-A11B0492DD2C}</a:tableStyleId>
              </a:tblPr>
              <a:tblGrid>
                <a:gridCol w="1517025">
                  <a:extLst>
                    <a:ext uri="{9D8B030D-6E8A-4147-A177-3AD203B41FA5}">
                      <a16:colId xmlns:a16="http://schemas.microsoft.com/office/drawing/2014/main" val="20000"/>
                    </a:ext>
                  </a:extLst>
                </a:gridCol>
                <a:gridCol w="1517025">
                  <a:extLst>
                    <a:ext uri="{9D8B030D-6E8A-4147-A177-3AD203B41FA5}">
                      <a16:colId xmlns:a16="http://schemas.microsoft.com/office/drawing/2014/main" val="20001"/>
                    </a:ext>
                  </a:extLst>
                </a:gridCol>
                <a:gridCol w="1551750">
                  <a:extLst>
                    <a:ext uri="{9D8B030D-6E8A-4147-A177-3AD203B41FA5}">
                      <a16:colId xmlns:a16="http://schemas.microsoft.com/office/drawing/2014/main" val="20002"/>
                    </a:ext>
                  </a:extLst>
                </a:gridCol>
                <a:gridCol w="1482350">
                  <a:extLst>
                    <a:ext uri="{9D8B030D-6E8A-4147-A177-3AD203B41FA5}">
                      <a16:colId xmlns:a16="http://schemas.microsoft.com/office/drawing/2014/main" val="20003"/>
                    </a:ext>
                  </a:extLst>
                </a:gridCol>
              </a:tblGrid>
              <a:tr h="697200">
                <a:tc>
                  <a:txBody>
                    <a:bodyPr/>
                    <a:lstStyle/>
                    <a:p>
                      <a:pPr marL="0" marR="0" lvl="0" indent="0" algn="l" rtl="0">
                        <a:lnSpc>
                          <a:spcPct val="100000"/>
                        </a:lnSpc>
                        <a:spcBef>
                          <a:spcPts val="0"/>
                        </a:spcBef>
                        <a:spcAft>
                          <a:spcPts val="0"/>
                        </a:spcAft>
                        <a:buNone/>
                      </a:pPr>
                      <a:r>
                        <a:rPr lang="en" sz="1100" u="none" strike="noStrike" cap="none"/>
                        <a:t>UHID</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100" u="none" strike="noStrike" cap="none"/>
                        <a:t>Elements Compliant</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200" u="none" strike="noStrike" cap="none"/>
                        <a:t>S2S thrice/day</a:t>
                      </a:r>
                      <a:endParaRPr sz="1100" u="none" strike="noStrike" cap="none"/>
                    </a:p>
                  </a:txBody>
                  <a:tcPr marL="91425" marR="91425" marT="91425" marB="91425">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100" u="none" strike="noStrike" cap="none"/>
                        <a:t>Weekly multidisciplinary lactation rounds</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31450">
                <a:tc>
                  <a:txBody>
                    <a:bodyPr/>
                    <a:lstStyle/>
                    <a:p>
                      <a:pPr marL="0" marR="0" lvl="0" indent="0" algn="l" rtl="0">
                        <a:lnSpc>
                          <a:spcPct val="100000"/>
                        </a:lnSpc>
                        <a:spcBef>
                          <a:spcPts val="0"/>
                        </a:spcBef>
                        <a:spcAft>
                          <a:spcPts val="0"/>
                        </a:spcAft>
                        <a:buNone/>
                      </a:pPr>
                      <a:r>
                        <a:rPr lang="en" sz="1000" u="none" strike="noStrike" cap="none"/>
                        <a:t>103476710</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4 out of 4</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Compliant</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tc>
                  <a:txBody>
                    <a:bodyPr/>
                    <a:lstStyle/>
                    <a:p>
                      <a:pPr marL="0" marR="0" lvl="0" indent="0" algn="l" rtl="0">
                        <a:lnSpc>
                          <a:spcPct val="100000"/>
                        </a:lnSpc>
                        <a:spcBef>
                          <a:spcPts val="0"/>
                        </a:spcBef>
                        <a:spcAft>
                          <a:spcPts val="0"/>
                        </a:spcAft>
                        <a:buNone/>
                      </a:pPr>
                      <a:r>
                        <a:rPr lang="en" sz="1000" u="none" strike="noStrike" cap="none"/>
                        <a:t>Compliant</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6D7A8"/>
                    </a:solidFill>
                  </a:tcPr>
                </a:tc>
                <a:extLst>
                  <a:ext uri="{0D108BD9-81ED-4DB2-BD59-A6C34878D82A}">
                    <a16:rowId xmlns:a16="http://schemas.microsoft.com/office/drawing/2014/main" val="10001"/>
                  </a:ext>
                </a:extLst>
              </a:tr>
              <a:tr h="331450">
                <a:tc>
                  <a:txBody>
                    <a:bodyPr/>
                    <a:lstStyle/>
                    <a:p>
                      <a:pPr marL="0" marR="0" lvl="0" indent="0" algn="l" rtl="0">
                        <a:lnSpc>
                          <a:spcPct val="100000"/>
                        </a:lnSpc>
                        <a:spcBef>
                          <a:spcPts val="0"/>
                        </a:spcBef>
                        <a:spcAft>
                          <a:spcPts val="0"/>
                        </a:spcAft>
                        <a:buNone/>
                      </a:pPr>
                      <a:r>
                        <a:rPr lang="en" sz="1000" u="none" strike="noStrike" cap="none"/>
                        <a:t>409747245</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3 out of 4</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Non- Compliant</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tc>
                  <a:txBody>
                    <a:bodyPr/>
                    <a:lstStyle/>
                    <a:p>
                      <a:pPr marL="0" marR="0" lvl="0" indent="0" algn="l" rtl="0">
                        <a:lnSpc>
                          <a:spcPct val="100000"/>
                        </a:lnSpc>
                        <a:spcBef>
                          <a:spcPts val="0"/>
                        </a:spcBef>
                        <a:spcAft>
                          <a:spcPts val="0"/>
                        </a:spcAft>
                        <a:buNone/>
                      </a:pPr>
                      <a:r>
                        <a:rPr lang="en" sz="1000" u="none" strike="noStrike" cap="none"/>
                        <a:t>Compliant</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B6D7A8"/>
                    </a:solidFill>
                  </a:tcPr>
                </a:tc>
                <a:extLst>
                  <a:ext uri="{0D108BD9-81ED-4DB2-BD59-A6C34878D82A}">
                    <a16:rowId xmlns:a16="http://schemas.microsoft.com/office/drawing/2014/main" val="10002"/>
                  </a:ext>
                </a:extLst>
              </a:tr>
              <a:tr h="331450">
                <a:tc>
                  <a:txBody>
                    <a:bodyPr/>
                    <a:lstStyle/>
                    <a:p>
                      <a:pPr marL="0" marR="0" lvl="0" indent="0" algn="l" rtl="0">
                        <a:lnSpc>
                          <a:spcPct val="100000"/>
                        </a:lnSpc>
                        <a:spcBef>
                          <a:spcPts val="0"/>
                        </a:spcBef>
                        <a:spcAft>
                          <a:spcPts val="0"/>
                        </a:spcAft>
                        <a:buNone/>
                      </a:pPr>
                      <a:r>
                        <a:rPr lang="en" sz="1000" u="none" strike="noStrike" cap="none"/>
                        <a:t>848278919</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0 out of 4</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Non- Compliant</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tc>
                  <a:txBody>
                    <a:bodyPr/>
                    <a:lstStyle/>
                    <a:p>
                      <a:pPr marL="0" marR="0" lvl="0" indent="0" algn="l" rtl="0">
                        <a:lnSpc>
                          <a:spcPct val="100000"/>
                        </a:lnSpc>
                        <a:spcBef>
                          <a:spcPts val="0"/>
                        </a:spcBef>
                        <a:spcAft>
                          <a:spcPts val="0"/>
                        </a:spcAft>
                        <a:buNone/>
                      </a:pPr>
                      <a:r>
                        <a:rPr lang="en" sz="1000" u="none" strike="noStrike" cap="none"/>
                        <a:t>Non- Compliant</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E599"/>
                    </a:solidFill>
                  </a:tcPr>
                </a:tc>
                <a:extLst>
                  <a:ext uri="{0D108BD9-81ED-4DB2-BD59-A6C34878D82A}">
                    <a16:rowId xmlns:a16="http://schemas.microsoft.com/office/drawing/2014/main" val="10003"/>
                  </a:ext>
                </a:extLst>
              </a:tr>
              <a:tr h="331450">
                <a:tc>
                  <a:txBody>
                    <a:bodyPr/>
                    <a:lstStyle/>
                    <a:p>
                      <a:pPr marL="0" marR="0" lvl="0" indent="0" algn="l" rtl="0">
                        <a:lnSpc>
                          <a:spcPct val="100000"/>
                        </a:lnSpc>
                        <a:spcBef>
                          <a:spcPts val="0"/>
                        </a:spcBef>
                        <a:spcAft>
                          <a:spcPts val="0"/>
                        </a:spcAft>
                        <a:buNone/>
                      </a:pPr>
                      <a:r>
                        <a:rPr lang="en" sz="1000" u="none" strike="noStrike" cap="none"/>
                        <a:t>344234311</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0 out of 4</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1000" u="none" strike="noStrike" cap="none"/>
                        <a:t>Non- Compliant</a:t>
                      </a:r>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599"/>
                    </a:solidFill>
                  </a:tcPr>
                </a:tc>
                <a:tc>
                  <a:txBody>
                    <a:bodyPr/>
                    <a:lstStyle/>
                    <a:p>
                      <a:pPr marL="0" marR="0" lvl="0" indent="0" algn="l" rtl="0">
                        <a:lnSpc>
                          <a:spcPct val="100000"/>
                        </a:lnSpc>
                        <a:spcBef>
                          <a:spcPts val="0"/>
                        </a:spcBef>
                        <a:spcAft>
                          <a:spcPts val="0"/>
                        </a:spcAft>
                        <a:buNone/>
                      </a:pPr>
                      <a:r>
                        <a:rPr lang="en" sz="1000" u="none" strike="noStrike" cap="none"/>
                        <a:t>Non- Compliant</a:t>
                      </a:r>
                      <a:endParaRPr/>
                    </a:p>
                  </a:txBody>
                  <a:tcPr marL="91425" marR="91425" marT="91425" marB="91425">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7A8"/>
                    </a:solidFill>
                  </a:tcPr>
                </a:tc>
                <a:extLst>
                  <a:ext uri="{0D108BD9-81ED-4DB2-BD59-A6C34878D82A}">
                    <a16:rowId xmlns:a16="http://schemas.microsoft.com/office/drawing/2014/main" val="10004"/>
                  </a:ext>
                </a:extLst>
              </a:tr>
            </a:tbl>
          </a:graphicData>
        </a:graphic>
      </p:graphicFrame>
      <p:cxnSp>
        <p:nvCxnSpPr>
          <p:cNvPr id="512" name="Google Shape;512;p45"/>
          <p:cNvCxnSpPr/>
          <p:nvPr/>
        </p:nvCxnSpPr>
        <p:spPr>
          <a:xfrm>
            <a:off x="2170725" y="4318650"/>
            <a:ext cx="7626677" cy="25536"/>
          </a:xfrm>
          <a:prstGeom prst="straightConnector1">
            <a:avLst/>
          </a:prstGeom>
          <a:noFill/>
          <a:ln w="19050" cap="flat" cmpd="sng">
            <a:solidFill>
              <a:srgbClr val="A7A7A7"/>
            </a:solidFill>
            <a:prstDash val="solid"/>
            <a:round/>
            <a:headEnd type="none" w="sm" len="sm"/>
            <a:tailEnd type="none" w="sm" len="sm"/>
          </a:ln>
        </p:spPr>
      </p:cxnSp>
      <p:sp>
        <p:nvSpPr>
          <p:cNvPr id="513" name="Google Shape;513;p45"/>
          <p:cNvSpPr txBox="1"/>
          <p:nvPr/>
        </p:nvSpPr>
        <p:spPr>
          <a:xfrm>
            <a:off x="2226950" y="3882550"/>
            <a:ext cx="7683600" cy="4617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800" b="0" i="0" u="none" strike="noStrike" cap="none">
                <a:solidFill>
                  <a:srgbClr val="000000"/>
                </a:solidFill>
                <a:latin typeface="Arial"/>
                <a:ea typeface="Arial"/>
                <a:cs typeface="Arial"/>
                <a:sym typeface="Arial"/>
              </a:rPr>
              <a:t>Human milk consumption bundle Compliance Summary by UHID</a:t>
            </a:r>
            <a:endParaRPr/>
          </a:p>
        </p:txBody>
      </p:sp>
      <p:cxnSp>
        <p:nvCxnSpPr>
          <p:cNvPr id="514" name="Google Shape;514;p45"/>
          <p:cNvCxnSpPr/>
          <p:nvPr/>
        </p:nvCxnSpPr>
        <p:spPr>
          <a:xfrm>
            <a:off x="5220300" y="585204"/>
            <a:ext cx="1" cy="386463"/>
          </a:xfrm>
          <a:prstGeom prst="straightConnector1">
            <a:avLst/>
          </a:prstGeom>
          <a:noFill/>
          <a:ln w="19050" cap="flat" cmpd="sng">
            <a:solidFill>
              <a:srgbClr val="A7A7A7"/>
            </a:solidFill>
            <a:prstDash val="solid"/>
            <a:round/>
            <a:headEnd type="none" w="sm" len="sm"/>
            <a:tailEnd type="none" w="sm" len="sm"/>
          </a:ln>
        </p:spPr>
      </p:cxnSp>
      <p:pic>
        <p:nvPicPr>
          <p:cNvPr id="515" name="Google Shape;515;p45" descr="Google Shape;1034;p38"/>
          <p:cNvPicPr preferRelativeResize="0"/>
          <p:nvPr/>
        </p:nvPicPr>
        <p:blipFill rotWithShape="1">
          <a:blip r:embed="rId4">
            <a:alphaModFix/>
          </a:blip>
          <a:srcRect/>
          <a:stretch/>
        </p:blipFill>
        <p:spPr>
          <a:xfrm>
            <a:off x="5987895" y="2009700"/>
            <a:ext cx="3854569" cy="1828651"/>
          </a:xfrm>
          <a:prstGeom prst="rect">
            <a:avLst/>
          </a:prstGeom>
          <a:noFill/>
          <a:ln>
            <a:noFill/>
          </a:ln>
        </p:spPr>
      </p:pic>
      <p:cxnSp>
        <p:nvCxnSpPr>
          <p:cNvPr id="516" name="Google Shape;516;p45"/>
          <p:cNvCxnSpPr/>
          <p:nvPr/>
        </p:nvCxnSpPr>
        <p:spPr>
          <a:xfrm>
            <a:off x="8809283" y="948621"/>
            <a:ext cx="18218" cy="763879"/>
          </a:xfrm>
          <a:prstGeom prst="straightConnector1">
            <a:avLst/>
          </a:prstGeom>
          <a:noFill/>
          <a:ln w="9525" cap="flat" cmpd="sng">
            <a:solidFill>
              <a:srgbClr val="A7A7A7"/>
            </a:solidFill>
            <a:prstDash val="solid"/>
            <a:round/>
            <a:headEnd type="none" w="sm" len="sm"/>
            <a:tailEnd type="none" w="sm" len="sm"/>
          </a:ln>
        </p:spPr>
      </p:cxnSp>
      <p:sp>
        <p:nvSpPr>
          <p:cNvPr id="517" name="Google Shape;517;p45"/>
          <p:cNvSpPr txBox="1"/>
          <p:nvPr/>
        </p:nvSpPr>
        <p:spPr>
          <a:xfrm>
            <a:off x="6662799" y="943575"/>
            <a:ext cx="2076661" cy="553966"/>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Weekly lactation consultation</a:t>
            </a:r>
            <a:endParaRPr sz="1200" b="0" i="0" u="none" strike="noStrike" cap="none">
              <a:solidFill>
                <a:srgbClr val="000000"/>
              </a:solidFill>
              <a:latin typeface="Arial"/>
              <a:ea typeface="Arial"/>
              <a:cs typeface="Arial"/>
              <a:sym typeface="Arial"/>
            </a:endParaRPr>
          </a:p>
        </p:txBody>
      </p:sp>
      <p:sp>
        <p:nvSpPr>
          <p:cNvPr id="518" name="Google Shape;518;p45"/>
          <p:cNvSpPr txBox="1"/>
          <p:nvPr/>
        </p:nvSpPr>
        <p:spPr>
          <a:xfrm>
            <a:off x="6641407" y="1297432"/>
            <a:ext cx="1463525"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85%</a:t>
            </a:r>
            <a:endParaRPr/>
          </a:p>
        </p:txBody>
      </p:sp>
      <p:sp>
        <p:nvSpPr>
          <p:cNvPr id="519" name="Google Shape;519;p45"/>
          <p:cNvSpPr/>
          <p:nvPr/>
        </p:nvSpPr>
        <p:spPr>
          <a:xfrm>
            <a:off x="7429336" y="1368831"/>
            <a:ext cx="226501" cy="256201"/>
          </a:xfrm>
          <a:prstGeom prst="rect">
            <a:avLst/>
          </a:prstGeom>
          <a:solidFill>
            <a:srgbClr val="FFFF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20" name="Google Shape;520;p45"/>
          <p:cNvSpPr/>
          <p:nvPr/>
        </p:nvSpPr>
        <p:spPr>
          <a:xfrm>
            <a:off x="7657936" y="1368831"/>
            <a:ext cx="226501" cy="256201"/>
          </a:xfrm>
          <a:prstGeom prst="rect">
            <a:avLst/>
          </a:prstGeom>
          <a:solidFill>
            <a:srgbClr val="00FF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21" name="Google Shape;521;p45"/>
          <p:cNvSpPr/>
          <p:nvPr/>
        </p:nvSpPr>
        <p:spPr>
          <a:xfrm>
            <a:off x="7048336" y="1368831"/>
            <a:ext cx="438601" cy="256201"/>
          </a:xfrm>
          <a:prstGeom prst="rect">
            <a:avLst/>
          </a:prstGeom>
          <a:solidFill>
            <a:srgbClr val="FF00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22" name="Google Shape;522;p45"/>
          <p:cNvSpPr/>
          <p:nvPr/>
        </p:nvSpPr>
        <p:spPr>
          <a:xfrm>
            <a:off x="3104579" y="955268"/>
            <a:ext cx="1489055" cy="741093"/>
          </a:xfrm>
          <a:prstGeom prst="rect">
            <a:avLst/>
          </a:prstGeom>
          <a:solidFill>
            <a:srgbClr val="0070C0"/>
          </a:solidFill>
          <a:ln w="25400" cap="flat" cmpd="sng">
            <a:solidFill>
              <a:srgbClr val="432E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a:ea typeface="Arial"/>
              <a:cs typeface="Arial"/>
              <a:sym typeface="Arial"/>
            </a:endParaRPr>
          </a:p>
        </p:txBody>
      </p:sp>
      <p:sp>
        <p:nvSpPr>
          <p:cNvPr id="523" name="Google Shape;523;p45"/>
          <p:cNvSpPr txBox="1"/>
          <p:nvPr/>
        </p:nvSpPr>
        <p:spPr>
          <a:xfrm>
            <a:off x="3226945" y="1011172"/>
            <a:ext cx="1356767" cy="669382"/>
          </a:xfrm>
          <a:prstGeom prst="rect">
            <a:avLst/>
          </a:prstGeom>
          <a:noFill/>
          <a:ln>
            <a:noFill/>
          </a:ln>
        </p:spPr>
        <p:txBody>
          <a:bodyPr spcFirstLastPara="1" wrap="square" lIns="91400" tIns="91400" rIns="91400" bIns="91400" anchor="t" anchorCtr="0">
            <a:spAutoFit/>
          </a:bodyPr>
          <a:lstStyle/>
          <a:p>
            <a:pPr marL="0" marR="0" lvl="0" indent="609584" algn="l" rtl="0">
              <a:lnSpc>
                <a:spcPct val="100000"/>
              </a:lnSpc>
              <a:spcBef>
                <a:spcPts val="0"/>
              </a:spcBef>
              <a:spcAft>
                <a:spcPts val="0"/>
              </a:spcAft>
              <a:buNone/>
            </a:pPr>
            <a:r>
              <a:rPr lang="en" sz="1050" b="0" i="0" u="none" strike="noStrike" cap="none">
                <a:solidFill>
                  <a:srgbClr val="000000"/>
                </a:solidFill>
                <a:latin typeface="Arial"/>
                <a:ea typeface="Arial"/>
                <a:cs typeface="Arial"/>
                <a:sym typeface="Arial"/>
              </a:rPr>
              <a:t>Overall</a:t>
            </a:r>
            <a:endParaRPr sz="1050" b="0" i="0" u="none" strike="noStrike" cap="none">
              <a:solidFill>
                <a:srgbClr val="000000"/>
              </a:solidFill>
              <a:latin typeface="Arial"/>
              <a:ea typeface="Arial"/>
              <a:cs typeface="Arial"/>
              <a:sym typeface="Arial"/>
            </a:endParaRPr>
          </a:p>
          <a:p>
            <a:pPr marL="0" marR="0" lvl="0" indent="609584"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a:p>
            <a:pPr marL="0" marR="0" lvl="0" indent="609584"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524" name="Google Shape;524;p45"/>
          <p:cNvSpPr txBox="1"/>
          <p:nvPr/>
        </p:nvSpPr>
        <p:spPr>
          <a:xfrm>
            <a:off x="3126647" y="1371110"/>
            <a:ext cx="1448726" cy="369300"/>
          </a:xfrm>
          <a:prstGeom prst="rect">
            <a:avLst/>
          </a:prstGeom>
          <a:noFill/>
          <a:ln>
            <a:noFill/>
          </a:ln>
        </p:spPr>
        <p:txBody>
          <a:bodyPr spcFirstLastPara="1" wrap="square" lIns="91400" tIns="91400" rIns="91400" bIns="914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43%</a:t>
            </a:r>
            <a:endParaRPr/>
          </a:p>
        </p:txBody>
      </p:sp>
      <p:sp>
        <p:nvSpPr>
          <p:cNvPr id="525" name="Google Shape;525;p45"/>
          <p:cNvSpPr/>
          <p:nvPr/>
        </p:nvSpPr>
        <p:spPr>
          <a:xfrm>
            <a:off x="3882311" y="1374378"/>
            <a:ext cx="226501" cy="256201"/>
          </a:xfrm>
          <a:prstGeom prst="rect">
            <a:avLst/>
          </a:prstGeom>
          <a:solidFill>
            <a:srgbClr val="FFFF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26" name="Google Shape;526;p45"/>
          <p:cNvSpPr/>
          <p:nvPr/>
        </p:nvSpPr>
        <p:spPr>
          <a:xfrm>
            <a:off x="4110911" y="1374378"/>
            <a:ext cx="226501" cy="256201"/>
          </a:xfrm>
          <a:prstGeom prst="rect">
            <a:avLst/>
          </a:prstGeom>
          <a:solidFill>
            <a:srgbClr val="00FF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27" name="Google Shape;527;p45"/>
          <p:cNvSpPr/>
          <p:nvPr/>
        </p:nvSpPr>
        <p:spPr>
          <a:xfrm>
            <a:off x="3501311" y="1374378"/>
            <a:ext cx="438601" cy="256201"/>
          </a:xfrm>
          <a:prstGeom prst="rect">
            <a:avLst/>
          </a:prstGeom>
          <a:solidFill>
            <a:srgbClr val="FF0000"/>
          </a:solidFill>
          <a:ln w="9525" cap="flat" cmpd="sng">
            <a:solidFill>
              <a:srgbClr val="A7A7A7"/>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cxnSp>
        <p:nvCxnSpPr>
          <p:cNvPr id="528" name="Google Shape;528;p45"/>
          <p:cNvCxnSpPr/>
          <p:nvPr/>
        </p:nvCxnSpPr>
        <p:spPr>
          <a:xfrm flipH="1">
            <a:off x="3799933" y="1360433"/>
            <a:ext cx="2" cy="275670"/>
          </a:xfrm>
          <a:prstGeom prst="straightConnector1">
            <a:avLst/>
          </a:prstGeom>
          <a:noFill/>
          <a:ln w="28575" cap="flat" cmpd="sng">
            <a:solidFill>
              <a:srgbClr val="000000"/>
            </a:solidFill>
            <a:prstDash val="solid"/>
            <a:round/>
            <a:headEnd type="none" w="sm" len="sm"/>
            <a:tailEnd type="none" w="sm" len="sm"/>
          </a:ln>
        </p:spPr>
      </p:cxnSp>
      <p:cxnSp>
        <p:nvCxnSpPr>
          <p:cNvPr id="529" name="Google Shape;529;p45"/>
          <p:cNvCxnSpPr/>
          <p:nvPr/>
        </p:nvCxnSpPr>
        <p:spPr>
          <a:xfrm>
            <a:off x="7722305" y="1370297"/>
            <a:ext cx="6711" cy="245670"/>
          </a:xfrm>
          <a:prstGeom prst="straightConnector1">
            <a:avLst/>
          </a:prstGeom>
          <a:noFill/>
          <a:ln w="28575" cap="flat" cmpd="sng">
            <a:solidFill>
              <a:srgbClr val="000000"/>
            </a:solidFill>
            <a:prstDash val="solid"/>
            <a:round/>
            <a:headEnd type="none" w="sm" len="sm"/>
            <a:tailEnd type="none" w="sm" len="sm"/>
          </a:ln>
        </p:spPr>
      </p:cxnSp>
      <p:sp>
        <p:nvSpPr>
          <p:cNvPr id="530" name="Google Shape;530;p45"/>
          <p:cNvSpPr txBox="1"/>
          <p:nvPr/>
        </p:nvSpPr>
        <p:spPr>
          <a:xfrm>
            <a:off x="2693910" y="42674"/>
            <a:ext cx="8874900" cy="542250"/>
          </a:xfrm>
          <a:prstGeom prst="rect">
            <a:avLst/>
          </a:prstGeom>
          <a:noFill/>
          <a:ln>
            <a:noFill/>
          </a:ln>
        </p:spPr>
        <p:txBody>
          <a:bodyPr spcFirstLastPara="1" wrap="square" lIns="68550" tIns="34275" rIns="68550" bIns="34275" anchor="b" anchorCtr="0">
            <a:noAutofit/>
          </a:bodyPr>
          <a:lstStyle/>
          <a:p>
            <a:pPr marL="0" marR="0" lvl="0" indent="0" algn="ctr" rtl="0">
              <a:lnSpc>
                <a:spcPct val="100000"/>
              </a:lnSpc>
              <a:spcBef>
                <a:spcPts val="0"/>
              </a:spcBef>
              <a:spcAft>
                <a:spcPts val="0"/>
              </a:spcAft>
              <a:buClr>
                <a:schemeClr val="dk1"/>
              </a:buClr>
              <a:buSzPts val="2400"/>
              <a:buFont typeface="Economica"/>
              <a:buNone/>
            </a:pPr>
            <a:r>
              <a:rPr lang="en" sz="3400" b="0" i="0" u="none" strike="noStrike" cap="none">
                <a:solidFill>
                  <a:schemeClr val="dk1"/>
                </a:solidFill>
                <a:latin typeface="Economica"/>
                <a:ea typeface="Economica"/>
                <a:cs typeface="Economica"/>
                <a:sym typeface="Economica"/>
              </a:rPr>
              <a:t>Mocks : Check Compliance</a:t>
            </a:r>
            <a:endParaRPr sz="3400" b="0" i="0" u="none" strike="noStrike" cap="none">
              <a:solidFill>
                <a:schemeClr val="dk1"/>
              </a:solidFill>
              <a:latin typeface="Economica"/>
              <a:ea typeface="Economica"/>
              <a:cs typeface="Economica"/>
              <a:sym typeface="Economic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46"/>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Implementation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Spring Framework</a:t>
            </a:r>
            <a:endParaRPr/>
          </a:p>
        </p:txBody>
      </p:sp>
      <p:sp>
        <p:nvSpPr>
          <p:cNvPr id="541" name="Google Shape;541;p4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fontScale="92500" lnSpcReduction="10000"/>
          </a:bodyPr>
          <a:lstStyle/>
          <a:p>
            <a:pPr marL="457200" lvl="0" indent="-334327" algn="l" rtl="0">
              <a:lnSpc>
                <a:spcPct val="115000"/>
              </a:lnSpc>
              <a:spcBef>
                <a:spcPts val="0"/>
              </a:spcBef>
              <a:spcAft>
                <a:spcPts val="0"/>
              </a:spcAft>
              <a:buSzPct val="100000"/>
              <a:buChar char="●"/>
            </a:pPr>
            <a:r>
              <a:rPr lang="en"/>
              <a:t>Open-Source Java based framework for development of enterprise applications</a:t>
            </a:r>
            <a:br>
              <a:rPr lang="en"/>
            </a:br>
            <a:endParaRPr/>
          </a:p>
          <a:p>
            <a:pPr marL="457200" lvl="0" indent="-334327" algn="l" rtl="0">
              <a:lnSpc>
                <a:spcPct val="115000"/>
              </a:lnSpc>
              <a:spcBef>
                <a:spcPts val="0"/>
              </a:spcBef>
              <a:spcAft>
                <a:spcPts val="0"/>
              </a:spcAft>
              <a:buSzPct val="100000"/>
              <a:buChar char="●"/>
            </a:pPr>
            <a:r>
              <a:rPr lang="en"/>
              <a:t>Provides a programming and configuration model for Java-based applications</a:t>
            </a:r>
            <a:br>
              <a:rPr lang="en"/>
            </a:br>
            <a:endParaRPr/>
          </a:p>
          <a:p>
            <a:pPr marL="457200" lvl="0" indent="-334327" algn="l" rtl="0">
              <a:lnSpc>
                <a:spcPct val="115000"/>
              </a:lnSpc>
              <a:spcBef>
                <a:spcPts val="0"/>
              </a:spcBef>
              <a:spcAft>
                <a:spcPts val="0"/>
              </a:spcAft>
              <a:buSzPct val="100000"/>
              <a:buChar char="●"/>
            </a:pPr>
            <a:r>
              <a:rPr lang="en"/>
              <a:t>Utilizes Dependency Injection: The framework manages object dependencies</a:t>
            </a:r>
            <a:br>
              <a:rPr lang="en"/>
            </a:br>
            <a:endParaRPr/>
          </a:p>
          <a:p>
            <a:pPr marL="457200" lvl="0" indent="-334327" algn="l" rtl="0">
              <a:lnSpc>
                <a:spcPct val="115000"/>
              </a:lnSpc>
              <a:spcBef>
                <a:spcPts val="0"/>
              </a:spcBef>
              <a:spcAft>
                <a:spcPts val="0"/>
              </a:spcAft>
              <a:buSzPct val="100000"/>
              <a:buChar char="●"/>
            </a:pPr>
            <a:r>
              <a:rPr lang="en"/>
              <a:t>Composed of several modules for database connectivity, ORM, REST, Security, etc.</a:t>
            </a:r>
            <a:br>
              <a:rPr lang="en"/>
            </a:br>
            <a:endParaRPr/>
          </a:p>
          <a:p>
            <a:pPr marL="457200" lvl="0" indent="-334327" algn="l" rtl="0">
              <a:lnSpc>
                <a:spcPct val="115000"/>
              </a:lnSpc>
              <a:spcBef>
                <a:spcPts val="0"/>
              </a:spcBef>
              <a:spcAft>
                <a:spcPts val="0"/>
              </a:spcAft>
              <a:buSzPct val="100000"/>
              <a:buChar char="●"/>
            </a:pPr>
            <a:r>
              <a:rPr lang="en"/>
              <a:t>Popular among Java developers because of its simplicity.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Dependency Injection</a:t>
            </a:r>
            <a:endParaRPr/>
          </a:p>
        </p:txBody>
      </p:sp>
      <p:sp>
        <p:nvSpPr>
          <p:cNvPr id="547" name="Google Shape;547;p4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fontScale="77500"/>
          </a:bodyPr>
          <a:lstStyle/>
          <a:p>
            <a:pPr marL="457200" lvl="0" indent="-324364" algn="l" rtl="0">
              <a:lnSpc>
                <a:spcPct val="115000"/>
              </a:lnSpc>
              <a:spcBef>
                <a:spcPts val="0"/>
              </a:spcBef>
              <a:spcAft>
                <a:spcPts val="0"/>
              </a:spcAft>
              <a:buSzPct val="108108"/>
              <a:buChar char="●"/>
            </a:pPr>
            <a:r>
              <a:rPr lang="en"/>
              <a:t>Software design pattern used in OOP in which object’s dependencies are inject into the object rather than created.</a:t>
            </a:r>
            <a:br>
              <a:rPr lang="en"/>
            </a:br>
            <a:endParaRPr/>
          </a:p>
          <a:p>
            <a:pPr marL="457200" lvl="0" indent="-324364" algn="l" rtl="0">
              <a:lnSpc>
                <a:spcPct val="115000"/>
              </a:lnSpc>
              <a:spcBef>
                <a:spcPts val="0"/>
              </a:spcBef>
              <a:spcAft>
                <a:spcPts val="0"/>
              </a:spcAft>
              <a:buSzPct val="108108"/>
              <a:buChar char="●"/>
            </a:pPr>
            <a:r>
              <a:rPr lang="en"/>
              <a:t>IoC: Design pattern where objects do not create other objects, the framework does this.</a:t>
            </a:r>
            <a:br>
              <a:rPr lang="en"/>
            </a:br>
            <a:endParaRPr/>
          </a:p>
          <a:p>
            <a:pPr marL="457200" lvl="0" indent="-324364" algn="l" rtl="0">
              <a:lnSpc>
                <a:spcPct val="115000"/>
              </a:lnSpc>
              <a:spcBef>
                <a:spcPts val="0"/>
              </a:spcBef>
              <a:spcAft>
                <a:spcPts val="0"/>
              </a:spcAft>
              <a:buSzPct val="108108"/>
              <a:buChar char="●"/>
            </a:pPr>
            <a:r>
              <a:rPr lang="en"/>
              <a:t>Accomplished by using Beans: Java class that is instantiated, assembled, and managed by the Spring container (service, controller, etc.)</a:t>
            </a:r>
            <a:br>
              <a:rPr lang="en"/>
            </a:br>
            <a:endParaRPr/>
          </a:p>
          <a:p>
            <a:pPr marL="457200" lvl="0" indent="-324364" algn="l" rtl="0">
              <a:lnSpc>
                <a:spcPct val="115000"/>
              </a:lnSpc>
              <a:spcBef>
                <a:spcPts val="0"/>
              </a:spcBef>
              <a:spcAft>
                <a:spcPts val="0"/>
              </a:spcAft>
              <a:buSzPct val="108108"/>
              <a:buChar char="●"/>
            </a:pPr>
            <a:r>
              <a:rPr lang="en"/>
              <a:t>Advantages:</a:t>
            </a:r>
            <a:endParaRPr/>
          </a:p>
          <a:p>
            <a:pPr marL="914400" lvl="1" indent="-303083" algn="l" rtl="0">
              <a:lnSpc>
                <a:spcPct val="115000"/>
              </a:lnSpc>
              <a:spcBef>
                <a:spcPts val="0"/>
              </a:spcBef>
              <a:spcAft>
                <a:spcPts val="0"/>
              </a:spcAft>
              <a:buSzPct val="108108"/>
              <a:buChar char="○"/>
            </a:pPr>
            <a:r>
              <a:rPr lang="en"/>
              <a:t>Loosely coupled which  allows changes to code to be a lot easier.</a:t>
            </a:r>
            <a:endParaRPr/>
          </a:p>
          <a:p>
            <a:pPr marL="914400" lvl="1" indent="-303083" algn="l" rtl="0">
              <a:lnSpc>
                <a:spcPct val="115000"/>
              </a:lnSpc>
              <a:spcBef>
                <a:spcPts val="0"/>
              </a:spcBef>
              <a:spcAft>
                <a:spcPts val="0"/>
              </a:spcAft>
              <a:buSzPct val="108108"/>
              <a:buChar char="○"/>
            </a:pPr>
            <a:r>
              <a:rPr lang="en"/>
              <a:t>Reusability: The same components can be used in different parts of the application </a:t>
            </a:r>
            <a:endParaRPr/>
          </a:p>
          <a:p>
            <a:pPr marL="914400" lvl="1" indent="-303083" algn="l" rtl="0">
              <a:lnSpc>
                <a:spcPct val="115000"/>
              </a:lnSpc>
              <a:spcBef>
                <a:spcPts val="0"/>
              </a:spcBef>
              <a:spcAft>
                <a:spcPts val="0"/>
              </a:spcAft>
              <a:buSzPct val="108108"/>
              <a:buChar char="○"/>
            </a:pPr>
            <a:r>
              <a:rPr lang="en"/>
              <a:t>Testability: It’s easier to test components in isolation.</a:t>
            </a:r>
            <a:endParaRPr/>
          </a:p>
          <a:p>
            <a:pPr marL="914400" lvl="1" indent="-303083" algn="l" rtl="0">
              <a:lnSpc>
                <a:spcPct val="115000"/>
              </a:lnSpc>
              <a:spcBef>
                <a:spcPts val="0"/>
              </a:spcBef>
              <a:spcAft>
                <a:spcPts val="0"/>
              </a:spcAft>
              <a:buSzPct val="108108"/>
              <a:buChar char="○"/>
            </a:pPr>
            <a:r>
              <a:rPr lang="en"/>
              <a:t>Flexibility: Allows for swapping of different implementations of the same interface without changing the code.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Spring Boot</a:t>
            </a:r>
            <a:endParaRPr/>
          </a:p>
        </p:txBody>
      </p:sp>
      <p:sp>
        <p:nvSpPr>
          <p:cNvPr id="553" name="Google Shape;553;p4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0"/>
              </a:spcAft>
              <a:buSzPct val="100000"/>
              <a:buNone/>
            </a:pPr>
            <a:r>
              <a:rPr lang="en"/>
              <a:t>Open Source framework for stand alone production grade Spring based applications.</a:t>
            </a:r>
            <a:br>
              <a:rPr lang="en"/>
            </a:br>
            <a:endParaRPr/>
          </a:p>
          <a:p>
            <a:pPr marL="457200" lvl="0" indent="-334327" algn="l" rtl="0">
              <a:lnSpc>
                <a:spcPct val="115000"/>
              </a:lnSpc>
              <a:spcBef>
                <a:spcPts val="1200"/>
              </a:spcBef>
              <a:spcAft>
                <a:spcPts val="0"/>
              </a:spcAft>
              <a:buSzPct val="100000"/>
              <a:buChar char="●"/>
            </a:pPr>
            <a:r>
              <a:rPr lang="en"/>
              <a:t>Quick and easy setup: Easy application setup, no need to worry about infrastructure.</a:t>
            </a:r>
            <a:br>
              <a:rPr lang="en"/>
            </a:br>
            <a:endParaRPr/>
          </a:p>
          <a:p>
            <a:pPr marL="457200" lvl="0" indent="-334327" algn="l" rtl="0">
              <a:lnSpc>
                <a:spcPct val="115000"/>
              </a:lnSpc>
              <a:spcBef>
                <a:spcPts val="0"/>
              </a:spcBef>
              <a:spcAft>
                <a:spcPts val="0"/>
              </a:spcAft>
              <a:buSzPct val="100000"/>
              <a:buChar char="●"/>
            </a:pPr>
            <a:r>
              <a:rPr lang="en"/>
              <a:t>Opinionated defaults: Reduced boilerplate code but auto-configuring defaults</a:t>
            </a:r>
            <a:br>
              <a:rPr lang="en"/>
            </a:br>
            <a:endParaRPr/>
          </a:p>
          <a:p>
            <a:pPr marL="457200" lvl="0" indent="-334327" algn="l" rtl="0">
              <a:lnSpc>
                <a:spcPct val="115000"/>
              </a:lnSpc>
              <a:spcBef>
                <a:spcPts val="0"/>
              </a:spcBef>
              <a:spcAft>
                <a:spcPts val="0"/>
              </a:spcAft>
              <a:buSzPct val="100000"/>
              <a:buChar char="●"/>
            </a:pPr>
            <a:r>
              <a:rPr lang="en"/>
              <a:t>Auto-Configuration: Component configuration based on dependencies</a:t>
            </a:r>
            <a:br>
              <a:rPr lang="en"/>
            </a:br>
            <a:endParaRPr/>
          </a:p>
          <a:p>
            <a:pPr marL="457200" lvl="0" indent="-334327" algn="l" rtl="0">
              <a:lnSpc>
                <a:spcPct val="115000"/>
              </a:lnSpc>
              <a:spcBef>
                <a:spcPts val="0"/>
              </a:spcBef>
              <a:spcAft>
                <a:spcPts val="0"/>
              </a:spcAft>
              <a:buSzPct val="100000"/>
              <a:buChar char="●"/>
            </a:pPr>
            <a:r>
              <a:rPr lang="en"/>
              <a:t>Embedded web server: Application can be run as standalone JAR file, making it easier to deploy and scale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Project Object Models</a:t>
            </a:r>
            <a:endParaRPr/>
          </a:p>
        </p:txBody>
      </p:sp>
      <p:sp>
        <p:nvSpPr>
          <p:cNvPr id="559" name="Google Shape;559;p5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fontScale="77500" lnSpcReduction="10000"/>
          </a:bodyPr>
          <a:lstStyle/>
          <a:p>
            <a:pPr marL="0" lvl="0" indent="0" algn="l" rtl="0">
              <a:lnSpc>
                <a:spcPct val="115000"/>
              </a:lnSpc>
              <a:spcBef>
                <a:spcPts val="0"/>
              </a:spcBef>
              <a:spcAft>
                <a:spcPts val="0"/>
              </a:spcAft>
              <a:buSzPct val="108108"/>
              <a:buNone/>
            </a:pPr>
            <a:r>
              <a:rPr lang="en" i="1"/>
              <a:t>Spring-boot-starter-parent</a:t>
            </a:r>
            <a:endParaRPr i="1"/>
          </a:p>
          <a:p>
            <a:pPr marL="0" lvl="0" indent="0" algn="l" rtl="0">
              <a:lnSpc>
                <a:spcPct val="115000"/>
              </a:lnSpc>
              <a:spcBef>
                <a:spcPts val="1200"/>
              </a:spcBef>
              <a:spcAft>
                <a:spcPts val="0"/>
              </a:spcAft>
              <a:buSzPct val="108108"/>
              <a:buNone/>
            </a:pPr>
            <a:r>
              <a:rPr lang="en"/>
              <a:t>Starter project that provides default configurations for the application and complete dependency tree to build a Spring Boot application.</a:t>
            </a:r>
            <a:endParaRPr/>
          </a:p>
          <a:p>
            <a:pPr marL="457200" lvl="0" indent="-324364" algn="l" rtl="0">
              <a:lnSpc>
                <a:spcPct val="115000"/>
              </a:lnSpc>
              <a:spcBef>
                <a:spcPts val="1200"/>
              </a:spcBef>
              <a:spcAft>
                <a:spcPts val="0"/>
              </a:spcAft>
              <a:buSzPct val="108108"/>
              <a:buChar char="●"/>
            </a:pPr>
            <a:r>
              <a:rPr lang="en"/>
              <a:t>Dependency management: Automatically sets and configures all of the Spring Boot dependencies that are used with the project</a:t>
            </a:r>
            <a:br>
              <a:rPr lang="en"/>
            </a:br>
            <a:endParaRPr/>
          </a:p>
          <a:p>
            <a:pPr marL="457200" lvl="0" indent="-324364" algn="l" rtl="0">
              <a:lnSpc>
                <a:spcPct val="115000"/>
              </a:lnSpc>
              <a:spcBef>
                <a:spcPts val="0"/>
              </a:spcBef>
              <a:spcAft>
                <a:spcPts val="0"/>
              </a:spcAft>
              <a:buSzPct val="108108"/>
              <a:buChar char="●"/>
            </a:pPr>
            <a:r>
              <a:rPr lang="en"/>
              <a:t>Plugin management: Provides default configurations for Maven plugins</a:t>
            </a:r>
            <a:br>
              <a:rPr lang="en"/>
            </a:br>
            <a:endParaRPr/>
          </a:p>
          <a:p>
            <a:pPr marL="457200" lvl="0" indent="-324364" algn="l" rtl="0">
              <a:lnSpc>
                <a:spcPct val="115000"/>
              </a:lnSpc>
              <a:spcBef>
                <a:spcPts val="0"/>
              </a:spcBef>
              <a:spcAft>
                <a:spcPts val="0"/>
              </a:spcAft>
              <a:buSzPct val="108108"/>
              <a:buChar char="●"/>
            </a:pPr>
            <a:r>
              <a:rPr lang="en"/>
              <a:t>Property management: Sets all default values for properties that are used in Spring Boot</a:t>
            </a:r>
            <a:br>
              <a:rPr lang="en"/>
            </a:br>
            <a:endParaRPr/>
          </a:p>
          <a:p>
            <a:pPr marL="457200" lvl="0" indent="-324364" algn="l" rtl="0">
              <a:lnSpc>
                <a:spcPct val="115000"/>
              </a:lnSpc>
              <a:spcBef>
                <a:spcPts val="0"/>
              </a:spcBef>
              <a:spcAft>
                <a:spcPts val="0"/>
              </a:spcAft>
              <a:buSzPct val="108108"/>
              <a:buChar char="●"/>
            </a:pPr>
            <a:r>
              <a:rPr lang="en"/>
              <a:t>Parent Version: Sets the version of the parent Spring Boot project, which inherits from the parent Spring Boot project.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Project Object Models</a:t>
            </a:r>
            <a:endParaRPr/>
          </a:p>
        </p:txBody>
      </p:sp>
      <p:sp>
        <p:nvSpPr>
          <p:cNvPr id="565" name="Google Shape;565;p5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15000"/>
              </a:lnSpc>
              <a:spcBef>
                <a:spcPts val="0"/>
              </a:spcBef>
              <a:spcAft>
                <a:spcPts val="0"/>
              </a:spcAft>
              <a:buSzPct val="117647"/>
              <a:buNone/>
            </a:pPr>
            <a:r>
              <a:rPr lang="en" i="1"/>
              <a:t>Spring-boot-starter-data-jpa</a:t>
            </a:r>
            <a:endParaRPr i="1"/>
          </a:p>
          <a:p>
            <a:pPr marL="0" lvl="0" indent="0" algn="l" rtl="0">
              <a:lnSpc>
                <a:spcPct val="115000"/>
              </a:lnSpc>
              <a:spcBef>
                <a:spcPts val="1200"/>
              </a:spcBef>
              <a:spcAft>
                <a:spcPts val="0"/>
              </a:spcAft>
              <a:buSzPct val="117647"/>
              <a:buNone/>
            </a:pPr>
            <a:r>
              <a:rPr lang="en"/>
              <a:t>Starter module in Spring Boot that provides necessary dependencies to build a Java Persistence API (JPA) based application.</a:t>
            </a:r>
            <a:br>
              <a:rPr lang="en"/>
            </a:br>
            <a:br>
              <a:rPr lang="en"/>
            </a:br>
            <a:r>
              <a:rPr lang="en"/>
              <a:t>Simplifies the development of JPA-based data access layers by providing a high-level abstraction layer over the underlying JPA implementation.</a:t>
            </a:r>
            <a:endParaRPr/>
          </a:p>
          <a:p>
            <a:pPr marL="457200" lvl="0" indent="-308609" algn="l" rtl="0">
              <a:lnSpc>
                <a:spcPct val="115000"/>
              </a:lnSpc>
              <a:spcBef>
                <a:spcPts val="1200"/>
              </a:spcBef>
              <a:spcAft>
                <a:spcPts val="0"/>
              </a:spcAft>
              <a:buSzPct val="100000"/>
              <a:buChar char="●"/>
            </a:pPr>
            <a:r>
              <a:rPr lang="en"/>
              <a:t>Automatic repository generation: Generate repository classes for CRUD operations</a:t>
            </a:r>
            <a:br>
              <a:rPr lang="en"/>
            </a:br>
            <a:endParaRPr/>
          </a:p>
          <a:p>
            <a:pPr marL="457200" lvl="0" indent="-308609" algn="l" rtl="0">
              <a:lnSpc>
                <a:spcPct val="115000"/>
              </a:lnSpc>
              <a:spcBef>
                <a:spcPts val="0"/>
              </a:spcBef>
              <a:spcAft>
                <a:spcPts val="0"/>
              </a:spcAft>
              <a:buSzPct val="100000"/>
              <a:buChar char="●"/>
            </a:pPr>
            <a:r>
              <a:rPr lang="en"/>
              <a:t>Query methods: Custom repository methods based upon method names to simplify queries</a:t>
            </a:r>
            <a:br>
              <a:rPr lang="en"/>
            </a:br>
            <a:endParaRPr/>
          </a:p>
          <a:p>
            <a:pPr marL="457200" lvl="0" indent="-308609" algn="l" rtl="0">
              <a:lnSpc>
                <a:spcPct val="115000"/>
              </a:lnSpc>
              <a:spcBef>
                <a:spcPts val="0"/>
              </a:spcBef>
              <a:spcAft>
                <a:spcPts val="0"/>
              </a:spcAft>
              <a:buSzPct val="100000"/>
              <a:buChar char="●"/>
            </a:pPr>
            <a:r>
              <a:rPr lang="en"/>
              <a:t>Transactions: Integrates with Spring’s transaction management support, making it easy to manage database transactions.</a:t>
            </a:r>
            <a:br>
              <a:rPr lang="en"/>
            </a:br>
            <a:endParaRPr/>
          </a:p>
          <a:p>
            <a:pPr marL="457200" lvl="0" indent="-308609" algn="l" rtl="0">
              <a:lnSpc>
                <a:spcPct val="115000"/>
              </a:lnSpc>
              <a:spcBef>
                <a:spcPts val="0"/>
              </a:spcBef>
              <a:spcAft>
                <a:spcPts val="0"/>
              </a:spcAft>
              <a:buSzPct val="100000"/>
              <a:buChar char="●"/>
            </a:pPr>
            <a:r>
              <a:rPr lang="en"/>
              <a:t>Caching: JPA entities and queries can be cached for improved performance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5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JPA Entity Class</a:t>
            </a:r>
            <a:endParaRPr/>
          </a:p>
        </p:txBody>
      </p:sp>
      <p:pic>
        <p:nvPicPr>
          <p:cNvPr id="571" name="Google Shape;571;p52"/>
          <p:cNvPicPr preferRelativeResize="0"/>
          <p:nvPr/>
        </p:nvPicPr>
        <p:blipFill rotWithShape="1">
          <a:blip r:embed="rId3">
            <a:alphaModFix/>
          </a:blip>
          <a:srcRect/>
          <a:stretch/>
        </p:blipFill>
        <p:spPr>
          <a:xfrm>
            <a:off x="60850" y="927600"/>
            <a:ext cx="3240709" cy="4174301"/>
          </a:xfrm>
          <a:prstGeom prst="rect">
            <a:avLst/>
          </a:prstGeom>
          <a:noFill/>
          <a:ln>
            <a:noFill/>
          </a:ln>
        </p:spPr>
      </p:pic>
      <p:pic>
        <p:nvPicPr>
          <p:cNvPr id="572" name="Google Shape;572;p52"/>
          <p:cNvPicPr preferRelativeResize="0"/>
          <p:nvPr/>
        </p:nvPicPr>
        <p:blipFill rotWithShape="1">
          <a:blip r:embed="rId4">
            <a:alphaModFix/>
          </a:blip>
          <a:srcRect/>
          <a:stretch/>
        </p:blipFill>
        <p:spPr>
          <a:xfrm>
            <a:off x="2812950" y="3963750"/>
            <a:ext cx="6142399" cy="1018150"/>
          </a:xfrm>
          <a:prstGeom prst="rect">
            <a:avLst/>
          </a:prstGeom>
          <a:noFill/>
          <a:ln>
            <a:noFill/>
          </a:ln>
        </p:spPr>
      </p:pic>
      <p:sp>
        <p:nvSpPr>
          <p:cNvPr id="573" name="Google Shape;573;p52"/>
          <p:cNvSpPr txBox="1"/>
          <p:nvPr/>
        </p:nvSpPr>
        <p:spPr>
          <a:xfrm>
            <a:off x="3710775" y="1147225"/>
            <a:ext cx="4943700" cy="1693200"/>
          </a:xfrm>
          <a:prstGeom prst="rect">
            <a:avLst/>
          </a:prstGeom>
          <a:noFill/>
          <a:ln>
            <a:noFill/>
          </a:ln>
        </p:spPr>
        <p:txBody>
          <a:bodyPr spcFirstLastPara="1" wrap="square" lIns="91425" tIns="91425" rIns="91425" bIns="91425" anchor="t" anchorCtr="0">
            <a:spAutoFit/>
          </a:bodyPr>
          <a:lstStyle/>
          <a:p>
            <a:pPr marL="457200" marR="0" lvl="0" indent="-317500" algn="l" rtl="0">
              <a:lnSpc>
                <a:spcPct val="100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 JPA entity is a Java class that represents a database table.</a:t>
            </a:r>
            <a:br>
              <a:rPr lang="en" sz="1400" b="0" i="0" u="none" strike="noStrike" cap="none">
                <a:solidFill>
                  <a:schemeClr val="dk1"/>
                </a:solidFill>
                <a:latin typeface="Lato"/>
                <a:ea typeface="Lato"/>
                <a:cs typeface="Lato"/>
                <a:sym typeface="Lato"/>
              </a:rPr>
            </a:br>
            <a:endParaRPr sz="1400" b="0" i="0" u="none" strike="noStrike" cap="none">
              <a:solidFill>
                <a:schemeClr val="dk1"/>
              </a:solidFill>
              <a:latin typeface="Lato"/>
              <a:ea typeface="Lato"/>
              <a:cs typeface="Lato"/>
              <a:sym typeface="Lato"/>
            </a:endParaRPr>
          </a:p>
          <a:p>
            <a:pPr marL="457200" marR="0" lvl="0" indent="-317500" algn="l" rtl="0">
              <a:lnSpc>
                <a:spcPct val="100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The class defines the properties of the entity.</a:t>
            </a:r>
            <a:br>
              <a:rPr lang="en" sz="1400" b="0" i="0" u="none" strike="noStrike" cap="none">
                <a:solidFill>
                  <a:schemeClr val="dk1"/>
                </a:solidFill>
                <a:latin typeface="Lato"/>
                <a:ea typeface="Lato"/>
                <a:cs typeface="Lato"/>
                <a:sym typeface="Lato"/>
              </a:rPr>
            </a:br>
            <a:endParaRPr sz="1400" b="0" i="0" u="none" strike="noStrike" cap="none">
              <a:solidFill>
                <a:schemeClr val="dk1"/>
              </a:solidFill>
              <a:latin typeface="Lato"/>
              <a:ea typeface="Lato"/>
              <a:cs typeface="Lato"/>
              <a:sym typeface="Lato"/>
            </a:endParaRPr>
          </a:p>
          <a:p>
            <a:pPr marL="457200" marR="0" lvl="0" indent="-317500" algn="l" rtl="0">
              <a:lnSpc>
                <a:spcPct val="100000"/>
              </a:lnSpc>
              <a:spcBef>
                <a:spcPts val="0"/>
              </a:spcBef>
              <a:spcAft>
                <a:spcPts val="0"/>
              </a:spcAft>
              <a:buClr>
                <a:schemeClr val="dk1"/>
              </a:buClr>
              <a:buSzPts val="1400"/>
              <a:buFont typeface="Lato"/>
              <a:buChar char="●"/>
            </a:pPr>
            <a:r>
              <a:rPr lang="en" sz="1400" b="0" i="0" u="none" strike="noStrike" cap="none">
                <a:solidFill>
                  <a:schemeClr val="dk1"/>
                </a:solidFill>
                <a:latin typeface="Lato"/>
                <a:ea typeface="Lato"/>
                <a:cs typeface="Lato"/>
                <a:sym typeface="Lato"/>
              </a:rPr>
              <a:t>Annotated with the @Entity to indicate it is a persistence entity</a:t>
            </a:r>
            <a:endParaRPr sz="1400" b="0" i="0" u="none" strike="noStrike" cap="none">
              <a:solidFill>
                <a:schemeClr val="dk1"/>
              </a:solidFill>
              <a:latin typeface="Lato"/>
              <a:ea typeface="Lato"/>
              <a:cs typeface="Lato"/>
              <a:sym typeface="Lato"/>
            </a:endParaRPr>
          </a:p>
        </p:txBody>
      </p:sp>
      <p:sp>
        <p:nvSpPr>
          <p:cNvPr id="574" name="Google Shape;574;p52"/>
          <p:cNvSpPr/>
          <p:nvPr/>
        </p:nvSpPr>
        <p:spPr>
          <a:xfrm rot="2021239">
            <a:off x="3106504" y="3238037"/>
            <a:ext cx="1732412" cy="305030"/>
          </a:xfrm>
          <a:prstGeom prst="strip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52"/>
          <p:cNvSpPr txBox="1"/>
          <p:nvPr/>
        </p:nvSpPr>
        <p:spPr>
          <a:xfrm>
            <a:off x="2146925" y="2634275"/>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Entity Class</a:t>
            </a:r>
            <a:endParaRPr sz="1400" b="0" i="0" u="none" strike="noStrike" cap="none">
              <a:solidFill>
                <a:schemeClr val="lt1"/>
              </a:solidFill>
              <a:latin typeface="Lato"/>
              <a:ea typeface="Lato"/>
              <a:cs typeface="Lato"/>
              <a:sym typeface="Lato"/>
            </a:endParaRPr>
          </a:p>
        </p:txBody>
      </p:sp>
      <p:sp>
        <p:nvSpPr>
          <p:cNvPr id="576" name="Google Shape;576;p52"/>
          <p:cNvSpPr txBox="1"/>
          <p:nvPr/>
        </p:nvSpPr>
        <p:spPr>
          <a:xfrm>
            <a:off x="5545600" y="3563550"/>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Database Table</a:t>
            </a:r>
            <a:endParaRPr sz="1400" b="0" i="0" u="none" strike="noStrike" cap="none">
              <a:solidFill>
                <a:schemeClr val="lt1"/>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5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JPA Repository</a:t>
            </a:r>
            <a:endParaRPr/>
          </a:p>
        </p:txBody>
      </p:sp>
      <p:sp>
        <p:nvSpPr>
          <p:cNvPr id="582" name="Google Shape;582;p53"/>
          <p:cNvSpPr txBox="1">
            <a:spLocks noGrp="1"/>
          </p:cNvSpPr>
          <p:nvPr>
            <p:ph type="body" idx="1"/>
          </p:nvPr>
        </p:nvSpPr>
        <p:spPr>
          <a:xfrm>
            <a:off x="1297500" y="1567550"/>
            <a:ext cx="7038900" cy="1412100"/>
          </a:xfrm>
          <a:prstGeom prst="rect">
            <a:avLst/>
          </a:prstGeom>
          <a:noFill/>
          <a:ln>
            <a:noFill/>
          </a:ln>
        </p:spPr>
        <p:txBody>
          <a:bodyPr spcFirstLastPara="1" wrap="square" lIns="91425" tIns="91425" rIns="91425" bIns="91425" anchor="t" anchorCtr="0">
            <a:normAutofit fontScale="70000" lnSpcReduction="10000"/>
          </a:bodyPr>
          <a:lstStyle/>
          <a:p>
            <a:pPr marL="0" lvl="0" indent="0" algn="l" rtl="0">
              <a:lnSpc>
                <a:spcPct val="115000"/>
              </a:lnSpc>
              <a:spcBef>
                <a:spcPts val="0"/>
              </a:spcBef>
              <a:spcAft>
                <a:spcPts val="0"/>
              </a:spcAft>
              <a:buSzPct val="142857"/>
              <a:buNone/>
            </a:pPr>
            <a:r>
              <a:rPr lang="en"/>
              <a:t>Class that provides a simple and consistent interface for interacting with a database.</a:t>
            </a:r>
            <a:endParaRPr/>
          </a:p>
          <a:p>
            <a:pPr marL="457200" lvl="0" indent="-308610" algn="l" rtl="0">
              <a:lnSpc>
                <a:spcPct val="115000"/>
              </a:lnSpc>
              <a:spcBef>
                <a:spcPts val="1200"/>
              </a:spcBef>
              <a:spcAft>
                <a:spcPts val="0"/>
              </a:spcAft>
              <a:buSzPct val="100000"/>
              <a:buChar char="●"/>
            </a:pPr>
            <a:r>
              <a:rPr lang="en"/>
              <a:t>Defines a set of methods to perform CRUD operations on JPA Entities</a:t>
            </a:r>
            <a:endParaRPr/>
          </a:p>
          <a:p>
            <a:pPr marL="457200" lvl="0" indent="-308610" algn="l" rtl="0">
              <a:lnSpc>
                <a:spcPct val="115000"/>
              </a:lnSpc>
              <a:spcBef>
                <a:spcPts val="0"/>
              </a:spcBef>
              <a:spcAft>
                <a:spcPts val="0"/>
              </a:spcAft>
              <a:buSzPct val="100000"/>
              <a:buChar char="●"/>
            </a:pPr>
            <a:r>
              <a:rPr lang="en"/>
              <a:t>Implemented by extending the JpaRepository class</a:t>
            </a:r>
            <a:endParaRPr/>
          </a:p>
          <a:p>
            <a:pPr marL="457200" lvl="0" indent="-308610" algn="l" rtl="0">
              <a:lnSpc>
                <a:spcPct val="115000"/>
              </a:lnSpc>
              <a:spcBef>
                <a:spcPts val="0"/>
              </a:spcBef>
              <a:spcAft>
                <a:spcPts val="0"/>
              </a:spcAft>
              <a:buSzPct val="100000"/>
              <a:buChar char="●"/>
            </a:pPr>
            <a:r>
              <a:rPr lang="en"/>
              <a:t>Identified with the @Repository annotation</a:t>
            </a:r>
            <a:endParaRPr/>
          </a:p>
          <a:p>
            <a:pPr marL="457200" lvl="0" indent="-308610" algn="l" rtl="0">
              <a:lnSpc>
                <a:spcPct val="115000"/>
              </a:lnSpc>
              <a:spcBef>
                <a:spcPts val="0"/>
              </a:spcBef>
              <a:spcAft>
                <a:spcPts val="0"/>
              </a:spcAft>
              <a:buSzPct val="100000"/>
              <a:buChar char="●"/>
            </a:pPr>
            <a:r>
              <a:rPr lang="en"/>
              <a:t>Utilizes Entity classes to save, find, update, or delete row(s) within the database</a:t>
            </a:r>
            <a:endParaRPr/>
          </a:p>
        </p:txBody>
      </p:sp>
      <p:pic>
        <p:nvPicPr>
          <p:cNvPr id="583" name="Google Shape;583;p53"/>
          <p:cNvPicPr preferRelativeResize="0"/>
          <p:nvPr/>
        </p:nvPicPr>
        <p:blipFill rotWithShape="1">
          <a:blip r:embed="rId3">
            <a:alphaModFix/>
          </a:blip>
          <a:srcRect/>
          <a:stretch/>
        </p:blipFill>
        <p:spPr>
          <a:xfrm>
            <a:off x="657225" y="3173675"/>
            <a:ext cx="7829550" cy="1562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5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JPA Controller</a:t>
            </a:r>
            <a:endParaRPr/>
          </a:p>
        </p:txBody>
      </p:sp>
      <p:sp>
        <p:nvSpPr>
          <p:cNvPr id="589" name="Google Shape;589;p54"/>
          <p:cNvSpPr txBox="1">
            <a:spLocks noGrp="1"/>
          </p:cNvSpPr>
          <p:nvPr>
            <p:ph type="body" idx="1"/>
          </p:nvPr>
        </p:nvSpPr>
        <p:spPr>
          <a:xfrm>
            <a:off x="1422350" y="1267925"/>
            <a:ext cx="7038900" cy="3576000"/>
          </a:xfrm>
          <a:prstGeom prst="rect">
            <a:avLst/>
          </a:prstGeom>
          <a:noFill/>
          <a:ln>
            <a:noFill/>
          </a:ln>
        </p:spPr>
        <p:txBody>
          <a:bodyPr spcFirstLastPara="1" wrap="square" lIns="91425" tIns="91425" rIns="91425" bIns="91425" anchor="t" anchorCtr="0">
            <a:normAutofit fontScale="85000" lnSpcReduction="20000"/>
          </a:bodyPr>
          <a:lstStyle/>
          <a:p>
            <a:pPr marL="457200" lvl="0" indent="-325755" algn="l" rtl="0">
              <a:lnSpc>
                <a:spcPct val="115000"/>
              </a:lnSpc>
              <a:spcBef>
                <a:spcPts val="0"/>
              </a:spcBef>
              <a:spcAft>
                <a:spcPts val="0"/>
              </a:spcAft>
              <a:buSzPct val="100000"/>
              <a:buChar char="●"/>
            </a:pPr>
            <a:r>
              <a:rPr lang="en"/>
              <a:t>Class that handles HTTP requests from clients </a:t>
            </a:r>
            <a:br>
              <a:rPr lang="en"/>
            </a:br>
            <a:endParaRPr/>
          </a:p>
          <a:p>
            <a:pPr marL="457200" lvl="0" indent="-325755" algn="l" rtl="0">
              <a:lnSpc>
                <a:spcPct val="115000"/>
              </a:lnSpc>
              <a:spcBef>
                <a:spcPts val="0"/>
              </a:spcBef>
              <a:spcAft>
                <a:spcPts val="0"/>
              </a:spcAft>
              <a:buSzPct val="100000"/>
              <a:buChar char="●"/>
            </a:pPr>
            <a:r>
              <a:rPr lang="en"/>
              <a:t>Sits between the web layer and the persistence layer to process the requests, and to </a:t>
            </a:r>
            <a:br>
              <a:rPr lang="en"/>
            </a:br>
            <a:endParaRPr/>
          </a:p>
          <a:p>
            <a:pPr marL="457200" lvl="0" indent="-325755" algn="l" rtl="0">
              <a:lnSpc>
                <a:spcPct val="115000"/>
              </a:lnSpc>
              <a:spcBef>
                <a:spcPts val="0"/>
              </a:spcBef>
              <a:spcAft>
                <a:spcPts val="0"/>
              </a:spcAft>
              <a:buSzPct val="100000"/>
              <a:buChar char="●"/>
            </a:pPr>
            <a:r>
              <a:rPr lang="en"/>
              <a:t>retrieve or modify data and return it (if needed)</a:t>
            </a:r>
            <a:br>
              <a:rPr lang="en"/>
            </a:br>
            <a:endParaRPr/>
          </a:p>
          <a:p>
            <a:pPr marL="457200" lvl="0" indent="-325755" algn="l" rtl="0">
              <a:lnSpc>
                <a:spcPct val="115000"/>
              </a:lnSpc>
              <a:spcBef>
                <a:spcPts val="0"/>
              </a:spcBef>
              <a:spcAft>
                <a:spcPts val="0"/>
              </a:spcAft>
              <a:buSzPct val="100000"/>
              <a:buChar char="●"/>
            </a:pPr>
            <a:r>
              <a:rPr lang="en"/>
              <a:t>Classes are identified by the @Controller annotation</a:t>
            </a:r>
            <a:br>
              <a:rPr lang="en"/>
            </a:br>
            <a:endParaRPr/>
          </a:p>
          <a:p>
            <a:pPr marL="457200" lvl="0" indent="-325755" algn="l" rtl="0">
              <a:lnSpc>
                <a:spcPct val="115000"/>
              </a:lnSpc>
              <a:spcBef>
                <a:spcPts val="0"/>
              </a:spcBef>
              <a:spcAft>
                <a:spcPts val="0"/>
              </a:spcAft>
              <a:buSzPct val="100000"/>
              <a:buChar char="●"/>
            </a:pPr>
            <a:r>
              <a:rPr lang="en"/>
              <a:t>End points are defined by the @RequestMapping annotation</a:t>
            </a:r>
            <a:br>
              <a:rPr lang="en"/>
            </a:br>
            <a:endParaRPr/>
          </a:p>
          <a:p>
            <a:pPr marL="457200" lvl="0" indent="-325755" algn="l" rtl="0">
              <a:lnSpc>
                <a:spcPct val="115000"/>
              </a:lnSpc>
              <a:spcBef>
                <a:spcPts val="0"/>
              </a:spcBef>
              <a:spcAft>
                <a:spcPts val="0"/>
              </a:spcAft>
              <a:buSzPct val="100000"/>
              <a:buChar char="●"/>
            </a:pPr>
            <a:r>
              <a:rPr lang="en"/>
              <a:t>Mapping types are designated with @GetMapping, @PostMapping, etc.</a:t>
            </a:r>
            <a:br>
              <a:rPr lang="en"/>
            </a:br>
            <a:endParaRPr/>
          </a:p>
          <a:p>
            <a:pPr marL="457200" lvl="0" indent="-325755" algn="l" rtl="0">
              <a:lnSpc>
                <a:spcPct val="115000"/>
              </a:lnSpc>
              <a:spcBef>
                <a:spcPts val="0"/>
              </a:spcBef>
              <a:spcAft>
                <a:spcPts val="0"/>
              </a:spcAft>
              <a:buSzPct val="100000"/>
              <a:buChar char="●"/>
            </a:pPr>
            <a:r>
              <a:rPr lang="en"/>
              <a:t>Persistence layers, such as repositories, can be automatically injected using the @Autowired annotation.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5"/>
          <p:cNvSpPr txBox="1">
            <a:spLocks noGrp="1"/>
          </p:cNvSpPr>
          <p:nvPr>
            <p:ph type="title"/>
          </p:nvPr>
        </p:nvSpPr>
        <p:spPr>
          <a:xfrm>
            <a:off x="311700" y="12410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JPA Controller</a:t>
            </a:r>
            <a:endParaRPr/>
          </a:p>
        </p:txBody>
      </p:sp>
      <p:pic>
        <p:nvPicPr>
          <p:cNvPr id="595" name="Google Shape;595;p55"/>
          <p:cNvPicPr preferRelativeResize="0"/>
          <p:nvPr/>
        </p:nvPicPr>
        <p:blipFill rotWithShape="1">
          <a:blip r:embed="rId3">
            <a:alphaModFix/>
          </a:blip>
          <a:srcRect/>
          <a:stretch/>
        </p:blipFill>
        <p:spPr>
          <a:xfrm>
            <a:off x="154950" y="2995400"/>
            <a:ext cx="3219450" cy="542925"/>
          </a:xfrm>
          <a:prstGeom prst="rect">
            <a:avLst/>
          </a:prstGeom>
          <a:noFill/>
          <a:ln>
            <a:noFill/>
          </a:ln>
        </p:spPr>
      </p:pic>
      <p:pic>
        <p:nvPicPr>
          <p:cNvPr id="596" name="Google Shape;596;p55"/>
          <p:cNvPicPr preferRelativeResize="0"/>
          <p:nvPr/>
        </p:nvPicPr>
        <p:blipFill rotWithShape="1">
          <a:blip r:embed="rId4">
            <a:alphaModFix/>
          </a:blip>
          <a:srcRect/>
          <a:stretch/>
        </p:blipFill>
        <p:spPr>
          <a:xfrm>
            <a:off x="3474825" y="1659225"/>
            <a:ext cx="5467349" cy="3170629"/>
          </a:xfrm>
          <a:prstGeom prst="rect">
            <a:avLst/>
          </a:prstGeom>
          <a:noFill/>
          <a:ln>
            <a:noFill/>
          </a:ln>
        </p:spPr>
      </p:pic>
      <p:sp>
        <p:nvSpPr>
          <p:cNvPr id="597" name="Google Shape;597;p55"/>
          <p:cNvSpPr txBox="1"/>
          <p:nvPr/>
        </p:nvSpPr>
        <p:spPr>
          <a:xfrm>
            <a:off x="7306475" y="1772325"/>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REST Controller</a:t>
            </a:r>
            <a:endParaRPr sz="1400" b="0" i="0" u="none" strike="noStrike" cap="none">
              <a:solidFill>
                <a:schemeClr val="lt1"/>
              </a:solidFill>
              <a:latin typeface="Lato"/>
              <a:ea typeface="Lato"/>
              <a:cs typeface="Lato"/>
              <a:sym typeface="Lato"/>
            </a:endParaRPr>
          </a:p>
        </p:txBody>
      </p:sp>
      <p:sp>
        <p:nvSpPr>
          <p:cNvPr id="598" name="Google Shape;598;p55"/>
          <p:cNvSpPr/>
          <p:nvPr/>
        </p:nvSpPr>
        <p:spPr>
          <a:xfrm>
            <a:off x="1534525" y="2327200"/>
            <a:ext cx="1875600" cy="5430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55"/>
          <p:cNvSpPr/>
          <p:nvPr/>
        </p:nvSpPr>
        <p:spPr>
          <a:xfrm rot="-5400000">
            <a:off x="2097025" y="3024825"/>
            <a:ext cx="572400" cy="18498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5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JPA Service</a:t>
            </a:r>
            <a:endParaRPr/>
          </a:p>
        </p:txBody>
      </p:sp>
      <p:sp>
        <p:nvSpPr>
          <p:cNvPr id="605" name="Google Shape;605;p5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fontScale="92500" lnSpcReduction="20000"/>
          </a:bodyPr>
          <a:lstStyle/>
          <a:p>
            <a:pPr marL="457200" lvl="0" indent="-334327" algn="l" rtl="0">
              <a:lnSpc>
                <a:spcPct val="115000"/>
              </a:lnSpc>
              <a:spcBef>
                <a:spcPts val="0"/>
              </a:spcBef>
              <a:spcAft>
                <a:spcPts val="0"/>
              </a:spcAft>
              <a:buSzPct val="100000"/>
              <a:buChar char="●"/>
            </a:pPr>
            <a:r>
              <a:rPr lang="en"/>
              <a:t>Higher level of abstraction over the JPA persistence layer</a:t>
            </a:r>
            <a:br>
              <a:rPr lang="en"/>
            </a:br>
            <a:endParaRPr/>
          </a:p>
          <a:p>
            <a:pPr marL="457200" lvl="0" indent="-334327" algn="l" rtl="0">
              <a:lnSpc>
                <a:spcPct val="115000"/>
              </a:lnSpc>
              <a:spcBef>
                <a:spcPts val="0"/>
              </a:spcBef>
              <a:spcAft>
                <a:spcPts val="0"/>
              </a:spcAft>
              <a:buSzPct val="100000"/>
              <a:buChar char="●"/>
            </a:pPr>
            <a:r>
              <a:rPr lang="en"/>
              <a:t>Sits between JPA Controller and JPA persistence layer</a:t>
            </a:r>
            <a:br>
              <a:rPr lang="en"/>
            </a:br>
            <a:endParaRPr/>
          </a:p>
          <a:p>
            <a:pPr marL="457200" lvl="0" indent="-334327" algn="l" rtl="0">
              <a:lnSpc>
                <a:spcPct val="115000"/>
              </a:lnSpc>
              <a:spcBef>
                <a:spcPts val="0"/>
              </a:spcBef>
              <a:spcAft>
                <a:spcPts val="0"/>
              </a:spcAft>
              <a:buSzPct val="100000"/>
              <a:buChar char="●"/>
            </a:pPr>
            <a:r>
              <a:rPr lang="en"/>
              <a:t>Receives request from controller, processes them, interacts with the persistence layer, implements business logic (validation, transformation, etc.) and complex processing</a:t>
            </a:r>
            <a:br>
              <a:rPr lang="en"/>
            </a:br>
            <a:endParaRPr/>
          </a:p>
          <a:p>
            <a:pPr marL="457200" lvl="0" indent="-334327" algn="l" rtl="0">
              <a:lnSpc>
                <a:spcPct val="115000"/>
              </a:lnSpc>
              <a:spcBef>
                <a:spcPts val="0"/>
              </a:spcBef>
              <a:spcAft>
                <a:spcPts val="0"/>
              </a:spcAft>
              <a:buSzPct val="100000"/>
              <a:buChar char="●"/>
            </a:pPr>
            <a:r>
              <a:rPr lang="en"/>
              <a:t>Service controllers are defined by the @Service annotation, and repositories can be auto injected using @Autowired</a:t>
            </a:r>
            <a:br>
              <a:rPr lang="en"/>
            </a:br>
            <a:endParaRPr/>
          </a:p>
          <a:p>
            <a:pPr marL="457200" lvl="0" indent="-334327" algn="l" rtl="0">
              <a:lnSpc>
                <a:spcPct val="115000"/>
              </a:lnSpc>
              <a:spcBef>
                <a:spcPts val="0"/>
              </a:spcBef>
              <a:spcAft>
                <a:spcPts val="0"/>
              </a:spcAft>
              <a:buSzPct val="100000"/>
              <a:buChar char="●"/>
            </a:pPr>
            <a:r>
              <a:rPr lang="en"/>
              <a:t>The @Transactional annotation was used to handle transaction management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JPA Service</a:t>
            </a:r>
            <a:endParaRPr/>
          </a:p>
        </p:txBody>
      </p:sp>
      <p:sp>
        <p:nvSpPr>
          <p:cNvPr id="611" name="Google Shape;611;p57"/>
          <p:cNvSpPr/>
          <p:nvPr/>
        </p:nvSpPr>
        <p:spPr>
          <a:xfrm>
            <a:off x="233050" y="1781075"/>
            <a:ext cx="457800" cy="31545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57"/>
          <p:cNvSpPr txBox="1"/>
          <p:nvPr/>
        </p:nvSpPr>
        <p:spPr>
          <a:xfrm rot="-5400000">
            <a:off x="-1115300" y="3158225"/>
            <a:ext cx="3154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Controller</a:t>
            </a:r>
            <a:endParaRPr sz="1400" b="0" i="0" u="none" strike="noStrike" cap="none">
              <a:solidFill>
                <a:schemeClr val="lt1"/>
              </a:solidFill>
              <a:latin typeface="Lato"/>
              <a:ea typeface="Lato"/>
              <a:cs typeface="Lato"/>
              <a:sym typeface="Lato"/>
            </a:endParaRPr>
          </a:p>
        </p:txBody>
      </p:sp>
      <p:sp>
        <p:nvSpPr>
          <p:cNvPr id="613" name="Google Shape;613;p57"/>
          <p:cNvSpPr/>
          <p:nvPr/>
        </p:nvSpPr>
        <p:spPr>
          <a:xfrm>
            <a:off x="890550" y="3079450"/>
            <a:ext cx="1281600" cy="374400"/>
          </a:xfrm>
          <a:prstGeom prst="striped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57"/>
          <p:cNvSpPr txBox="1"/>
          <p:nvPr/>
        </p:nvSpPr>
        <p:spPr>
          <a:xfrm>
            <a:off x="890550" y="2729900"/>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saveBundles()</a:t>
            </a:r>
            <a:endParaRPr sz="1400" b="0" i="0" u="none" strike="noStrike" cap="none">
              <a:solidFill>
                <a:schemeClr val="dk1"/>
              </a:solidFill>
              <a:latin typeface="Lato"/>
              <a:ea typeface="Lato"/>
              <a:cs typeface="Lato"/>
              <a:sym typeface="Lato"/>
            </a:endParaRPr>
          </a:p>
        </p:txBody>
      </p:sp>
      <p:pic>
        <p:nvPicPr>
          <p:cNvPr id="615" name="Google Shape;615;p57"/>
          <p:cNvPicPr preferRelativeResize="0"/>
          <p:nvPr/>
        </p:nvPicPr>
        <p:blipFill rotWithShape="1">
          <a:blip r:embed="rId3">
            <a:alphaModFix/>
          </a:blip>
          <a:srcRect/>
          <a:stretch/>
        </p:blipFill>
        <p:spPr>
          <a:xfrm>
            <a:off x="2247025" y="1456350"/>
            <a:ext cx="3703525" cy="3479076"/>
          </a:xfrm>
          <a:prstGeom prst="rect">
            <a:avLst/>
          </a:prstGeom>
          <a:noFill/>
          <a:ln>
            <a:noFill/>
          </a:ln>
        </p:spPr>
      </p:pic>
      <p:sp>
        <p:nvSpPr>
          <p:cNvPr id="616" name="Google Shape;616;p57"/>
          <p:cNvSpPr/>
          <p:nvPr/>
        </p:nvSpPr>
        <p:spPr>
          <a:xfrm>
            <a:off x="7823450" y="682475"/>
            <a:ext cx="565950" cy="524325"/>
          </a:xfrm>
          <a:prstGeom prst="flowChartMagneticDisk">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57"/>
          <p:cNvSpPr/>
          <p:nvPr/>
        </p:nvSpPr>
        <p:spPr>
          <a:xfrm>
            <a:off x="7823450" y="1781075"/>
            <a:ext cx="565950" cy="524325"/>
          </a:xfrm>
          <a:prstGeom prst="flowChartMagneticDisk">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57"/>
          <p:cNvSpPr/>
          <p:nvPr/>
        </p:nvSpPr>
        <p:spPr>
          <a:xfrm>
            <a:off x="7823450" y="3004488"/>
            <a:ext cx="565950" cy="524325"/>
          </a:xfrm>
          <a:prstGeom prst="flowChartMagneticDisk">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9" name="Google Shape;619;p57"/>
          <p:cNvSpPr/>
          <p:nvPr/>
        </p:nvSpPr>
        <p:spPr>
          <a:xfrm>
            <a:off x="7823450" y="4119250"/>
            <a:ext cx="565950" cy="524325"/>
          </a:xfrm>
          <a:prstGeom prst="flowChartMagneticDisk">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0" name="Google Shape;620;p57"/>
          <p:cNvSpPr txBox="1"/>
          <p:nvPr/>
        </p:nvSpPr>
        <p:spPr>
          <a:xfrm>
            <a:off x="7399000" y="1102750"/>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SubBundle Table</a:t>
            </a:r>
            <a:endParaRPr sz="1400" b="0" i="0" u="none" strike="noStrike" cap="none">
              <a:solidFill>
                <a:schemeClr val="dk1"/>
              </a:solidFill>
              <a:latin typeface="Lato"/>
              <a:ea typeface="Lato"/>
              <a:cs typeface="Lato"/>
              <a:sym typeface="Lato"/>
            </a:endParaRPr>
          </a:p>
        </p:txBody>
      </p:sp>
      <p:sp>
        <p:nvSpPr>
          <p:cNvPr id="621" name="Google Shape;621;p57"/>
          <p:cNvSpPr txBox="1"/>
          <p:nvPr/>
        </p:nvSpPr>
        <p:spPr>
          <a:xfrm>
            <a:off x="7153475" y="2192700"/>
            <a:ext cx="1905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CriteriaObject Table</a:t>
            </a:r>
            <a:endParaRPr sz="1400" b="0" i="0" u="none" strike="noStrike" cap="none">
              <a:solidFill>
                <a:schemeClr val="dk1"/>
              </a:solidFill>
              <a:latin typeface="Lato"/>
              <a:ea typeface="Lato"/>
              <a:cs typeface="Lato"/>
              <a:sym typeface="Lato"/>
            </a:endParaRPr>
          </a:p>
        </p:txBody>
      </p:sp>
      <p:sp>
        <p:nvSpPr>
          <p:cNvPr id="622" name="Google Shape;622;p57"/>
          <p:cNvSpPr txBox="1"/>
          <p:nvPr/>
        </p:nvSpPr>
        <p:spPr>
          <a:xfrm>
            <a:off x="7190950" y="3486525"/>
            <a:ext cx="1905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SubBundle Table</a:t>
            </a:r>
            <a:endParaRPr sz="1400" b="0" i="0" u="none" strike="noStrike" cap="none">
              <a:solidFill>
                <a:schemeClr val="dk1"/>
              </a:solidFill>
              <a:latin typeface="Lato"/>
              <a:ea typeface="Lato"/>
              <a:cs typeface="Lato"/>
              <a:sym typeface="Lato"/>
            </a:endParaRPr>
          </a:p>
        </p:txBody>
      </p:sp>
      <p:sp>
        <p:nvSpPr>
          <p:cNvPr id="623" name="Google Shape;623;p57"/>
          <p:cNvSpPr txBox="1"/>
          <p:nvPr/>
        </p:nvSpPr>
        <p:spPr>
          <a:xfrm>
            <a:off x="7190950" y="4541225"/>
            <a:ext cx="1905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ParentBundle Table</a:t>
            </a:r>
            <a:endParaRPr sz="1400" b="0" i="0" u="none" strike="noStrike" cap="none">
              <a:solidFill>
                <a:schemeClr val="dk1"/>
              </a:solidFill>
              <a:latin typeface="Lato"/>
              <a:ea typeface="Lato"/>
              <a:cs typeface="Lato"/>
              <a:sym typeface="Lato"/>
            </a:endParaRPr>
          </a:p>
        </p:txBody>
      </p:sp>
      <p:sp>
        <p:nvSpPr>
          <p:cNvPr id="624" name="Google Shape;624;p57"/>
          <p:cNvSpPr/>
          <p:nvPr/>
        </p:nvSpPr>
        <p:spPr>
          <a:xfrm rot="631477">
            <a:off x="5850419" y="1743450"/>
            <a:ext cx="1888776" cy="141571"/>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57"/>
          <p:cNvSpPr/>
          <p:nvPr/>
        </p:nvSpPr>
        <p:spPr>
          <a:xfrm rot="-1050567">
            <a:off x="5805145" y="1219187"/>
            <a:ext cx="1979306" cy="141848"/>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57"/>
          <p:cNvSpPr/>
          <p:nvPr/>
        </p:nvSpPr>
        <p:spPr>
          <a:xfrm rot="631477">
            <a:off x="5913969" y="4101400"/>
            <a:ext cx="1888776" cy="141571"/>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57"/>
          <p:cNvSpPr/>
          <p:nvPr/>
        </p:nvSpPr>
        <p:spPr>
          <a:xfrm rot="-1050567">
            <a:off x="5868695" y="3577137"/>
            <a:ext cx="1979306" cy="141848"/>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57"/>
          <p:cNvSpPr txBox="1"/>
          <p:nvPr/>
        </p:nvSpPr>
        <p:spPr>
          <a:xfrm rot="-1071359">
            <a:off x="6150570" y="806562"/>
            <a:ext cx="929472" cy="40027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write()</a:t>
            </a:r>
            <a:endParaRPr sz="1400" b="0" i="0" u="none" strike="noStrike" cap="none">
              <a:solidFill>
                <a:schemeClr val="dk1"/>
              </a:solidFill>
              <a:latin typeface="Lato"/>
              <a:ea typeface="Lato"/>
              <a:cs typeface="Lato"/>
              <a:sym typeface="Lato"/>
            </a:endParaRPr>
          </a:p>
        </p:txBody>
      </p:sp>
      <p:sp>
        <p:nvSpPr>
          <p:cNvPr id="629" name="Google Shape;629;p57"/>
          <p:cNvSpPr txBox="1"/>
          <p:nvPr/>
        </p:nvSpPr>
        <p:spPr>
          <a:xfrm rot="-1071359">
            <a:off x="6205828" y="3262967"/>
            <a:ext cx="929472" cy="40027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read()</a:t>
            </a:r>
            <a:endParaRPr sz="1400" b="0" i="0" u="none" strike="noStrike" cap="none">
              <a:solidFill>
                <a:schemeClr val="dk1"/>
              </a:solidFill>
              <a:latin typeface="Lato"/>
              <a:ea typeface="Lato"/>
              <a:cs typeface="Lato"/>
              <a:sym typeface="Lato"/>
            </a:endParaRPr>
          </a:p>
        </p:txBody>
      </p:sp>
      <p:sp>
        <p:nvSpPr>
          <p:cNvPr id="630" name="Google Shape;630;p57"/>
          <p:cNvSpPr/>
          <p:nvPr/>
        </p:nvSpPr>
        <p:spPr>
          <a:xfrm>
            <a:off x="769825" y="3895075"/>
            <a:ext cx="1419000" cy="3744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57"/>
          <p:cNvSpPr txBox="1"/>
          <p:nvPr/>
        </p:nvSpPr>
        <p:spPr>
          <a:xfrm>
            <a:off x="951400" y="3573100"/>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success()</a:t>
            </a:r>
            <a:endParaRPr sz="1400" b="0" i="0" u="none" strike="noStrike" cap="none">
              <a:solidFill>
                <a:schemeClr val="dk1"/>
              </a:solidFill>
              <a:latin typeface="Lato"/>
              <a:ea typeface="Lato"/>
              <a:cs typeface="Lato"/>
              <a:sym typeface="Lato"/>
            </a:endParaRPr>
          </a:p>
        </p:txBody>
      </p:sp>
      <p:sp>
        <p:nvSpPr>
          <p:cNvPr id="632" name="Google Shape;632;p57"/>
          <p:cNvSpPr txBox="1"/>
          <p:nvPr/>
        </p:nvSpPr>
        <p:spPr>
          <a:xfrm>
            <a:off x="2247025" y="1056150"/>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Rules Service</a:t>
            </a:r>
            <a:endParaRPr sz="1400" b="0" i="0" u="none" strike="noStrike" cap="none">
              <a:solidFill>
                <a:schemeClr val="l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5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JPA Environment</a:t>
            </a:r>
            <a:endParaRPr/>
          </a:p>
        </p:txBody>
      </p:sp>
      <p:sp>
        <p:nvSpPr>
          <p:cNvPr id="638" name="Google Shape;638;p58"/>
          <p:cNvSpPr/>
          <p:nvPr/>
        </p:nvSpPr>
        <p:spPr>
          <a:xfrm>
            <a:off x="216400" y="1708000"/>
            <a:ext cx="457800" cy="2588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58"/>
          <p:cNvSpPr txBox="1"/>
          <p:nvPr/>
        </p:nvSpPr>
        <p:spPr>
          <a:xfrm rot="-5400000">
            <a:off x="-907250" y="2743900"/>
            <a:ext cx="27051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Controller</a:t>
            </a:r>
            <a:endParaRPr sz="1400" b="0" i="0" u="none" strike="noStrike" cap="none">
              <a:solidFill>
                <a:schemeClr val="lt1"/>
              </a:solidFill>
              <a:latin typeface="Lato"/>
              <a:ea typeface="Lato"/>
              <a:cs typeface="Lato"/>
              <a:sym typeface="Lato"/>
            </a:endParaRPr>
          </a:p>
        </p:txBody>
      </p:sp>
      <p:sp>
        <p:nvSpPr>
          <p:cNvPr id="640" name="Google Shape;640;p58"/>
          <p:cNvSpPr/>
          <p:nvPr/>
        </p:nvSpPr>
        <p:spPr>
          <a:xfrm>
            <a:off x="7831775" y="1874475"/>
            <a:ext cx="565950" cy="524325"/>
          </a:xfrm>
          <a:prstGeom prst="flowChartMagneticDisk">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58"/>
          <p:cNvSpPr/>
          <p:nvPr/>
        </p:nvSpPr>
        <p:spPr>
          <a:xfrm>
            <a:off x="7831775" y="2973075"/>
            <a:ext cx="565950" cy="524325"/>
          </a:xfrm>
          <a:prstGeom prst="flowChartMagneticDisk">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p58"/>
          <p:cNvSpPr txBox="1"/>
          <p:nvPr/>
        </p:nvSpPr>
        <p:spPr>
          <a:xfrm>
            <a:off x="7407325" y="2294750"/>
            <a:ext cx="1489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SubBundle Table</a:t>
            </a:r>
            <a:endParaRPr sz="1400" b="0" i="0" u="none" strike="noStrike" cap="none">
              <a:solidFill>
                <a:schemeClr val="dk1"/>
              </a:solidFill>
              <a:latin typeface="Lato"/>
              <a:ea typeface="Lato"/>
              <a:cs typeface="Lato"/>
              <a:sym typeface="Lato"/>
            </a:endParaRPr>
          </a:p>
        </p:txBody>
      </p:sp>
      <p:sp>
        <p:nvSpPr>
          <p:cNvPr id="643" name="Google Shape;643;p58"/>
          <p:cNvSpPr txBox="1"/>
          <p:nvPr/>
        </p:nvSpPr>
        <p:spPr>
          <a:xfrm>
            <a:off x="7161800" y="3409675"/>
            <a:ext cx="1905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CriteriaObject Table</a:t>
            </a:r>
            <a:endParaRPr sz="1400" b="0" i="0" u="none" strike="noStrike" cap="none">
              <a:solidFill>
                <a:schemeClr val="dk1"/>
              </a:solidFill>
              <a:latin typeface="Lato"/>
              <a:ea typeface="Lato"/>
              <a:cs typeface="Lato"/>
              <a:sym typeface="Lato"/>
            </a:endParaRPr>
          </a:p>
        </p:txBody>
      </p:sp>
      <p:sp>
        <p:nvSpPr>
          <p:cNvPr id="644" name="Google Shape;644;p58"/>
          <p:cNvSpPr/>
          <p:nvPr/>
        </p:nvSpPr>
        <p:spPr>
          <a:xfrm>
            <a:off x="2255475" y="1845400"/>
            <a:ext cx="1281600" cy="2197200"/>
          </a:xfrm>
          <a:prstGeom prst="cube">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58"/>
          <p:cNvSpPr/>
          <p:nvPr/>
        </p:nvSpPr>
        <p:spPr>
          <a:xfrm>
            <a:off x="4952050" y="2365450"/>
            <a:ext cx="1198500" cy="1273500"/>
          </a:xfrm>
          <a:prstGeom prst="cube">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58"/>
          <p:cNvSpPr txBox="1"/>
          <p:nvPr/>
        </p:nvSpPr>
        <p:spPr>
          <a:xfrm>
            <a:off x="1739375" y="2927075"/>
            <a:ext cx="1905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Service</a:t>
            </a:r>
            <a:endParaRPr sz="1400" b="0" i="0" u="none" strike="noStrike" cap="none">
              <a:solidFill>
                <a:schemeClr val="lt1"/>
              </a:solidFill>
              <a:latin typeface="Lato"/>
              <a:ea typeface="Lato"/>
              <a:cs typeface="Lato"/>
              <a:sym typeface="Lato"/>
            </a:endParaRPr>
          </a:p>
        </p:txBody>
      </p:sp>
      <p:sp>
        <p:nvSpPr>
          <p:cNvPr id="647" name="Google Shape;647;p58"/>
          <p:cNvSpPr txBox="1"/>
          <p:nvPr/>
        </p:nvSpPr>
        <p:spPr>
          <a:xfrm>
            <a:off x="4448554" y="2852400"/>
            <a:ext cx="1905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lt1"/>
                </a:solidFill>
                <a:latin typeface="Lato"/>
                <a:ea typeface="Lato"/>
                <a:cs typeface="Lato"/>
                <a:sym typeface="Lato"/>
              </a:rPr>
              <a:t>Repository</a:t>
            </a:r>
            <a:endParaRPr sz="1400" b="0" i="0" u="none" strike="noStrike" cap="none">
              <a:solidFill>
                <a:schemeClr val="lt1"/>
              </a:solidFill>
              <a:latin typeface="Lato"/>
              <a:ea typeface="Lato"/>
              <a:cs typeface="Lato"/>
              <a:sym typeface="Lato"/>
            </a:endParaRPr>
          </a:p>
        </p:txBody>
      </p:sp>
      <p:cxnSp>
        <p:nvCxnSpPr>
          <p:cNvPr id="648" name="Google Shape;648;p58"/>
          <p:cNvCxnSpPr>
            <a:stCxn id="645" idx="5"/>
            <a:endCxn id="642" idx="1"/>
          </p:cNvCxnSpPr>
          <p:nvPr/>
        </p:nvCxnSpPr>
        <p:spPr>
          <a:xfrm rot="10800000" flipH="1">
            <a:off x="6150550" y="2494788"/>
            <a:ext cx="1256700" cy="357600"/>
          </a:xfrm>
          <a:prstGeom prst="straightConnector1">
            <a:avLst/>
          </a:prstGeom>
          <a:noFill/>
          <a:ln w="9525" cap="flat" cmpd="sng">
            <a:solidFill>
              <a:schemeClr val="dk2"/>
            </a:solidFill>
            <a:prstDash val="solid"/>
            <a:round/>
            <a:headEnd type="none" w="sm" len="sm"/>
            <a:tailEnd type="triangle" w="med" len="med"/>
          </a:ln>
        </p:spPr>
      </p:cxnSp>
      <p:cxnSp>
        <p:nvCxnSpPr>
          <p:cNvPr id="649" name="Google Shape;649;p58"/>
          <p:cNvCxnSpPr>
            <a:stCxn id="645" idx="5"/>
            <a:endCxn id="643" idx="1"/>
          </p:cNvCxnSpPr>
          <p:nvPr/>
        </p:nvCxnSpPr>
        <p:spPr>
          <a:xfrm>
            <a:off x="6150550" y="2852388"/>
            <a:ext cx="1011300" cy="757500"/>
          </a:xfrm>
          <a:prstGeom prst="straightConnector1">
            <a:avLst/>
          </a:prstGeom>
          <a:noFill/>
          <a:ln w="9525" cap="flat" cmpd="sng">
            <a:solidFill>
              <a:schemeClr val="dk2"/>
            </a:solidFill>
            <a:prstDash val="solid"/>
            <a:round/>
            <a:headEnd type="none" w="sm" len="sm"/>
            <a:tailEnd type="triangle" w="med" len="med"/>
          </a:ln>
        </p:spPr>
      </p:cxnSp>
      <p:cxnSp>
        <p:nvCxnSpPr>
          <p:cNvPr id="650" name="Google Shape;650;p58"/>
          <p:cNvCxnSpPr/>
          <p:nvPr/>
        </p:nvCxnSpPr>
        <p:spPr>
          <a:xfrm flipH="1">
            <a:off x="3645275" y="3597300"/>
            <a:ext cx="1273500" cy="16800"/>
          </a:xfrm>
          <a:prstGeom prst="straightConnector1">
            <a:avLst/>
          </a:prstGeom>
          <a:noFill/>
          <a:ln w="9525" cap="flat" cmpd="sng">
            <a:solidFill>
              <a:schemeClr val="dk2"/>
            </a:solidFill>
            <a:prstDash val="solid"/>
            <a:round/>
            <a:headEnd type="none" w="sm" len="sm"/>
            <a:tailEnd type="triangle" w="med" len="med"/>
          </a:ln>
        </p:spPr>
      </p:cxnSp>
      <p:cxnSp>
        <p:nvCxnSpPr>
          <p:cNvPr id="651" name="Google Shape;651;p58"/>
          <p:cNvCxnSpPr/>
          <p:nvPr/>
        </p:nvCxnSpPr>
        <p:spPr>
          <a:xfrm>
            <a:off x="732400" y="2482050"/>
            <a:ext cx="1448100" cy="8400"/>
          </a:xfrm>
          <a:prstGeom prst="straightConnector1">
            <a:avLst/>
          </a:prstGeom>
          <a:noFill/>
          <a:ln w="9525" cap="flat" cmpd="sng">
            <a:solidFill>
              <a:schemeClr val="dk2"/>
            </a:solidFill>
            <a:prstDash val="solid"/>
            <a:round/>
            <a:headEnd type="none" w="sm" len="sm"/>
            <a:tailEnd type="triangle" w="med" len="med"/>
          </a:ln>
        </p:spPr>
      </p:cxnSp>
      <p:cxnSp>
        <p:nvCxnSpPr>
          <p:cNvPr id="652" name="Google Shape;652;p58"/>
          <p:cNvCxnSpPr/>
          <p:nvPr/>
        </p:nvCxnSpPr>
        <p:spPr>
          <a:xfrm rot="10800000">
            <a:off x="774175" y="3763900"/>
            <a:ext cx="1406400" cy="16500"/>
          </a:xfrm>
          <a:prstGeom prst="straightConnector1">
            <a:avLst/>
          </a:prstGeom>
          <a:noFill/>
          <a:ln w="9525" cap="flat" cmpd="sng">
            <a:solidFill>
              <a:schemeClr val="dk2"/>
            </a:solidFill>
            <a:prstDash val="solid"/>
            <a:round/>
            <a:headEnd type="none" w="sm" len="sm"/>
            <a:tailEnd type="triangle" w="med" len="med"/>
          </a:ln>
        </p:spPr>
      </p:cxnSp>
      <p:sp>
        <p:nvSpPr>
          <p:cNvPr id="653" name="Google Shape;653;p58"/>
          <p:cNvSpPr txBox="1"/>
          <p:nvPr/>
        </p:nvSpPr>
        <p:spPr>
          <a:xfrm>
            <a:off x="3826050" y="3327275"/>
            <a:ext cx="837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Entity</a:t>
            </a:r>
            <a:endParaRPr sz="1400" b="0" i="0" u="none" strike="noStrike" cap="none">
              <a:solidFill>
                <a:schemeClr val="dk1"/>
              </a:solidFill>
              <a:latin typeface="Lato"/>
              <a:ea typeface="Lato"/>
              <a:cs typeface="Lato"/>
              <a:sym typeface="Lato"/>
            </a:endParaRPr>
          </a:p>
        </p:txBody>
      </p:sp>
      <p:sp>
        <p:nvSpPr>
          <p:cNvPr id="654" name="Google Shape;654;p58"/>
          <p:cNvSpPr txBox="1"/>
          <p:nvPr/>
        </p:nvSpPr>
        <p:spPr>
          <a:xfrm>
            <a:off x="3923600" y="2482050"/>
            <a:ext cx="837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Entity</a:t>
            </a:r>
            <a:endParaRPr sz="1400" b="0" i="0" u="none" strike="noStrike" cap="none">
              <a:solidFill>
                <a:schemeClr val="dk1"/>
              </a:solidFill>
              <a:latin typeface="Lato"/>
              <a:ea typeface="Lato"/>
              <a:cs typeface="Lato"/>
              <a:sym typeface="Lato"/>
            </a:endParaRPr>
          </a:p>
        </p:txBody>
      </p:sp>
      <p:sp>
        <p:nvSpPr>
          <p:cNvPr id="655" name="Google Shape;655;p58"/>
          <p:cNvSpPr txBox="1"/>
          <p:nvPr/>
        </p:nvSpPr>
        <p:spPr>
          <a:xfrm rot="-1138443">
            <a:off x="6394693" y="2377498"/>
            <a:ext cx="836871" cy="400079"/>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Entity</a:t>
            </a:r>
            <a:endParaRPr sz="1400" b="0" i="0" u="none" strike="noStrike" cap="none">
              <a:solidFill>
                <a:schemeClr val="dk1"/>
              </a:solidFill>
              <a:latin typeface="Lato"/>
              <a:ea typeface="Lato"/>
              <a:cs typeface="Lato"/>
              <a:sym typeface="Lato"/>
            </a:endParaRPr>
          </a:p>
        </p:txBody>
      </p:sp>
      <p:sp>
        <p:nvSpPr>
          <p:cNvPr id="656" name="Google Shape;656;p58"/>
          <p:cNvSpPr txBox="1"/>
          <p:nvPr/>
        </p:nvSpPr>
        <p:spPr>
          <a:xfrm rot="2103760">
            <a:off x="6360444" y="3031016"/>
            <a:ext cx="837116" cy="40016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Entity</a:t>
            </a:r>
            <a:endParaRPr sz="1400" b="0" i="0" u="none" strike="noStrike" cap="none">
              <a:solidFill>
                <a:schemeClr val="dk1"/>
              </a:solidFill>
              <a:latin typeface="Lato"/>
              <a:ea typeface="Lato"/>
              <a:cs typeface="Lato"/>
              <a:sym typeface="Lato"/>
            </a:endParaRPr>
          </a:p>
        </p:txBody>
      </p:sp>
      <p:sp>
        <p:nvSpPr>
          <p:cNvPr id="657" name="Google Shape;657;p58"/>
          <p:cNvSpPr txBox="1"/>
          <p:nvPr/>
        </p:nvSpPr>
        <p:spPr>
          <a:xfrm>
            <a:off x="1031938" y="2190750"/>
            <a:ext cx="837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Entity</a:t>
            </a:r>
            <a:endParaRPr sz="1400" b="0" i="0" u="none" strike="noStrike" cap="none">
              <a:solidFill>
                <a:schemeClr val="dk1"/>
              </a:solidFill>
              <a:latin typeface="Lato"/>
              <a:ea typeface="Lato"/>
              <a:cs typeface="Lato"/>
              <a:sym typeface="Lato"/>
            </a:endParaRPr>
          </a:p>
        </p:txBody>
      </p:sp>
      <p:sp>
        <p:nvSpPr>
          <p:cNvPr id="658" name="Google Shape;658;p58"/>
          <p:cNvSpPr txBox="1"/>
          <p:nvPr/>
        </p:nvSpPr>
        <p:spPr>
          <a:xfrm>
            <a:off x="1046325" y="3497400"/>
            <a:ext cx="837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Entity</a:t>
            </a:r>
            <a:endParaRPr sz="1400" b="0" i="0" u="none" strike="noStrike" cap="none">
              <a:solidFill>
                <a:schemeClr val="dk1"/>
              </a:solidFill>
              <a:latin typeface="Lato"/>
              <a:ea typeface="Lato"/>
              <a:cs typeface="Lato"/>
              <a:sym typeface="Lato"/>
            </a:endParaRPr>
          </a:p>
        </p:txBody>
      </p:sp>
      <p:sp>
        <p:nvSpPr>
          <p:cNvPr id="659" name="Google Shape;659;p58"/>
          <p:cNvSpPr txBox="1"/>
          <p:nvPr/>
        </p:nvSpPr>
        <p:spPr>
          <a:xfrm>
            <a:off x="4740450" y="4344150"/>
            <a:ext cx="18678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Persistence Layer</a:t>
            </a:r>
            <a:endParaRPr sz="1400" b="0" i="0" u="none" strike="noStrike" cap="none">
              <a:solidFill>
                <a:schemeClr val="dk1"/>
              </a:solidFill>
              <a:latin typeface="Lato"/>
              <a:ea typeface="Lato"/>
              <a:cs typeface="Lato"/>
              <a:sym typeface="Lato"/>
            </a:endParaRPr>
          </a:p>
        </p:txBody>
      </p:sp>
      <p:sp>
        <p:nvSpPr>
          <p:cNvPr id="660" name="Google Shape;660;p58"/>
          <p:cNvSpPr txBox="1"/>
          <p:nvPr/>
        </p:nvSpPr>
        <p:spPr>
          <a:xfrm>
            <a:off x="0" y="4362300"/>
            <a:ext cx="11355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Web Layer</a:t>
            </a:r>
            <a:endParaRPr sz="1400" b="0" i="0" u="none" strike="noStrike" cap="none">
              <a:solidFill>
                <a:schemeClr val="dk1"/>
              </a:solidFill>
              <a:latin typeface="Lato"/>
              <a:ea typeface="Lato"/>
              <a:cs typeface="Lato"/>
              <a:sym typeface="Lato"/>
            </a:endParaRPr>
          </a:p>
        </p:txBody>
      </p:sp>
      <p:sp>
        <p:nvSpPr>
          <p:cNvPr id="661" name="Google Shape;661;p58"/>
          <p:cNvSpPr txBox="1"/>
          <p:nvPr/>
        </p:nvSpPr>
        <p:spPr>
          <a:xfrm>
            <a:off x="1883325" y="4362300"/>
            <a:ext cx="18678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Application Layer</a:t>
            </a:r>
            <a:endParaRPr sz="1400" b="0" i="0" u="none" strike="noStrike" cap="none">
              <a:solidFill>
                <a:schemeClr val="dk1"/>
              </a:solidFill>
              <a:latin typeface="Lato"/>
              <a:ea typeface="Lato"/>
              <a:cs typeface="Lato"/>
              <a:sym typeface="Lato"/>
            </a:endParaRPr>
          </a:p>
        </p:txBody>
      </p:sp>
      <p:sp>
        <p:nvSpPr>
          <p:cNvPr id="662" name="Google Shape;662;p58"/>
          <p:cNvSpPr txBox="1"/>
          <p:nvPr/>
        </p:nvSpPr>
        <p:spPr>
          <a:xfrm>
            <a:off x="7276575" y="4367150"/>
            <a:ext cx="18678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Data Layer</a:t>
            </a:r>
            <a:endParaRPr sz="1400" b="0" i="0" u="none" strike="noStrike" cap="none">
              <a:solidFill>
                <a:schemeClr val="dk1"/>
              </a:solidFill>
              <a:latin typeface="Lato"/>
              <a:ea typeface="Lato"/>
              <a:cs typeface="Lato"/>
              <a:sym typeface="Lato"/>
            </a:endParaRPr>
          </a:p>
        </p:txBody>
      </p:sp>
      <p:cxnSp>
        <p:nvCxnSpPr>
          <p:cNvPr id="663" name="Google Shape;663;p58"/>
          <p:cNvCxnSpPr/>
          <p:nvPr/>
        </p:nvCxnSpPr>
        <p:spPr>
          <a:xfrm rot="10800000" flipH="1">
            <a:off x="3656175" y="2797475"/>
            <a:ext cx="1252200" cy="144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5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Project Object Models</a:t>
            </a:r>
            <a:endParaRPr/>
          </a:p>
        </p:txBody>
      </p:sp>
      <p:sp>
        <p:nvSpPr>
          <p:cNvPr id="669" name="Google Shape;669;p5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fontScale="92500"/>
          </a:bodyPr>
          <a:lstStyle/>
          <a:p>
            <a:pPr marL="0" lvl="0" indent="0" algn="l" rtl="0">
              <a:lnSpc>
                <a:spcPct val="115000"/>
              </a:lnSpc>
              <a:spcBef>
                <a:spcPts val="0"/>
              </a:spcBef>
              <a:spcAft>
                <a:spcPts val="0"/>
              </a:spcAft>
              <a:buSzPct val="108108"/>
              <a:buNone/>
            </a:pPr>
            <a:r>
              <a:rPr lang="en" i="1"/>
              <a:t>Spring-boot-starter-web</a:t>
            </a:r>
            <a:endParaRPr/>
          </a:p>
          <a:p>
            <a:pPr marL="457200" lvl="0" indent="-342900" algn="l" rtl="0">
              <a:lnSpc>
                <a:spcPct val="115000"/>
              </a:lnSpc>
              <a:spcBef>
                <a:spcPts val="1200"/>
              </a:spcBef>
              <a:spcAft>
                <a:spcPts val="0"/>
              </a:spcAft>
              <a:buSzPct val="108108"/>
              <a:buChar char="●"/>
            </a:pPr>
            <a:r>
              <a:rPr lang="en"/>
              <a:t>Provides essential libraries and dependencies for building web applications</a:t>
            </a:r>
            <a:endParaRPr/>
          </a:p>
          <a:p>
            <a:pPr marL="457200" lvl="0" indent="-342900" algn="l" rtl="0">
              <a:lnSpc>
                <a:spcPct val="115000"/>
              </a:lnSpc>
              <a:spcBef>
                <a:spcPts val="0"/>
              </a:spcBef>
              <a:spcAft>
                <a:spcPts val="0"/>
              </a:spcAft>
              <a:buSzPct val="108108"/>
              <a:buChar char="●"/>
            </a:pPr>
            <a:r>
              <a:rPr lang="en"/>
              <a:t>Embedded web server support: Tomcat</a:t>
            </a:r>
            <a:endParaRPr/>
          </a:p>
          <a:p>
            <a:pPr marL="457200" lvl="0" indent="-342900" algn="l" rtl="0">
              <a:lnSpc>
                <a:spcPct val="115000"/>
              </a:lnSpc>
              <a:spcBef>
                <a:spcPts val="0"/>
              </a:spcBef>
              <a:spcAft>
                <a:spcPts val="0"/>
              </a:spcAft>
              <a:buSzPct val="108108"/>
              <a:buChar char="●"/>
            </a:pPr>
            <a:r>
              <a:rPr lang="en"/>
              <a:t>Autoconfigures web components</a:t>
            </a:r>
            <a:endParaRPr/>
          </a:p>
          <a:p>
            <a:pPr marL="0" lvl="0" indent="0" algn="l" rtl="0">
              <a:lnSpc>
                <a:spcPct val="115000"/>
              </a:lnSpc>
              <a:spcBef>
                <a:spcPts val="1200"/>
              </a:spcBef>
              <a:spcAft>
                <a:spcPts val="0"/>
              </a:spcAft>
              <a:buSzPct val="108108"/>
              <a:buNone/>
            </a:pPr>
            <a:br>
              <a:rPr lang="en"/>
            </a:br>
            <a:r>
              <a:rPr lang="en" i="1"/>
              <a:t>Java-jwt</a:t>
            </a:r>
            <a:endParaRPr/>
          </a:p>
          <a:p>
            <a:pPr marL="457200" lvl="0" indent="-342900" algn="l" rtl="0">
              <a:lnSpc>
                <a:spcPct val="115000"/>
              </a:lnSpc>
              <a:spcBef>
                <a:spcPts val="1200"/>
              </a:spcBef>
              <a:spcAft>
                <a:spcPts val="0"/>
              </a:spcAft>
              <a:buSzPct val="108108"/>
              <a:buChar char="●"/>
            </a:pPr>
            <a:r>
              <a:rPr lang="en"/>
              <a:t>Java JSON web token</a:t>
            </a:r>
            <a:endParaRPr/>
          </a:p>
          <a:p>
            <a:pPr marL="457200" lvl="0" indent="-342900" algn="l" rtl="0">
              <a:lnSpc>
                <a:spcPct val="115000"/>
              </a:lnSpc>
              <a:spcBef>
                <a:spcPts val="0"/>
              </a:spcBef>
              <a:spcAft>
                <a:spcPts val="0"/>
              </a:spcAft>
              <a:buSzPct val="108108"/>
              <a:buChar char="●"/>
            </a:pPr>
            <a:r>
              <a:rPr lang="en"/>
              <a:t>Used to securely transmit information between parties as JSON target</a:t>
            </a:r>
            <a:endParaRPr/>
          </a:p>
          <a:p>
            <a:pPr marL="457200" lvl="0" indent="-342900" algn="l" rtl="0">
              <a:lnSpc>
                <a:spcPct val="115000"/>
              </a:lnSpc>
              <a:spcBef>
                <a:spcPts val="0"/>
              </a:spcBef>
              <a:spcAft>
                <a:spcPts val="0"/>
              </a:spcAft>
              <a:buSzPct val="108108"/>
              <a:buChar char="●"/>
            </a:pPr>
            <a:r>
              <a:rPr lang="en"/>
              <a:t>Simple way to generate and verify JWT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6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JWT</a:t>
            </a:r>
            <a:endParaRPr/>
          </a:p>
        </p:txBody>
      </p:sp>
      <p:sp>
        <p:nvSpPr>
          <p:cNvPr id="675" name="Google Shape;675;p60"/>
          <p:cNvSpPr txBox="1">
            <a:spLocks noGrp="1"/>
          </p:cNvSpPr>
          <p:nvPr>
            <p:ph type="body" idx="1"/>
          </p:nvPr>
        </p:nvSpPr>
        <p:spPr>
          <a:xfrm>
            <a:off x="1297500" y="1043200"/>
            <a:ext cx="7038900" cy="1337100"/>
          </a:xfrm>
          <a:prstGeom prst="rect">
            <a:avLst/>
          </a:prstGeom>
          <a:noFill/>
          <a:ln>
            <a:noFill/>
          </a:ln>
        </p:spPr>
        <p:txBody>
          <a:bodyPr spcFirstLastPara="1" wrap="square" lIns="91425" tIns="91425" rIns="91425" bIns="91425" anchor="t" anchorCtr="0">
            <a:normAutofit fontScale="62500"/>
          </a:bodyPr>
          <a:lstStyle/>
          <a:p>
            <a:pPr marL="0" lvl="0" indent="0" algn="l" rtl="0">
              <a:lnSpc>
                <a:spcPct val="115000"/>
              </a:lnSpc>
              <a:spcBef>
                <a:spcPts val="0"/>
              </a:spcBef>
              <a:spcAft>
                <a:spcPts val="0"/>
              </a:spcAft>
              <a:buSzPct val="142857"/>
              <a:buNone/>
            </a:pPr>
            <a:r>
              <a:rPr lang="en"/>
              <a:t>Java web tokenization is implemented into all application endpoints.</a:t>
            </a:r>
            <a:endParaRPr/>
          </a:p>
          <a:p>
            <a:pPr marL="0" lvl="0" indent="0" algn="l" rtl="0">
              <a:lnSpc>
                <a:spcPct val="115000"/>
              </a:lnSpc>
              <a:spcBef>
                <a:spcPts val="1200"/>
              </a:spcBef>
              <a:spcAft>
                <a:spcPts val="0"/>
              </a:spcAft>
              <a:buSzPct val="142857"/>
              <a:buNone/>
            </a:pPr>
            <a:r>
              <a:rPr lang="en"/>
              <a:t>Methods are defined in the JwtUtils Service:</a:t>
            </a:r>
            <a:endParaRPr/>
          </a:p>
          <a:p>
            <a:pPr marL="457200" lvl="0" indent="-291464" algn="l" rtl="0">
              <a:lnSpc>
                <a:spcPct val="115000"/>
              </a:lnSpc>
              <a:spcBef>
                <a:spcPts val="1200"/>
              </a:spcBef>
              <a:spcAft>
                <a:spcPts val="0"/>
              </a:spcAft>
              <a:buSzPct val="100000"/>
              <a:buChar char="●"/>
            </a:pPr>
            <a:r>
              <a:rPr lang="en" u="sng"/>
              <a:t>encodeJWT:</a:t>
            </a:r>
            <a:r>
              <a:rPr lang="en"/>
              <a:t> Creates a token utilizing the HMAC256 algorithm based on the system time and the username passed to the method.  Returns the token in the following format:</a:t>
            </a:r>
            <a:endParaRPr/>
          </a:p>
        </p:txBody>
      </p:sp>
      <p:sp>
        <p:nvSpPr>
          <p:cNvPr id="676" name="Google Shape;676;p60"/>
          <p:cNvSpPr txBox="1"/>
          <p:nvPr/>
        </p:nvSpPr>
        <p:spPr>
          <a:xfrm>
            <a:off x="241350" y="2494050"/>
            <a:ext cx="88056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FFFFFF"/>
                </a:solidFill>
                <a:highlight>
                  <a:srgbClr val="212121"/>
                </a:highlight>
                <a:latin typeface="Arial"/>
                <a:ea typeface="Arial"/>
                <a:cs typeface="Arial"/>
                <a:sym typeface="Arial"/>
              </a:rPr>
              <a:t>eyJ0eXAiOiJKV1QiLCJhbGciOiJIUzI1NiJ9.eyJzdWIiOiJicmFuZHQiLCJleHAiOjE2ODI2MjEyMTAsImlhdCI6MTY4MjYyMDYxMH0.fXYd2xC2C07mJxhd_2WCzq_eT-g21PykH02dYS3-h6U</a:t>
            </a:r>
            <a:endParaRPr sz="1300" b="0" i="0" u="none" strike="noStrike" cap="none">
              <a:solidFill>
                <a:srgbClr val="000000"/>
              </a:solidFill>
              <a:latin typeface="Lato"/>
              <a:ea typeface="Lato"/>
              <a:cs typeface="Lato"/>
              <a:sym typeface="Lato"/>
            </a:endParaRPr>
          </a:p>
        </p:txBody>
      </p:sp>
      <p:sp>
        <p:nvSpPr>
          <p:cNvPr id="677" name="Google Shape;677;p60"/>
          <p:cNvSpPr txBox="1">
            <a:spLocks noGrp="1"/>
          </p:cNvSpPr>
          <p:nvPr>
            <p:ph type="body" idx="1"/>
          </p:nvPr>
        </p:nvSpPr>
        <p:spPr>
          <a:xfrm>
            <a:off x="1297500" y="3501000"/>
            <a:ext cx="7038900" cy="1337100"/>
          </a:xfrm>
          <a:prstGeom prst="rect">
            <a:avLst/>
          </a:prstGeom>
          <a:noFill/>
          <a:ln>
            <a:noFill/>
          </a:ln>
        </p:spPr>
        <p:txBody>
          <a:bodyPr spcFirstLastPara="1" wrap="square" lIns="91425" tIns="91425" rIns="91425" bIns="91425" anchor="t" anchorCtr="0">
            <a:normAutofit fontScale="70000" lnSpcReduction="20000"/>
          </a:bodyPr>
          <a:lstStyle/>
          <a:p>
            <a:pPr marL="457200" lvl="0" indent="-308610" algn="l" rtl="0">
              <a:lnSpc>
                <a:spcPct val="115000"/>
              </a:lnSpc>
              <a:spcBef>
                <a:spcPts val="0"/>
              </a:spcBef>
              <a:spcAft>
                <a:spcPts val="0"/>
              </a:spcAft>
              <a:buSzPct val="100000"/>
              <a:buChar char="●"/>
            </a:pPr>
            <a:r>
              <a:rPr lang="en" u="sng"/>
              <a:t>decodeJWT:</a:t>
            </a:r>
            <a:r>
              <a:rPr lang="en"/>
              <a:t> Decodes the token, and returns the username of the token</a:t>
            </a:r>
            <a:br>
              <a:rPr lang="en"/>
            </a:br>
            <a:endParaRPr/>
          </a:p>
          <a:p>
            <a:pPr marL="457200" lvl="0" indent="-308610" algn="l" rtl="0">
              <a:lnSpc>
                <a:spcPct val="115000"/>
              </a:lnSpc>
              <a:spcBef>
                <a:spcPts val="0"/>
              </a:spcBef>
              <a:spcAft>
                <a:spcPts val="0"/>
              </a:spcAft>
              <a:buSzPct val="100000"/>
              <a:buChar char="●"/>
            </a:pPr>
            <a:r>
              <a:rPr lang="en" u="sng"/>
              <a:t>checkAUthorization:</a:t>
            </a:r>
            <a:r>
              <a:rPr lang="en"/>
              <a:t> Function implemented for each endpoint to ensure that the passed token is a valid, and that it has the appropriate security clearance for the username’s role.  Returns the 0 if invalid, 1 if it is valid as a nurse, 2 if it is valid as admin</a:t>
            </a:r>
            <a:endParaRPr/>
          </a:p>
        </p:txBody>
      </p:sp>
      <p:sp>
        <p:nvSpPr>
          <p:cNvPr id="678" name="Google Shape;678;p60"/>
          <p:cNvSpPr txBox="1"/>
          <p:nvPr/>
        </p:nvSpPr>
        <p:spPr>
          <a:xfrm>
            <a:off x="782300" y="2941663"/>
            <a:ext cx="873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Header</a:t>
            </a:r>
            <a:endParaRPr sz="1400" b="0" i="0" u="none" strike="noStrike" cap="none">
              <a:solidFill>
                <a:schemeClr val="dk1"/>
              </a:solidFill>
              <a:latin typeface="Lato"/>
              <a:ea typeface="Lato"/>
              <a:cs typeface="Lato"/>
              <a:sym typeface="Lato"/>
            </a:endParaRPr>
          </a:p>
        </p:txBody>
      </p:sp>
      <p:sp>
        <p:nvSpPr>
          <p:cNvPr id="679" name="Google Shape;679;p60"/>
          <p:cNvSpPr txBox="1"/>
          <p:nvPr/>
        </p:nvSpPr>
        <p:spPr>
          <a:xfrm>
            <a:off x="4030825" y="2941675"/>
            <a:ext cx="8739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Payload</a:t>
            </a:r>
            <a:endParaRPr sz="1400" b="0" i="0" u="none" strike="noStrike" cap="none">
              <a:solidFill>
                <a:schemeClr val="dk1"/>
              </a:solidFill>
              <a:latin typeface="Lato"/>
              <a:ea typeface="Lato"/>
              <a:cs typeface="Lato"/>
              <a:sym typeface="Lato"/>
            </a:endParaRPr>
          </a:p>
        </p:txBody>
      </p:sp>
      <p:sp>
        <p:nvSpPr>
          <p:cNvPr id="680" name="Google Shape;680;p60"/>
          <p:cNvSpPr txBox="1"/>
          <p:nvPr/>
        </p:nvSpPr>
        <p:spPr>
          <a:xfrm>
            <a:off x="6921425" y="2941675"/>
            <a:ext cx="1002000" cy="400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Lato"/>
                <a:ea typeface="Lato"/>
                <a:cs typeface="Lato"/>
                <a:sym typeface="Lato"/>
              </a:rPr>
              <a:t>Signature</a:t>
            </a:r>
            <a:endParaRPr sz="1400" b="0" i="0" u="none" strike="noStrike" cap="none">
              <a:solidFill>
                <a:schemeClr val="dk1"/>
              </a:solidFill>
              <a:latin typeface="Lato"/>
              <a:ea typeface="Lato"/>
              <a:cs typeface="Lato"/>
              <a:sym typeface="Lato"/>
            </a:endParaRPr>
          </a:p>
        </p:txBody>
      </p:sp>
      <p:cxnSp>
        <p:nvCxnSpPr>
          <p:cNvPr id="681" name="Google Shape;681;p60"/>
          <p:cNvCxnSpPr>
            <a:stCxn id="678" idx="0"/>
          </p:cNvCxnSpPr>
          <p:nvPr/>
        </p:nvCxnSpPr>
        <p:spPr>
          <a:xfrm rot="10800000">
            <a:off x="366350" y="2772763"/>
            <a:ext cx="852900" cy="168900"/>
          </a:xfrm>
          <a:prstGeom prst="straightConnector1">
            <a:avLst/>
          </a:prstGeom>
          <a:noFill/>
          <a:ln w="9525" cap="flat" cmpd="sng">
            <a:solidFill>
              <a:schemeClr val="dk2"/>
            </a:solidFill>
            <a:prstDash val="solid"/>
            <a:round/>
            <a:headEnd type="none" w="sm" len="sm"/>
            <a:tailEnd type="triangle" w="med" len="med"/>
          </a:ln>
        </p:spPr>
      </p:cxnSp>
      <p:cxnSp>
        <p:nvCxnSpPr>
          <p:cNvPr id="682" name="Google Shape;682;p60"/>
          <p:cNvCxnSpPr>
            <a:stCxn id="678" idx="0"/>
          </p:cNvCxnSpPr>
          <p:nvPr/>
        </p:nvCxnSpPr>
        <p:spPr>
          <a:xfrm rot="10800000" flipH="1">
            <a:off x="1219250" y="2739463"/>
            <a:ext cx="978000" cy="202200"/>
          </a:xfrm>
          <a:prstGeom prst="straightConnector1">
            <a:avLst/>
          </a:prstGeom>
          <a:noFill/>
          <a:ln w="9525" cap="flat" cmpd="sng">
            <a:solidFill>
              <a:schemeClr val="dk2"/>
            </a:solidFill>
            <a:prstDash val="solid"/>
            <a:round/>
            <a:headEnd type="none" w="sm" len="sm"/>
            <a:tailEnd type="triangle" w="med" len="med"/>
          </a:ln>
        </p:spPr>
      </p:cxnSp>
      <p:cxnSp>
        <p:nvCxnSpPr>
          <p:cNvPr id="683" name="Google Shape;683;p60"/>
          <p:cNvCxnSpPr>
            <a:stCxn id="679" idx="0"/>
          </p:cNvCxnSpPr>
          <p:nvPr/>
        </p:nvCxnSpPr>
        <p:spPr>
          <a:xfrm rot="10800000">
            <a:off x="2330275" y="2739475"/>
            <a:ext cx="2137500" cy="202200"/>
          </a:xfrm>
          <a:prstGeom prst="straightConnector1">
            <a:avLst/>
          </a:prstGeom>
          <a:noFill/>
          <a:ln w="9525" cap="flat" cmpd="sng">
            <a:solidFill>
              <a:schemeClr val="dk2"/>
            </a:solidFill>
            <a:prstDash val="solid"/>
            <a:round/>
            <a:headEnd type="none" w="sm" len="sm"/>
            <a:tailEnd type="triangle" w="med" len="med"/>
          </a:ln>
        </p:spPr>
      </p:cxnSp>
      <p:cxnSp>
        <p:nvCxnSpPr>
          <p:cNvPr id="684" name="Google Shape;684;p60"/>
          <p:cNvCxnSpPr>
            <a:stCxn id="679" idx="0"/>
          </p:cNvCxnSpPr>
          <p:nvPr/>
        </p:nvCxnSpPr>
        <p:spPr>
          <a:xfrm rot="10800000" flipH="1">
            <a:off x="4467775" y="2747875"/>
            <a:ext cx="1616100" cy="193800"/>
          </a:xfrm>
          <a:prstGeom prst="straightConnector1">
            <a:avLst/>
          </a:prstGeom>
          <a:noFill/>
          <a:ln w="9525" cap="flat" cmpd="sng">
            <a:solidFill>
              <a:schemeClr val="dk2"/>
            </a:solidFill>
            <a:prstDash val="solid"/>
            <a:round/>
            <a:headEnd type="none" w="sm" len="sm"/>
            <a:tailEnd type="triangle" w="med" len="med"/>
          </a:ln>
        </p:spPr>
      </p:cxnSp>
      <p:cxnSp>
        <p:nvCxnSpPr>
          <p:cNvPr id="685" name="Google Shape;685;p60"/>
          <p:cNvCxnSpPr>
            <a:stCxn id="680" idx="0"/>
          </p:cNvCxnSpPr>
          <p:nvPr/>
        </p:nvCxnSpPr>
        <p:spPr>
          <a:xfrm rot="10800000">
            <a:off x="6200525" y="2764375"/>
            <a:ext cx="1221900" cy="177300"/>
          </a:xfrm>
          <a:prstGeom prst="straightConnector1">
            <a:avLst/>
          </a:prstGeom>
          <a:noFill/>
          <a:ln w="9525" cap="flat" cmpd="sng">
            <a:solidFill>
              <a:schemeClr val="dk2"/>
            </a:solidFill>
            <a:prstDash val="solid"/>
            <a:round/>
            <a:headEnd type="none" w="sm" len="sm"/>
            <a:tailEnd type="triangle" w="med" len="med"/>
          </a:ln>
        </p:spPr>
      </p:cxnSp>
      <p:cxnSp>
        <p:nvCxnSpPr>
          <p:cNvPr id="686" name="Google Shape;686;p60"/>
          <p:cNvCxnSpPr>
            <a:stCxn id="680" idx="0"/>
          </p:cNvCxnSpPr>
          <p:nvPr/>
        </p:nvCxnSpPr>
        <p:spPr>
          <a:xfrm rot="10800000" flipH="1">
            <a:off x="7422425" y="2731075"/>
            <a:ext cx="1191600" cy="21060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61"/>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UI System - Frontend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React JS</a:t>
            </a:r>
            <a:endParaRPr/>
          </a:p>
        </p:txBody>
      </p:sp>
      <p:sp>
        <p:nvSpPr>
          <p:cNvPr id="697" name="Google Shape;697;p62"/>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Open-source Component architecture based web UI library</a:t>
            </a:r>
            <a:endParaRPr/>
          </a:p>
          <a:p>
            <a:pPr marL="457200" lvl="0" indent="0" algn="l" rtl="0">
              <a:lnSpc>
                <a:spcPct val="115000"/>
              </a:lnSpc>
              <a:spcBef>
                <a:spcPts val="0"/>
              </a:spcBef>
              <a:spcAft>
                <a:spcPts val="0"/>
              </a:spcAft>
              <a:buNone/>
            </a:pPr>
            <a:endParaRPr/>
          </a:p>
          <a:p>
            <a:pPr marL="457200" lvl="0" indent="-342900" algn="l" rtl="0">
              <a:lnSpc>
                <a:spcPct val="115000"/>
              </a:lnSpc>
              <a:spcBef>
                <a:spcPts val="0"/>
              </a:spcBef>
              <a:spcAft>
                <a:spcPts val="0"/>
              </a:spcAft>
              <a:buSzPts val="1800"/>
              <a:buChar char="●"/>
            </a:pPr>
            <a:r>
              <a:rPr lang="en"/>
              <a:t>Created by Facebook and used in many of their products</a:t>
            </a:r>
            <a:br>
              <a:rPr lang="en"/>
            </a:br>
            <a:endParaRPr/>
          </a:p>
          <a:p>
            <a:pPr marL="457200" lvl="0" indent="-342900" algn="l" rtl="0">
              <a:lnSpc>
                <a:spcPct val="115000"/>
              </a:lnSpc>
              <a:spcBef>
                <a:spcPts val="0"/>
              </a:spcBef>
              <a:spcAft>
                <a:spcPts val="0"/>
              </a:spcAft>
              <a:buSzPts val="1800"/>
              <a:buChar char="●"/>
            </a:pPr>
            <a:r>
              <a:rPr lang="en"/>
              <a:t>Companies like Airbnb, Uber, Netflix, Atlassian, Dropbox, among others.</a:t>
            </a:r>
            <a:br>
              <a:rPr lang="en"/>
            </a:br>
            <a:endParaRPr/>
          </a:p>
          <a:p>
            <a:pPr marL="457200" lvl="0" indent="-342900" algn="l" rtl="0">
              <a:lnSpc>
                <a:spcPct val="115000"/>
              </a:lnSpc>
              <a:spcBef>
                <a:spcPts val="0"/>
              </a:spcBef>
              <a:spcAft>
                <a:spcPts val="0"/>
              </a:spcAft>
              <a:buSzPts val="1800"/>
              <a:buChar char="●"/>
            </a:pPr>
            <a:r>
              <a:rPr lang="en"/>
              <a:t>Uses functional programming paradigm (for state control)</a:t>
            </a:r>
            <a:br>
              <a:rPr lang="en"/>
            </a:br>
            <a:endParaRPr/>
          </a:p>
          <a:p>
            <a:pPr marL="457200" lvl="0" indent="-342900" algn="l" rtl="0">
              <a:lnSpc>
                <a:spcPct val="115000"/>
              </a:lnSpc>
              <a:spcBef>
                <a:spcPts val="0"/>
              </a:spcBef>
              <a:spcAft>
                <a:spcPts val="0"/>
              </a:spcAft>
              <a:buSzPts val="1800"/>
              <a:buChar char="●"/>
            </a:pPr>
            <a:r>
              <a:rPr lang="en"/>
              <a:t>Large community resources and addon libraries for almost any need.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63"/>
          <p:cNvPicPr preferRelativeResize="0"/>
          <p:nvPr/>
        </p:nvPicPr>
        <p:blipFill>
          <a:blip r:embed="rId3">
            <a:alphaModFix/>
          </a:blip>
          <a:stretch>
            <a:fillRect/>
          </a:stretch>
        </p:blipFill>
        <p:spPr>
          <a:xfrm>
            <a:off x="845750" y="1191975"/>
            <a:ext cx="7617799" cy="2463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6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Virtual DOM - The big advantage of React</a:t>
            </a:r>
            <a:endParaRPr/>
          </a:p>
        </p:txBody>
      </p:sp>
      <p:pic>
        <p:nvPicPr>
          <p:cNvPr id="708" name="Google Shape;708;p64"/>
          <p:cNvPicPr preferRelativeResize="0"/>
          <p:nvPr/>
        </p:nvPicPr>
        <p:blipFill>
          <a:blip r:embed="rId3">
            <a:alphaModFix/>
          </a:blip>
          <a:stretch>
            <a:fillRect/>
          </a:stretch>
        </p:blipFill>
        <p:spPr>
          <a:xfrm>
            <a:off x="1928725" y="1306275"/>
            <a:ext cx="5286550" cy="3537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6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Project structure</a:t>
            </a:r>
            <a:endParaRPr/>
          </a:p>
        </p:txBody>
      </p:sp>
      <p:pic>
        <p:nvPicPr>
          <p:cNvPr id="714" name="Google Shape;714;p65"/>
          <p:cNvPicPr preferRelativeResize="0"/>
          <p:nvPr/>
        </p:nvPicPr>
        <p:blipFill rotWithShape="1">
          <a:blip r:embed="rId3">
            <a:alphaModFix/>
          </a:blip>
          <a:srcRect b="47531"/>
          <a:stretch/>
        </p:blipFill>
        <p:spPr>
          <a:xfrm>
            <a:off x="311700" y="1446713"/>
            <a:ext cx="1674650" cy="2698715"/>
          </a:xfrm>
          <a:prstGeom prst="rect">
            <a:avLst/>
          </a:prstGeom>
          <a:noFill/>
          <a:ln>
            <a:noFill/>
          </a:ln>
        </p:spPr>
      </p:pic>
      <p:pic>
        <p:nvPicPr>
          <p:cNvPr id="715" name="Google Shape;715;p65"/>
          <p:cNvPicPr preferRelativeResize="0"/>
          <p:nvPr/>
        </p:nvPicPr>
        <p:blipFill rotWithShape="1">
          <a:blip r:embed="rId3">
            <a:alphaModFix/>
          </a:blip>
          <a:srcRect t="47737"/>
          <a:stretch/>
        </p:blipFill>
        <p:spPr>
          <a:xfrm>
            <a:off x="2081425" y="1452025"/>
            <a:ext cx="1674650" cy="2688100"/>
          </a:xfrm>
          <a:prstGeom prst="rect">
            <a:avLst/>
          </a:prstGeom>
          <a:noFill/>
          <a:ln>
            <a:noFill/>
          </a:ln>
        </p:spPr>
      </p:pic>
      <p:pic>
        <p:nvPicPr>
          <p:cNvPr id="716" name="Google Shape;716;p65"/>
          <p:cNvPicPr preferRelativeResize="0"/>
          <p:nvPr/>
        </p:nvPicPr>
        <p:blipFill rotWithShape="1">
          <a:blip r:embed="rId4">
            <a:alphaModFix/>
          </a:blip>
          <a:srcRect b="50000"/>
          <a:stretch/>
        </p:blipFill>
        <p:spPr>
          <a:xfrm>
            <a:off x="4185475" y="1509700"/>
            <a:ext cx="2144400" cy="2570975"/>
          </a:xfrm>
          <a:prstGeom prst="rect">
            <a:avLst/>
          </a:prstGeom>
          <a:noFill/>
          <a:ln>
            <a:noFill/>
          </a:ln>
        </p:spPr>
      </p:pic>
      <p:pic>
        <p:nvPicPr>
          <p:cNvPr id="717" name="Google Shape;717;p65"/>
          <p:cNvPicPr preferRelativeResize="0"/>
          <p:nvPr/>
        </p:nvPicPr>
        <p:blipFill rotWithShape="1">
          <a:blip r:embed="rId4">
            <a:alphaModFix/>
          </a:blip>
          <a:srcRect t="50000"/>
          <a:stretch/>
        </p:blipFill>
        <p:spPr>
          <a:xfrm>
            <a:off x="6432475" y="1509703"/>
            <a:ext cx="2144400" cy="25709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6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API Services</a:t>
            </a:r>
            <a:endParaRPr/>
          </a:p>
        </p:txBody>
      </p:sp>
      <p:sp>
        <p:nvSpPr>
          <p:cNvPr id="723" name="Google Shape;723;p6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Configures an HTTP client using the ‘</a:t>
            </a:r>
            <a:r>
              <a:rPr lang="en" i="1"/>
              <a:t>apisauce</a:t>
            </a:r>
            <a:r>
              <a:rPr lang="en"/>
              <a:t>’ library. This is used in making requests to an API server to handle authentication, headers and endpoint configuration</a:t>
            </a:r>
            <a:endParaRPr/>
          </a:p>
          <a:p>
            <a:pPr marL="457200" lvl="0" indent="-342900" algn="l" rtl="0">
              <a:spcBef>
                <a:spcPts val="0"/>
              </a:spcBef>
              <a:spcAft>
                <a:spcPts val="0"/>
              </a:spcAft>
              <a:buSzPts val="1800"/>
              <a:buChar char="●"/>
            </a:pPr>
            <a:r>
              <a:rPr lang="en"/>
              <a:t>Import the endpoints and apiUrl string from another module that contains the API’s endpoint path and baseURL	</a:t>
            </a:r>
            <a:endParaRPr/>
          </a:p>
          <a:p>
            <a:pPr marL="457200" lvl="0" indent="-342900" algn="l" rtl="0">
              <a:spcBef>
                <a:spcPts val="0"/>
              </a:spcBef>
              <a:spcAft>
                <a:spcPts val="0"/>
              </a:spcAft>
              <a:buSzPts val="1800"/>
              <a:buChar char="●"/>
            </a:pPr>
            <a:r>
              <a:rPr lang="en"/>
              <a:t>Headers is defined with three properties:</a:t>
            </a:r>
            <a:endParaRPr/>
          </a:p>
          <a:p>
            <a:pPr marL="914400" lvl="1" indent="-317500" algn="l" rtl="0">
              <a:spcBef>
                <a:spcPts val="0"/>
              </a:spcBef>
              <a:spcAft>
                <a:spcPts val="0"/>
              </a:spcAft>
              <a:buSzPts val="1400"/>
              <a:buChar char="○"/>
            </a:pPr>
            <a:r>
              <a:rPr lang="en"/>
              <a:t>Accept</a:t>
            </a:r>
            <a:endParaRPr/>
          </a:p>
          <a:p>
            <a:pPr marL="914400" lvl="1" indent="-317500" algn="l" rtl="0">
              <a:spcBef>
                <a:spcPts val="0"/>
              </a:spcBef>
              <a:spcAft>
                <a:spcPts val="0"/>
              </a:spcAft>
              <a:buSzPts val="1400"/>
              <a:buChar char="○"/>
            </a:pPr>
            <a:r>
              <a:rPr lang="en"/>
              <a:t>Content type </a:t>
            </a:r>
            <a:endParaRPr/>
          </a:p>
          <a:p>
            <a:pPr marL="914400" lvl="1" indent="-317500" algn="l" rtl="0">
              <a:spcBef>
                <a:spcPts val="0"/>
              </a:spcBef>
              <a:spcAft>
                <a:spcPts val="0"/>
              </a:spcAft>
              <a:buSzPts val="1400"/>
              <a:buChar char="○"/>
            </a:pPr>
            <a:r>
              <a:rPr lang="en"/>
              <a:t>Authorization</a:t>
            </a:r>
            <a:endParaRPr/>
          </a:p>
          <a:p>
            <a:pPr marL="457200" lvl="0" indent="-342900" algn="l" rtl="0">
              <a:spcBef>
                <a:spcPts val="0"/>
              </a:spcBef>
              <a:spcAft>
                <a:spcPts val="0"/>
              </a:spcAft>
              <a:buSzPts val="1800"/>
              <a:buChar char="●"/>
            </a:pPr>
            <a:r>
              <a:rPr lang="en"/>
              <a:t>The HTTP client instance is created</a:t>
            </a:r>
            <a:endParaRPr/>
          </a:p>
        </p:txBody>
      </p:sp>
      <p:pic>
        <p:nvPicPr>
          <p:cNvPr id="724" name="Google Shape;724;p66"/>
          <p:cNvPicPr preferRelativeResize="0"/>
          <p:nvPr/>
        </p:nvPicPr>
        <p:blipFill>
          <a:blip r:embed="rId3">
            <a:alphaModFix/>
          </a:blip>
          <a:stretch>
            <a:fillRect/>
          </a:stretch>
        </p:blipFill>
        <p:spPr>
          <a:xfrm>
            <a:off x="5492300" y="2909899"/>
            <a:ext cx="3339999" cy="1897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6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API Services</a:t>
            </a:r>
            <a:endParaRPr/>
          </a:p>
        </p:txBody>
      </p:sp>
      <p:sp>
        <p:nvSpPr>
          <p:cNvPr id="730" name="Google Shape;730;p6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Creates a series of functions that perform specific API requests</a:t>
            </a:r>
            <a:endParaRPr/>
          </a:p>
          <a:p>
            <a:pPr marL="457200" lvl="0" indent="-342900" algn="l" rtl="0">
              <a:spcBef>
                <a:spcPts val="0"/>
              </a:spcBef>
              <a:spcAft>
                <a:spcPts val="0"/>
              </a:spcAft>
              <a:buSzPts val="1800"/>
              <a:buChar char="●"/>
            </a:pPr>
            <a:r>
              <a:rPr lang="en"/>
              <a:t>‘</a:t>
            </a:r>
            <a:r>
              <a:rPr lang="en" i="1"/>
              <a:t>getAuthorizationHeader</a:t>
            </a:r>
            <a:r>
              <a:rPr lang="en"/>
              <a:t>’ takes the authToken as an argument and returns the object containing the Authorization header.</a:t>
            </a:r>
            <a:endParaRPr/>
          </a:p>
          <a:p>
            <a:pPr marL="45720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731" name="Google Shape;731;p67"/>
          <p:cNvPicPr preferRelativeResize="0"/>
          <p:nvPr/>
        </p:nvPicPr>
        <p:blipFill>
          <a:blip r:embed="rId3">
            <a:alphaModFix/>
          </a:blip>
          <a:stretch>
            <a:fillRect/>
          </a:stretch>
        </p:blipFill>
        <p:spPr>
          <a:xfrm>
            <a:off x="641300" y="2571750"/>
            <a:ext cx="3454849" cy="2359949"/>
          </a:xfrm>
          <a:prstGeom prst="rect">
            <a:avLst/>
          </a:prstGeom>
          <a:noFill/>
          <a:ln>
            <a:noFill/>
          </a:ln>
        </p:spPr>
      </p:pic>
      <p:pic>
        <p:nvPicPr>
          <p:cNvPr id="732" name="Google Shape;732;p67"/>
          <p:cNvPicPr preferRelativeResize="0"/>
          <p:nvPr/>
        </p:nvPicPr>
        <p:blipFill>
          <a:blip r:embed="rId4">
            <a:alphaModFix/>
          </a:blip>
          <a:stretch>
            <a:fillRect/>
          </a:stretch>
        </p:blipFill>
        <p:spPr>
          <a:xfrm>
            <a:off x="4750825" y="2571746"/>
            <a:ext cx="3277125" cy="1803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6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Domain Provider</a:t>
            </a:r>
            <a:endParaRPr/>
          </a:p>
        </p:txBody>
      </p:sp>
      <p:sp>
        <p:nvSpPr>
          <p:cNvPr id="738" name="Google Shape;738;p68"/>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739" name="Google Shape;739;p68"/>
          <p:cNvPicPr preferRelativeResize="0"/>
          <p:nvPr/>
        </p:nvPicPr>
        <p:blipFill>
          <a:blip r:embed="rId3">
            <a:alphaModFix/>
          </a:blip>
          <a:stretch>
            <a:fillRect/>
          </a:stretch>
        </p:blipFill>
        <p:spPr>
          <a:xfrm>
            <a:off x="3994775" y="1774325"/>
            <a:ext cx="4614151" cy="2804901"/>
          </a:xfrm>
          <a:prstGeom prst="rect">
            <a:avLst/>
          </a:prstGeom>
          <a:noFill/>
          <a:ln>
            <a:noFill/>
          </a:ln>
        </p:spPr>
      </p:pic>
      <p:pic>
        <p:nvPicPr>
          <p:cNvPr id="740" name="Google Shape;740;p68"/>
          <p:cNvPicPr preferRelativeResize="0"/>
          <p:nvPr/>
        </p:nvPicPr>
        <p:blipFill>
          <a:blip r:embed="rId4">
            <a:alphaModFix/>
          </a:blip>
          <a:stretch>
            <a:fillRect/>
          </a:stretch>
        </p:blipFill>
        <p:spPr>
          <a:xfrm>
            <a:off x="311699" y="2602602"/>
            <a:ext cx="3274050" cy="5992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6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NGINX Configuration</a:t>
            </a:r>
            <a:endParaRPr/>
          </a:p>
        </p:txBody>
      </p:sp>
      <p:sp>
        <p:nvSpPr>
          <p:cNvPr id="746" name="Google Shape;746;p6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747" name="Google Shape;747;p69"/>
          <p:cNvPicPr preferRelativeResize="0"/>
          <p:nvPr/>
        </p:nvPicPr>
        <p:blipFill>
          <a:blip r:embed="rId3">
            <a:alphaModFix/>
          </a:blip>
          <a:stretch>
            <a:fillRect/>
          </a:stretch>
        </p:blipFill>
        <p:spPr>
          <a:xfrm>
            <a:off x="4572000" y="2015375"/>
            <a:ext cx="3961400" cy="2460976"/>
          </a:xfrm>
          <a:prstGeom prst="rect">
            <a:avLst/>
          </a:prstGeom>
          <a:noFill/>
          <a:ln>
            <a:noFill/>
          </a:ln>
        </p:spPr>
      </p:pic>
      <p:pic>
        <p:nvPicPr>
          <p:cNvPr id="748" name="Google Shape;748;p69"/>
          <p:cNvPicPr preferRelativeResize="0"/>
          <p:nvPr/>
        </p:nvPicPr>
        <p:blipFill>
          <a:blip r:embed="rId4">
            <a:alphaModFix/>
          </a:blip>
          <a:stretch>
            <a:fillRect/>
          </a:stretch>
        </p:blipFill>
        <p:spPr>
          <a:xfrm>
            <a:off x="1209338" y="2093325"/>
            <a:ext cx="1990725" cy="23050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7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Cross Origins</a:t>
            </a:r>
            <a:endParaRPr/>
          </a:p>
        </p:txBody>
      </p:sp>
      <p:sp>
        <p:nvSpPr>
          <p:cNvPr id="754" name="Google Shape;754;p70"/>
          <p:cNvSpPr txBox="1"/>
          <p:nvPr/>
        </p:nvSpPr>
        <p:spPr>
          <a:xfrm>
            <a:off x="0" y="4804854"/>
            <a:ext cx="4572000"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900" b="0" i="0" u="none" strike="noStrike" cap="none">
                <a:solidFill>
                  <a:srgbClr val="000000"/>
                </a:solidFill>
                <a:latin typeface="Arial"/>
                <a:ea typeface="Arial"/>
                <a:cs typeface="Arial"/>
                <a:sym typeface="Arial"/>
              </a:rPr>
              <a:t>Ref : https://spring.io/guides/gs/rest-service-cors/</a:t>
            </a:r>
            <a:endParaRPr/>
          </a:p>
        </p:txBody>
      </p:sp>
      <p:pic>
        <p:nvPicPr>
          <p:cNvPr id="755" name="Google Shape;755;p70" descr="A picture containing text, font, screenshot&#10;&#10;Description automatically generated"/>
          <p:cNvPicPr preferRelativeResize="0"/>
          <p:nvPr/>
        </p:nvPicPr>
        <p:blipFill rotWithShape="1">
          <a:blip r:embed="rId3">
            <a:alphaModFix/>
          </a:blip>
          <a:srcRect/>
          <a:stretch/>
        </p:blipFill>
        <p:spPr>
          <a:xfrm>
            <a:off x="280419" y="2552157"/>
            <a:ext cx="8405110" cy="1918089"/>
          </a:xfrm>
          <a:prstGeom prst="rect">
            <a:avLst/>
          </a:prstGeom>
          <a:noFill/>
          <a:ln>
            <a:noFill/>
          </a:ln>
        </p:spPr>
      </p:pic>
      <p:sp>
        <p:nvSpPr>
          <p:cNvPr id="756" name="Google Shape;756;p70"/>
          <p:cNvSpPr txBox="1"/>
          <p:nvPr/>
        </p:nvSpPr>
        <p:spPr>
          <a:xfrm>
            <a:off x="526650" y="1172850"/>
            <a:ext cx="8158800" cy="13053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Cross-Origin Resource Sharing (CORS) is an </a:t>
            </a:r>
            <a:r>
              <a:rPr lang="en" sz="1300" b="1">
                <a:solidFill>
                  <a:schemeClr val="dk1"/>
                </a:solidFill>
                <a:latin typeface="Calibri"/>
                <a:ea typeface="Calibri"/>
                <a:cs typeface="Calibri"/>
                <a:sym typeface="Calibri"/>
              </a:rPr>
              <a:t>HTTP-header based mechanism</a:t>
            </a:r>
            <a:r>
              <a:rPr lang="en" sz="1300">
                <a:solidFill>
                  <a:schemeClr val="dk1"/>
                </a:solidFill>
                <a:latin typeface="Calibri"/>
                <a:ea typeface="Calibri"/>
                <a:cs typeface="Calibri"/>
                <a:sym typeface="Calibri"/>
              </a:rPr>
              <a:t> that allows a server to indicate any origins (domain, scheme, or port) other than its own from which a browser should permit loading resources. </a:t>
            </a:r>
            <a:endParaRPr sz="1300">
              <a:solidFill>
                <a:schemeClr val="dk1"/>
              </a:solidFill>
              <a:latin typeface="Calibri"/>
              <a:ea typeface="Calibri"/>
              <a:cs typeface="Calibri"/>
              <a:sym typeface="Calibri"/>
            </a:endParaRPr>
          </a:p>
          <a:p>
            <a:pPr marL="457200" lvl="0" indent="-311150" algn="l" rtl="0">
              <a:lnSpc>
                <a:spcPct val="115000"/>
              </a:lnSpc>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Mechanism of  "preflight" request to the server hosting the cross-origin resource, in order to check that the server will permit the actual request. In that preflight, the browser sends headers that indicate the HTTP method and headers that will be used in the actual request.</a:t>
            </a:r>
            <a:endParaRPr>
              <a:solidFill>
                <a:srgbClr val="1B1B1B"/>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71"/>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Endpoints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Endpoints</a:t>
            </a:r>
            <a:endParaRPr/>
          </a:p>
        </p:txBody>
      </p:sp>
      <p:sp>
        <p:nvSpPr>
          <p:cNvPr id="767" name="Google Shape;767;p72"/>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lnSpcReduction="10000"/>
          </a:bodyPr>
          <a:lstStyle/>
          <a:p>
            <a:pPr marL="457200" lvl="0" indent="-342900" algn="l" rtl="0">
              <a:lnSpc>
                <a:spcPct val="115000"/>
              </a:lnSpc>
              <a:spcBef>
                <a:spcPts val="0"/>
              </a:spcBef>
              <a:spcAft>
                <a:spcPts val="0"/>
              </a:spcAft>
              <a:buSzPts val="1800"/>
              <a:buChar char="➔"/>
            </a:pPr>
            <a:r>
              <a:rPr lang="en"/>
              <a:t>/login</a:t>
            </a:r>
            <a:endParaRPr/>
          </a:p>
          <a:p>
            <a:pPr marL="914400" lvl="1" indent="-317500" algn="l" rtl="0">
              <a:lnSpc>
                <a:spcPct val="115000"/>
              </a:lnSpc>
              <a:spcBef>
                <a:spcPts val="0"/>
              </a:spcBef>
              <a:spcAft>
                <a:spcPts val="0"/>
              </a:spcAft>
              <a:buSzPts val="1400"/>
              <a:buChar char="○"/>
            </a:pPr>
            <a:r>
              <a:rPr lang="en"/>
              <a:t>Uses the username to check in the DB whether the user exists or not.</a:t>
            </a:r>
            <a:endParaRPr/>
          </a:p>
          <a:p>
            <a:pPr marL="914400" lvl="1" indent="-317500" algn="l" rtl="0">
              <a:lnSpc>
                <a:spcPct val="115000"/>
              </a:lnSpc>
              <a:spcBef>
                <a:spcPts val="0"/>
              </a:spcBef>
              <a:spcAft>
                <a:spcPts val="0"/>
              </a:spcAft>
              <a:buSzPts val="1400"/>
              <a:buChar char="○"/>
            </a:pPr>
            <a:r>
              <a:rPr lang="en"/>
              <a:t>If the user exists, checks and matches the password</a:t>
            </a:r>
            <a:endParaRPr/>
          </a:p>
          <a:p>
            <a:pPr marL="914400" lvl="1" indent="-317500" algn="l" rtl="0">
              <a:lnSpc>
                <a:spcPct val="115000"/>
              </a:lnSpc>
              <a:spcBef>
                <a:spcPts val="0"/>
              </a:spcBef>
              <a:spcAft>
                <a:spcPts val="0"/>
              </a:spcAft>
              <a:buSzPts val="1400"/>
              <a:buChar char="○"/>
            </a:pPr>
            <a:r>
              <a:rPr lang="en"/>
              <a:t>If everything looks good, pulls the role id using the username and takes it on that landing dashboard</a:t>
            </a:r>
            <a:endParaRPr/>
          </a:p>
          <a:p>
            <a:pPr marL="457200" lvl="0" indent="-342900" algn="l" rtl="0">
              <a:lnSpc>
                <a:spcPct val="115000"/>
              </a:lnSpc>
              <a:spcBef>
                <a:spcPts val="0"/>
              </a:spcBef>
              <a:spcAft>
                <a:spcPts val="0"/>
              </a:spcAft>
              <a:buSzPts val="1800"/>
              <a:buChar char="➔"/>
            </a:pPr>
            <a:r>
              <a:rPr lang="en"/>
              <a:t>/signup</a:t>
            </a:r>
            <a:endParaRPr/>
          </a:p>
          <a:p>
            <a:pPr marL="914400" lvl="1" indent="-317500" algn="l" rtl="0">
              <a:lnSpc>
                <a:spcPct val="115000"/>
              </a:lnSpc>
              <a:spcBef>
                <a:spcPts val="0"/>
              </a:spcBef>
              <a:spcAft>
                <a:spcPts val="0"/>
              </a:spcAft>
              <a:buSzPts val="1400"/>
              <a:buChar char="○"/>
            </a:pPr>
            <a:r>
              <a:rPr lang="en"/>
              <a:t>Checks that the </a:t>
            </a:r>
            <a:endParaRPr/>
          </a:p>
          <a:p>
            <a:pPr marL="1371600" lvl="2" indent="-317500" algn="l" rtl="0">
              <a:lnSpc>
                <a:spcPct val="115000"/>
              </a:lnSpc>
              <a:spcBef>
                <a:spcPts val="0"/>
              </a:spcBef>
              <a:spcAft>
                <a:spcPts val="0"/>
              </a:spcAft>
              <a:buSzPts val="1400"/>
              <a:buChar char="■"/>
            </a:pPr>
            <a:r>
              <a:rPr lang="en"/>
              <a:t>same username is not allowed</a:t>
            </a:r>
            <a:endParaRPr/>
          </a:p>
          <a:p>
            <a:pPr marL="1371600" lvl="2" indent="-317500" algn="l" rtl="0">
              <a:lnSpc>
                <a:spcPct val="115000"/>
              </a:lnSpc>
              <a:spcBef>
                <a:spcPts val="0"/>
              </a:spcBef>
              <a:spcAft>
                <a:spcPts val="0"/>
              </a:spcAft>
              <a:buSzPts val="1400"/>
              <a:buChar char="■"/>
            </a:pPr>
            <a:r>
              <a:rPr lang="en"/>
              <a:t>Same email address is not allowed</a:t>
            </a:r>
            <a:endParaRPr/>
          </a:p>
          <a:p>
            <a:pPr marL="457200" lvl="0" indent="-342900" algn="l" rtl="0">
              <a:lnSpc>
                <a:spcPct val="115000"/>
              </a:lnSpc>
              <a:spcBef>
                <a:spcPts val="0"/>
              </a:spcBef>
              <a:spcAft>
                <a:spcPts val="0"/>
              </a:spcAft>
              <a:buSzPts val="1800"/>
              <a:buChar char="➔"/>
            </a:pPr>
            <a:r>
              <a:rPr lang="en"/>
              <a:t>/forgetpassword</a:t>
            </a:r>
            <a:endParaRPr/>
          </a:p>
          <a:p>
            <a:pPr marL="914400" lvl="1" indent="-317500" algn="l" rtl="0">
              <a:lnSpc>
                <a:spcPct val="115000"/>
              </a:lnSpc>
              <a:spcBef>
                <a:spcPts val="0"/>
              </a:spcBef>
              <a:spcAft>
                <a:spcPts val="0"/>
              </a:spcAft>
              <a:buSzPts val="1400"/>
              <a:buChar char="○"/>
            </a:pPr>
            <a:r>
              <a:rPr lang="en"/>
              <a:t>Takes in the email address (and hence the email address needs to be unique)</a:t>
            </a:r>
            <a:endParaRPr/>
          </a:p>
          <a:p>
            <a:pPr marL="0" lvl="0" indent="0" algn="l" rtl="0">
              <a:lnSpc>
                <a:spcPct val="115000"/>
              </a:lnSpc>
              <a:spcBef>
                <a:spcPts val="0"/>
              </a:spcBef>
              <a:spcAft>
                <a:spcPts val="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73"/>
          <p:cNvSpPr txBox="1">
            <a:spLocks noGrp="1"/>
          </p:cNvSpPr>
          <p:nvPr>
            <p:ph type="title"/>
          </p:nvPr>
        </p:nvSpPr>
        <p:spPr>
          <a:xfrm>
            <a:off x="0" y="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/getDashboard</a:t>
            </a:r>
            <a:endParaRPr/>
          </a:p>
        </p:txBody>
      </p:sp>
      <p:sp>
        <p:nvSpPr>
          <p:cNvPr id="773" name="Google Shape;773;p73"/>
          <p:cNvSpPr txBox="1">
            <a:spLocks noGrp="1"/>
          </p:cNvSpPr>
          <p:nvPr>
            <p:ph type="body" idx="1"/>
          </p:nvPr>
        </p:nvSpPr>
        <p:spPr>
          <a:xfrm>
            <a:off x="0" y="831300"/>
            <a:ext cx="8520600" cy="2243532"/>
          </a:xfrm>
          <a:prstGeom prst="rect">
            <a:avLst/>
          </a:prstGeom>
          <a:noFill/>
          <a:ln>
            <a:noFill/>
          </a:ln>
        </p:spPr>
        <p:txBody>
          <a:bodyPr spcFirstLastPara="1" wrap="square" lIns="91425" tIns="91425" rIns="91425" bIns="91425" anchor="t" anchorCtr="0">
            <a:normAutofit fontScale="85000" lnSpcReduction="20000"/>
          </a:bodyPr>
          <a:lstStyle/>
          <a:p>
            <a:pPr marL="457200" lvl="0" indent="-342900" algn="l" rtl="0">
              <a:lnSpc>
                <a:spcPct val="115000"/>
              </a:lnSpc>
              <a:spcBef>
                <a:spcPts val="0"/>
              </a:spcBef>
              <a:spcAft>
                <a:spcPts val="0"/>
              </a:spcAft>
              <a:buSzPct val="117647"/>
              <a:buChar char="●"/>
            </a:pPr>
            <a:r>
              <a:rPr lang="en"/>
              <a:t>Calls the Rules Service’s getNurseTasks method</a:t>
            </a:r>
            <a:br>
              <a:rPr lang="en"/>
            </a:br>
            <a:endParaRPr/>
          </a:p>
          <a:p>
            <a:pPr marL="457200" lvl="0" indent="-342900" algn="l" rtl="0">
              <a:lnSpc>
                <a:spcPct val="115000"/>
              </a:lnSpc>
              <a:spcBef>
                <a:spcPts val="0"/>
              </a:spcBef>
              <a:spcAft>
                <a:spcPts val="0"/>
              </a:spcAft>
              <a:buSzPct val="117647"/>
              <a:buChar char="●"/>
            </a:pPr>
            <a:r>
              <a:rPr lang="en"/>
              <a:t>Returns an ArrayList of NurseTasks (pojo) containing information and recommendation notification of each baby</a:t>
            </a:r>
            <a:endParaRPr/>
          </a:p>
          <a:p>
            <a:pPr marL="914400" lvl="1" indent="-342900" algn="l" rtl="0">
              <a:lnSpc>
                <a:spcPct val="115000"/>
              </a:lnSpc>
              <a:spcBef>
                <a:spcPts val="0"/>
              </a:spcBef>
              <a:spcAft>
                <a:spcPts val="0"/>
              </a:spcAft>
              <a:buSzPct val="151260"/>
              <a:buChar char="●"/>
            </a:pPr>
            <a:r>
              <a:rPr lang="en"/>
              <a:t>UHID</a:t>
            </a:r>
            <a:endParaRPr/>
          </a:p>
          <a:p>
            <a:pPr marL="914400" lvl="1" indent="-342900" algn="l" rtl="0">
              <a:lnSpc>
                <a:spcPct val="115000"/>
              </a:lnSpc>
              <a:spcBef>
                <a:spcPts val="0"/>
              </a:spcBef>
              <a:spcAft>
                <a:spcPts val="0"/>
              </a:spcAft>
              <a:buSzPct val="151260"/>
              <a:buChar char="●"/>
            </a:pPr>
            <a:r>
              <a:rPr lang="en"/>
              <a:t>Birth Weight</a:t>
            </a:r>
            <a:endParaRPr/>
          </a:p>
          <a:p>
            <a:pPr marL="914400" lvl="1" indent="-342900" algn="l" rtl="0">
              <a:lnSpc>
                <a:spcPct val="115000"/>
              </a:lnSpc>
              <a:spcBef>
                <a:spcPts val="0"/>
              </a:spcBef>
              <a:spcAft>
                <a:spcPts val="0"/>
              </a:spcAft>
              <a:buSzPct val="151260"/>
              <a:buChar char="●"/>
            </a:pPr>
            <a:r>
              <a:rPr lang="en"/>
              <a:t>Date of birth</a:t>
            </a:r>
            <a:endParaRPr/>
          </a:p>
          <a:p>
            <a:pPr marL="914400" lvl="1" indent="-342900" algn="l" rtl="0">
              <a:lnSpc>
                <a:spcPct val="115000"/>
              </a:lnSpc>
              <a:spcBef>
                <a:spcPts val="0"/>
              </a:spcBef>
              <a:spcAft>
                <a:spcPts val="0"/>
              </a:spcAft>
              <a:buSzPct val="151260"/>
              <a:buChar char="●"/>
            </a:pPr>
            <a:r>
              <a:rPr lang="en"/>
              <a:t>Recommendation notifications</a:t>
            </a:r>
            <a:br>
              <a:rPr lang="en"/>
            </a:br>
            <a:endParaRPr/>
          </a:p>
          <a:p>
            <a:pPr marL="457200" lvl="0" indent="-342900" algn="l" rtl="0">
              <a:lnSpc>
                <a:spcPct val="115000"/>
              </a:lnSpc>
              <a:spcBef>
                <a:spcPts val="0"/>
              </a:spcBef>
              <a:spcAft>
                <a:spcPts val="0"/>
              </a:spcAft>
              <a:buSzPct val="117647"/>
              <a:buChar char="●"/>
            </a:pPr>
            <a:r>
              <a:rPr lang="en"/>
              <a:t>Information is passed back to the front-end as a JSON</a:t>
            </a:r>
            <a:endParaRPr/>
          </a:p>
        </p:txBody>
      </p:sp>
      <p:pic>
        <p:nvPicPr>
          <p:cNvPr id="774" name="Google Shape;774;p73" descr="A screenshot of a computer&#10;&#10;Description automatically generated with medium confidence"/>
          <p:cNvPicPr preferRelativeResize="0"/>
          <p:nvPr/>
        </p:nvPicPr>
        <p:blipFill rotWithShape="1">
          <a:blip r:embed="rId3">
            <a:alphaModFix/>
          </a:blip>
          <a:srcRect/>
          <a:stretch/>
        </p:blipFill>
        <p:spPr>
          <a:xfrm>
            <a:off x="6017423" y="2047975"/>
            <a:ext cx="3126575" cy="20994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74"/>
          <p:cNvSpPr txBox="1">
            <a:spLocks noGrp="1"/>
          </p:cNvSpPr>
          <p:nvPr>
            <p:ph type="title"/>
          </p:nvPr>
        </p:nvSpPr>
        <p:spPr>
          <a:xfrm>
            <a:off x="0" y="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/getNurseDailyTasks</a:t>
            </a:r>
            <a:endParaRPr/>
          </a:p>
        </p:txBody>
      </p:sp>
      <p:sp>
        <p:nvSpPr>
          <p:cNvPr id="780" name="Google Shape;780;p74"/>
          <p:cNvSpPr txBox="1">
            <a:spLocks noGrp="1"/>
          </p:cNvSpPr>
          <p:nvPr>
            <p:ph type="body" idx="1"/>
          </p:nvPr>
        </p:nvSpPr>
        <p:spPr>
          <a:xfrm>
            <a:off x="0" y="831300"/>
            <a:ext cx="8520600" cy="2243532"/>
          </a:xfrm>
          <a:prstGeom prst="rect">
            <a:avLst/>
          </a:prstGeom>
          <a:noFill/>
          <a:ln>
            <a:noFill/>
          </a:ln>
        </p:spPr>
        <p:txBody>
          <a:bodyPr spcFirstLastPara="1" wrap="square" lIns="91425" tIns="91425" rIns="91425" bIns="91425" anchor="t" anchorCtr="0">
            <a:normAutofit fontScale="92500" lnSpcReduction="10000"/>
          </a:bodyPr>
          <a:lstStyle/>
          <a:p>
            <a:pPr marL="457200" lvl="0" indent="-342900" algn="l" rtl="0">
              <a:lnSpc>
                <a:spcPct val="115000"/>
              </a:lnSpc>
              <a:spcBef>
                <a:spcPts val="0"/>
              </a:spcBef>
              <a:spcAft>
                <a:spcPts val="0"/>
              </a:spcAft>
              <a:buSzPct val="108108"/>
              <a:buChar char="●"/>
            </a:pPr>
            <a:r>
              <a:rPr lang="en"/>
              <a:t>Calls the Rules Service’s getNurseTasks method</a:t>
            </a:r>
            <a:br>
              <a:rPr lang="en"/>
            </a:br>
            <a:endParaRPr/>
          </a:p>
          <a:p>
            <a:pPr marL="457200" lvl="0" indent="-342900" algn="l" rtl="0">
              <a:lnSpc>
                <a:spcPct val="115000"/>
              </a:lnSpc>
              <a:spcBef>
                <a:spcPts val="0"/>
              </a:spcBef>
              <a:spcAft>
                <a:spcPts val="0"/>
              </a:spcAft>
              <a:buSzPct val="108108"/>
              <a:buChar char="●"/>
            </a:pPr>
            <a:r>
              <a:rPr lang="en"/>
              <a:t>Returns an ArrayList of NurseTasks (pojo) containing information and recommendation notification of each baby</a:t>
            </a:r>
            <a:endParaRPr/>
          </a:p>
          <a:p>
            <a:pPr marL="914400" lvl="1" indent="-342900" algn="l" rtl="0">
              <a:lnSpc>
                <a:spcPct val="115000"/>
              </a:lnSpc>
              <a:spcBef>
                <a:spcPts val="0"/>
              </a:spcBef>
              <a:spcAft>
                <a:spcPts val="0"/>
              </a:spcAft>
              <a:buSzPct val="138996"/>
              <a:buChar char="●"/>
            </a:pPr>
            <a:r>
              <a:rPr lang="en"/>
              <a:t>Check Criteria for baby</a:t>
            </a:r>
            <a:endParaRPr/>
          </a:p>
          <a:p>
            <a:pPr marL="914400" lvl="1" indent="-342900" algn="l" rtl="0">
              <a:lnSpc>
                <a:spcPct val="115000"/>
              </a:lnSpc>
              <a:spcBef>
                <a:spcPts val="0"/>
              </a:spcBef>
              <a:spcAft>
                <a:spcPts val="0"/>
              </a:spcAft>
              <a:buSzPct val="138996"/>
              <a:buChar char="●"/>
            </a:pPr>
            <a:r>
              <a:rPr lang="en"/>
              <a:t>Retrieve associated recommendations</a:t>
            </a:r>
            <a:br>
              <a:rPr lang="en"/>
            </a:br>
            <a:endParaRPr/>
          </a:p>
          <a:p>
            <a:pPr marL="457200" lvl="0" indent="-342900" algn="l" rtl="0">
              <a:lnSpc>
                <a:spcPct val="115000"/>
              </a:lnSpc>
              <a:spcBef>
                <a:spcPts val="0"/>
              </a:spcBef>
              <a:spcAft>
                <a:spcPts val="0"/>
              </a:spcAft>
              <a:buSzPct val="108108"/>
              <a:buChar char="●"/>
            </a:pPr>
            <a:r>
              <a:rPr lang="en"/>
              <a:t>Information is passed back to the front-end as a JSON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75"/>
          <p:cNvSpPr txBox="1">
            <a:spLocks noGrp="1"/>
          </p:cNvSpPr>
          <p:nvPr>
            <p:ph type="title"/>
          </p:nvPr>
        </p:nvSpPr>
        <p:spPr>
          <a:xfrm>
            <a:off x="0" y="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/getBundles</a:t>
            </a:r>
            <a:endParaRPr/>
          </a:p>
        </p:txBody>
      </p:sp>
      <p:sp>
        <p:nvSpPr>
          <p:cNvPr id="786" name="Google Shape;786;p75"/>
          <p:cNvSpPr txBox="1">
            <a:spLocks noGrp="1"/>
          </p:cNvSpPr>
          <p:nvPr>
            <p:ph type="body" idx="1"/>
          </p:nvPr>
        </p:nvSpPr>
        <p:spPr>
          <a:xfrm>
            <a:off x="0" y="909300"/>
            <a:ext cx="8520600" cy="3354000"/>
          </a:xfrm>
          <a:prstGeom prst="rect">
            <a:avLst/>
          </a:prstGeom>
          <a:noFill/>
          <a:ln>
            <a:noFill/>
          </a:ln>
        </p:spPr>
        <p:txBody>
          <a:bodyPr spcFirstLastPara="1" wrap="square" lIns="91425" tIns="91425" rIns="91425" bIns="91425" anchor="t" anchorCtr="0">
            <a:normAutofit fontScale="92500" lnSpcReduction="10000"/>
          </a:bodyPr>
          <a:lstStyle/>
          <a:p>
            <a:pPr marL="457200" lvl="0" indent="-342900" algn="l" rtl="0">
              <a:lnSpc>
                <a:spcPct val="115000"/>
              </a:lnSpc>
              <a:spcBef>
                <a:spcPts val="0"/>
              </a:spcBef>
              <a:spcAft>
                <a:spcPts val="0"/>
              </a:spcAft>
              <a:buSzPct val="108108"/>
              <a:buChar char="●"/>
            </a:pPr>
            <a:r>
              <a:rPr lang="en"/>
              <a:t>If authorization is met, calls the Rules Service’s getAll method</a:t>
            </a:r>
            <a:br>
              <a:rPr lang="en"/>
            </a:br>
            <a:endParaRPr/>
          </a:p>
          <a:p>
            <a:pPr marL="457200" lvl="0" indent="-342900" algn="l" rtl="0">
              <a:lnSpc>
                <a:spcPct val="115000"/>
              </a:lnSpc>
              <a:spcBef>
                <a:spcPts val="0"/>
              </a:spcBef>
              <a:spcAft>
                <a:spcPts val="0"/>
              </a:spcAft>
              <a:buSzPct val="108108"/>
              <a:buChar char="●"/>
            </a:pPr>
            <a:r>
              <a:rPr lang="en"/>
              <a:t>Returns an ArrayList of RuleObjectPOJO containing information for each sub bundle:</a:t>
            </a:r>
            <a:endParaRPr/>
          </a:p>
          <a:p>
            <a:pPr marL="914400" lvl="1" indent="-317500" algn="l" rtl="0">
              <a:lnSpc>
                <a:spcPct val="115000"/>
              </a:lnSpc>
              <a:spcBef>
                <a:spcPts val="0"/>
              </a:spcBef>
              <a:spcAft>
                <a:spcPts val="0"/>
              </a:spcAft>
              <a:buSzPct val="108108"/>
              <a:buChar char="○"/>
            </a:pPr>
            <a:r>
              <a:rPr lang="en"/>
              <a:t>RuleName: The purpose of the sub bundle’s rule</a:t>
            </a:r>
            <a:br>
              <a:rPr lang="en"/>
            </a:br>
            <a:endParaRPr/>
          </a:p>
          <a:p>
            <a:pPr marL="914400" lvl="1" indent="-317500" algn="l" rtl="0">
              <a:lnSpc>
                <a:spcPct val="115000"/>
              </a:lnSpc>
              <a:spcBef>
                <a:spcPts val="0"/>
              </a:spcBef>
              <a:spcAft>
                <a:spcPts val="0"/>
              </a:spcAft>
              <a:buSzPct val="108108"/>
              <a:buChar char="○"/>
            </a:pPr>
            <a:r>
              <a:rPr lang="en"/>
              <a:t>Condition: A string concatenation of all IF statements from the Criteria Object table that is associated with the sub Bundle</a:t>
            </a:r>
            <a:br>
              <a:rPr lang="en"/>
            </a:br>
            <a:endParaRPr/>
          </a:p>
          <a:p>
            <a:pPr marL="914400" lvl="1" indent="-317500" algn="l" rtl="0">
              <a:lnSpc>
                <a:spcPct val="115000"/>
              </a:lnSpc>
              <a:spcBef>
                <a:spcPts val="0"/>
              </a:spcBef>
              <a:spcAft>
                <a:spcPts val="0"/>
              </a:spcAft>
              <a:buSzPct val="108108"/>
              <a:buChar char="○"/>
            </a:pPr>
            <a:r>
              <a:rPr lang="en"/>
              <a:t>Action: The actions that are associated with each rule given for each sub bundle id as retrieved from the Recommendation Object table</a:t>
            </a:r>
            <a:br>
              <a:rPr lang="en"/>
            </a:br>
            <a:endParaRPr/>
          </a:p>
          <a:p>
            <a:pPr marL="457200" lvl="0" indent="-342900" algn="l" rtl="0">
              <a:lnSpc>
                <a:spcPct val="115000"/>
              </a:lnSpc>
              <a:spcBef>
                <a:spcPts val="0"/>
              </a:spcBef>
              <a:spcAft>
                <a:spcPts val="0"/>
              </a:spcAft>
              <a:buSzPct val="108108"/>
              <a:buChar char="●"/>
            </a:pPr>
            <a:r>
              <a:rPr lang="en"/>
              <a:t>Information is passed back to the front-end as a JSON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76"/>
          <p:cNvSpPr txBox="1">
            <a:spLocks noGrp="1"/>
          </p:cNvSpPr>
          <p:nvPr>
            <p:ph type="title"/>
          </p:nvPr>
        </p:nvSpPr>
        <p:spPr>
          <a:xfrm>
            <a:off x="0" y="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/saveBundle</a:t>
            </a:r>
            <a:endParaRPr/>
          </a:p>
        </p:txBody>
      </p:sp>
      <p:sp>
        <p:nvSpPr>
          <p:cNvPr id="792" name="Google Shape;792;p76"/>
          <p:cNvSpPr txBox="1">
            <a:spLocks noGrp="1"/>
          </p:cNvSpPr>
          <p:nvPr>
            <p:ph type="body" idx="1"/>
          </p:nvPr>
        </p:nvSpPr>
        <p:spPr>
          <a:xfrm>
            <a:off x="0" y="909300"/>
            <a:ext cx="8520600" cy="3354000"/>
          </a:xfrm>
          <a:prstGeom prst="rect">
            <a:avLst/>
          </a:prstGeom>
          <a:noFill/>
          <a:ln>
            <a:noFill/>
          </a:ln>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0"/>
              </a:spcAft>
              <a:buSzPct val="108108"/>
              <a:buNone/>
            </a:pPr>
            <a:r>
              <a:rPr lang="en"/>
              <a:t>Takes as input a JSON specifying information of the parent bundle, a list of sub bundles each containing a list of the criteria’s name, category, and field.  A list of lists specifying information from IF rules, a list of the recommendations category, fields, and a list of lists outlining the Then fields.</a:t>
            </a:r>
            <a:endParaRPr/>
          </a:p>
          <a:p>
            <a:pPr marL="457200" lvl="0" indent="-342900" algn="l" rtl="0">
              <a:lnSpc>
                <a:spcPct val="115000"/>
              </a:lnSpc>
              <a:spcBef>
                <a:spcPts val="1200"/>
              </a:spcBef>
              <a:spcAft>
                <a:spcPts val="0"/>
              </a:spcAft>
              <a:buSzPct val="108108"/>
              <a:buChar char="●"/>
            </a:pPr>
            <a:r>
              <a:rPr lang="en"/>
              <a:t>Parses this information, and formats it so that:</a:t>
            </a:r>
            <a:endParaRPr/>
          </a:p>
          <a:p>
            <a:pPr marL="914400" lvl="1" indent="-317500" algn="l" rtl="0">
              <a:lnSpc>
                <a:spcPct val="115000"/>
              </a:lnSpc>
              <a:spcBef>
                <a:spcPts val="0"/>
              </a:spcBef>
              <a:spcAft>
                <a:spcPts val="0"/>
              </a:spcAft>
              <a:buSzPct val="108108"/>
              <a:buChar char="○"/>
            </a:pPr>
            <a:r>
              <a:rPr lang="en"/>
              <a:t>A parent bundle entry is made to the parent bundle table</a:t>
            </a:r>
            <a:br>
              <a:rPr lang="en"/>
            </a:br>
            <a:endParaRPr/>
          </a:p>
          <a:p>
            <a:pPr marL="914400" lvl="1" indent="-317500" algn="l" rtl="0">
              <a:lnSpc>
                <a:spcPct val="115000"/>
              </a:lnSpc>
              <a:spcBef>
                <a:spcPts val="0"/>
              </a:spcBef>
              <a:spcAft>
                <a:spcPts val="0"/>
              </a:spcAft>
              <a:buSzPct val="108108"/>
              <a:buChar char="○"/>
            </a:pPr>
            <a:r>
              <a:rPr lang="en"/>
              <a:t>The list of sub bundles are entered into the sub bundle table</a:t>
            </a:r>
            <a:br>
              <a:rPr lang="en"/>
            </a:br>
            <a:endParaRPr/>
          </a:p>
          <a:p>
            <a:pPr marL="914400" lvl="1" indent="-317500" algn="l" rtl="0">
              <a:lnSpc>
                <a:spcPct val="115000"/>
              </a:lnSpc>
              <a:spcBef>
                <a:spcPts val="0"/>
              </a:spcBef>
              <a:spcAft>
                <a:spcPts val="0"/>
              </a:spcAft>
              <a:buSzPct val="108108"/>
              <a:buChar char="○"/>
            </a:pPr>
            <a:r>
              <a:rPr lang="en"/>
              <a:t>Lines for the IF statements from the front end are written into the criteria object table</a:t>
            </a:r>
            <a:br>
              <a:rPr lang="en"/>
            </a:br>
            <a:endParaRPr/>
          </a:p>
          <a:p>
            <a:pPr marL="914400" lvl="1" indent="-317500" algn="l" rtl="0">
              <a:lnSpc>
                <a:spcPct val="115000"/>
              </a:lnSpc>
              <a:spcBef>
                <a:spcPts val="0"/>
              </a:spcBef>
              <a:spcAft>
                <a:spcPts val="0"/>
              </a:spcAft>
              <a:buSzPct val="108108"/>
              <a:buChar char="○"/>
            </a:pPr>
            <a:r>
              <a:rPr lang="en"/>
              <a:t>Lines for the Then statements from the front end are written into the recommendation object table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77"/>
          <p:cNvSpPr txBox="1">
            <a:spLocks noGrp="1"/>
          </p:cNvSpPr>
          <p:nvPr>
            <p:ph type="title"/>
          </p:nvPr>
        </p:nvSpPr>
        <p:spPr>
          <a:xfrm>
            <a:off x="0" y="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/getRecommendation</a:t>
            </a:r>
            <a:endParaRPr/>
          </a:p>
        </p:txBody>
      </p:sp>
      <p:sp>
        <p:nvSpPr>
          <p:cNvPr id="798" name="Google Shape;798;p77"/>
          <p:cNvSpPr txBox="1">
            <a:spLocks noGrp="1"/>
          </p:cNvSpPr>
          <p:nvPr>
            <p:ph type="body" idx="1"/>
          </p:nvPr>
        </p:nvSpPr>
        <p:spPr>
          <a:xfrm>
            <a:off x="0" y="909300"/>
            <a:ext cx="8520600" cy="3354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400"/>
              <a:t>Takes in a JSON representing some of the birth details of a particular baby, which includes their UHID, sub bundle ID, parent bundle ID.</a:t>
            </a:r>
            <a:endParaRPr sz="1400"/>
          </a:p>
          <a:p>
            <a:pPr marL="457200" lvl="0" indent="-317500" algn="l" rtl="0">
              <a:lnSpc>
                <a:spcPct val="115000"/>
              </a:lnSpc>
              <a:spcBef>
                <a:spcPts val="1200"/>
              </a:spcBef>
              <a:spcAft>
                <a:spcPts val="0"/>
              </a:spcAft>
              <a:buSzPts val="1400"/>
              <a:buChar char="●"/>
            </a:pPr>
            <a:r>
              <a:rPr lang="en" sz="1400"/>
              <a:t>Gets the criteria from a corresponding rule.</a:t>
            </a:r>
            <a:endParaRPr sz="1400"/>
          </a:p>
          <a:p>
            <a:pPr marL="457200" lvl="0" indent="-317500" algn="l" rtl="0">
              <a:lnSpc>
                <a:spcPct val="115000"/>
              </a:lnSpc>
              <a:spcBef>
                <a:spcPts val="0"/>
              </a:spcBef>
              <a:spcAft>
                <a:spcPts val="0"/>
              </a:spcAft>
              <a:buSzPts val="1400"/>
              <a:buChar char="●"/>
            </a:pPr>
            <a:r>
              <a:rPr lang="en" sz="1400"/>
              <a:t>Parses it into a format that lets it be compared with the birth details of the baby with the given UHID.</a:t>
            </a:r>
            <a:endParaRPr sz="1400"/>
          </a:p>
          <a:p>
            <a:pPr marL="457200" lvl="0" indent="-317500" algn="l" rtl="0">
              <a:lnSpc>
                <a:spcPct val="115000"/>
              </a:lnSpc>
              <a:spcBef>
                <a:spcPts val="0"/>
              </a:spcBef>
              <a:spcAft>
                <a:spcPts val="0"/>
              </a:spcAft>
              <a:buSzPts val="1400"/>
              <a:buChar char="●"/>
            </a:pPr>
            <a:r>
              <a:rPr lang="en" sz="1400"/>
              <a:t>Checks if there are any assessments for the baby’s recommendation/criteria bundle.</a:t>
            </a:r>
            <a:endParaRPr sz="1400"/>
          </a:p>
          <a:p>
            <a:pPr marL="457200" lvl="0" indent="-317500" algn="l" rtl="0">
              <a:lnSpc>
                <a:spcPct val="115000"/>
              </a:lnSpc>
              <a:spcBef>
                <a:spcPts val="0"/>
              </a:spcBef>
              <a:spcAft>
                <a:spcPts val="0"/>
              </a:spcAft>
              <a:buSzPts val="1400"/>
              <a:buChar char="●"/>
            </a:pPr>
            <a:r>
              <a:rPr lang="en" sz="1400"/>
              <a:t>Compiles the recommendations associated with the criteria bundle’s ID into a list.</a:t>
            </a:r>
            <a:endParaRPr sz="1400"/>
          </a:p>
          <a:p>
            <a:pPr marL="457200" lvl="0" indent="-317500" algn="l" rtl="0">
              <a:lnSpc>
                <a:spcPct val="115000"/>
              </a:lnSpc>
              <a:spcBef>
                <a:spcPts val="0"/>
              </a:spcBef>
              <a:spcAft>
                <a:spcPts val="0"/>
              </a:spcAft>
              <a:buSzPts val="1400"/>
              <a:buChar char="●"/>
            </a:pPr>
            <a:r>
              <a:rPr lang="en" sz="1400"/>
              <a:t>Returns that list of recommendations.</a:t>
            </a:r>
            <a:endParaRPr sz="1400"/>
          </a:p>
          <a:p>
            <a:pPr marL="0" lvl="0" indent="0" algn="l" rtl="0">
              <a:lnSpc>
                <a:spcPct val="115000"/>
              </a:lnSpc>
              <a:spcBef>
                <a:spcPts val="1200"/>
              </a:spcBef>
              <a:spcAft>
                <a:spcPts val="1200"/>
              </a:spcAft>
              <a:buSzPts val="18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78"/>
          <p:cNvSpPr txBox="1">
            <a:spLocks noGrp="1"/>
          </p:cNvSpPr>
          <p:nvPr>
            <p:ph type="title"/>
          </p:nvPr>
        </p:nvSpPr>
        <p:spPr>
          <a:xfrm>
            <a:off x="0" y="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/saveAssessment</a:t>
            </a:r>
            <a:endParaRPr/>
          </a:p>
        </p:txBody>
      </p:sp>
      <p:sp>
        <p:nvSpPr>
          <p:cNvPr id="804" name="Google Shape;804;p78"/>
          <p:cNvSpPr txBox="1">
            <a:spLocks noGrp="1"/>
          </p:cNvSpPr>
          <p:nvPr>
            <p:ph type="body" idx="1"/>
          </p:nvPr>
        </p:nvSpPr>
        <p:spPr>
          <a:xfrm>
            <a:off x="0" y="909300"/>
            <a:ext cx="8520600" cy="33540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800"/>
              <a:t>Takes as input a JSON specifying information about a given assessment, including its assessment ID, parent bundle ID, sub bundle ID, UHID, field name, entry timestamp, recommendation bundle ID, and criteria bundles ID.</a:t>
            </a:r>
            <a:endParaRPr sz="1800"/>
          </a:p>
          <a:p>
            <a:pPr marL="914400" lvl="1" indent="-342900" algn="l" rtl="0">
              <a:lnSpc>
                <a:spcPct val="115000"/>
              </a:lnSpc>
              <a:spcBef>
                <a:spcPts val="1200"/>
              </a:spcBef>
              <a:spcAft>
                <a:spcPts val="0"/>
              </a:spcAft>
              <a:buSzPts val="1800"/>
              <a:buChar char="○"/>
            </a:pPr>
            <a:r>
              <a:rPr lang="en" sz="1800"/>
              <a:t>Takes this input and writes it into the assessments table.</a:t>
            </a:r>
            <a:endParaRPr sz="1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79"/>
          <p:cNvSpPr txBox="1">
            <a:spLocks noGrp="1"/>
          </p:cNvSpPr>
          <p:nvPr>
            <p:ph type="title"/>
          </p:nvPr>
        </p:nvSpPr>
        <p:spPr>
          <a:xfrm>
            <a:off x="0" y="0"/>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/getAllCompliance</a:t>
            </a:r>
            <a:endParaRPr/>
          </a:p>
        </p:txBody>
      </p:sp>
      <p:sp>
        <p:nvSpPr>
          <p:cNvPr id="810" name="Google Shape;810;p79"/>
          <p:cNvSpPr txBox="1">
            <a:spLocks noGrp="1"/>
          </p:cNvSpPr>
          <p:nvPr>
            <p:ph type="body" idx="1"/>
          </p:nvPr>
        </p:nvSpPr>
        <p:spPr>
          <a:xfrm>
            <a:off x="0" y="909300"/>
            <a:ext cx="8520600" cy="4039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sz="1500"/>
              <a:t>Takes no input beyond the GET request itself and its associated authorization token.</a:t>
            </a:r>
            <a:endParaRPr sz="1500"/>
          </a:p>
          <a:p>
            <a:pPr marL="457200" lvl="0" indent="-323850" algn="l" rtl="0">
              <a:lnSpc>
                <a:spcPct val="115000"/>
              </a:lnSpc>
              <a:spcBef>
                <a:spcPts val="1200"/>
              </a:spcBef>
              <a:spcAft>
                <a:spcPts val="0"/>
              </a:spcAft>
              <a:buSzPts val="1500"/>
              <a:buChar char="●"/>
            </a:pPr>
            <a:r>
              <a:rPr lang="en" sz="1500"/>
              <a:t>Gets a list of all unique UHIDs from the assessments table.</a:t>
            </a:r>
            <a:endParaRPr sz="1500"/>
          </a:p>
          <a:p>
            <a:pPr marL="457200" lvl="0" indent="-323850" algn="l" rtl="0">
              <a:lnSpc>
                <a:spcPct val="115000"/>
              </a:lnSpc>
              <a:spcBef>
                <a:spcPts val="0"/>
              </a:spcBef>
              <a:spcAft>
                <a:spcPts val="0"/>
              </a:spcAft>
              <a:buSzPts val="1500"/>
              <a:buChar char="●"/>
            </a:pPr>
            <a:r>
              <a:rPr lang="en" sz="1500"/>
              <a:t>For each UHID, we get a list of associated assessments and do the following and check how many were there, so that we can get the number of tasks that were successfully completed (get lactation consultant, have S2S care three times a day, etc.).</a:t>
            </a:r>
            <a:endParaRPr sz="1500"/>
          </a:p>
          <a:p>
            <a:pPr marL="457200" lvl="0" indent="-323850" algn="l" rtl="0">
              <a:lnSpc>
                <a:spcPct val="115000"/>
              </a:lnSpc>
              <a:spcBef>
                <a:spcPts val="0"/>
              </a:spcBef>
              <a:spcAft>
                <a:spcPts val="0"/>
              </a:spcAft>
              <a:buSzPts val="1500"/>
              <a:buChar char="●"/>
            </a:pPr>
            <a:r>
              <a:rPr lang="en" sz="1500"/>
              <a:t>Returns a list of UHIDs and their associated assessments.</a:t>
            </a:r>
            <a:endParaRPr sz="1500"/>
          </a:p>
          <a:p>
            <a:pPr marL="0" lvl="0" indent="0" algn="l" rtl="0">
              <a:lnSpc>
                <a:spcPct val="115000"/>
              </a:lnSpc>
              <a:spcBef>
                <a:spcPts val="0"/>
              </a:spcBef>
              <a:spcAft>
                <a:spcPts val="0"/>
              </a:spcAft>
              <a:buNone/>
            </a:pPr>
            <a:endParaRPr sz="1500"/>
          </a:p>
          <a:p>
            <a:pPr marL="0" lvl="0" indent="0" algn="l" rtl="0">
              <a:lnSpc>
                <a:spcPct val="115000"/>
              </a:lnSpc>
              <a:spcBef>
                <a:spcPts val="0"/>
              </a:spcBef>
              <a:spcAft>
                <a:spcPts val="0"/>
              </a:spcAft>
              <a:buNone/>
            </a:pPr>
            <a:r>
              <a:rPr lang="en" sz="1500"/>
              <a:t>/getComplianceByUhid</a:t>
            </a:r>
            <a:endParaRPr sz="1500"/>
          </a:p>
          <a:p>
            <a:pPr marL="457200" lvl="0" indent="-323850" algn="l" rtl="0">
              <a:lnSpc>
                <a:spcPct val="115000"/>
              </a:lnSpc>
              <a:spcBef>
                <a:spcPts val="0"/>
              </a:spcBef>
              <a:spcAft>
                <a:spcPts val="0"/>
              </a:spcAft>
              <a:buSzPts val="1500"/>
              <a:buChar char="●"/>
            </a:pPr>
            <a:r>
              <a:rPr lang="en" sz="1500"/>
              <a:t>Gets all the assessments given 1 uhid</a:t>
            </a:r>
            <a:endParaRPr sz="1500"/>
          </a:p>
          <a:p>
            <a:pPr marL="0" lvl="0" indent="0" algn="l" rtl="0">
              <a:lnSpc>
                <a:spcPct val="115000"/>
              </a:lnSpc>
              <a:spcBef>
                <a:spcPts val="0"/>
              </a:spcBef>
              <a:spcAft>
                <a:spcPts val="0"/>
              </a:spcAft>
              <a:buNone/>
            </a:pPr>
            <a:r>
              <a:rPr lang="en" sz="1500"/>
              <a:t>/getComplianceByDate</a:t>
            </a:r>
            <a:endParaRPr sz="1500"/>
          </a:p>
          <a:p>
            <a:pPr marL="457200" lvl="0" indent="-323850" algn="l" rtl="0">
              <a:lnSpc>
                <a:spcPct val="115000"/>
              </a:lnSpc>
              <a:spcBef>
                <a:spcPts val="0"/>
              </a:spcBef>
              <a:spcAft>
                <a:spcPts val="0"/>
              </a:spcAft>
              <a:buSzPts val="1500"/>
              <a:buChar char="●"/>
            </a:pPr>
            <a:r>
              <a:rPr lang="en" sz="1500"/>
              <a:t>Gets all the assessments given the date (Year, Month, and Day)</a:t>
            </a:r>
            <a:endParaRPr sz="1500"/>
          </a:p>
          <a:p>
            <a:pPr marL="0" lvl="0" indent="0" algn="l" rtl="0">
              <a:lnSpc>
                <a:spcPct val="115000"/>
              </a:lnSpc>
              <a:spcBef>
                <a:spcPts val="0"/>
              </a:spcBef>
              <a:spcAft>
                <a:spcPts val="0"/>
              </a:spcAft>
              <a:buNone/>
            </a:pPr>
            <a:r>
              <a:rPr lang="en" sz="1500"/>
              <a:t>/getComplianceByDateAndUhid</a:t>
            </a:r>
            <a:endParaRPr sz="1500"/>
          </a:p>
          <a:p>
            <a:pPr marL="457200" lvl="0" indent="-323850" algn="l" rtl="0">
              <a:lnSpc>
                <a:spcPct val="115000"/>
              </a:lnSpc>
              <a:spcBef>
                <a:spcPts val="0"/>
              </a:spcBef>
              <a:spcAft>
                <a:spcPts val="0"/>
              </a:spcAft>
              <a:buSzPts val="1500"/>
              <a:buChar char="●"/>
            </a:pPr>
            <a:r>
              <a:rPr lang="en" sz="1500"/>
              <a:t>Gets all the assessments given the date and uhid</a:t>
            </a:r>
            <a:endParaRPr sz="15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80"/>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Test Cases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8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JUnit Testing</a:t>
            </a:r>
            <a:endParaRPr/>
          </a:p>
        </p:txBody>
      </p:sp>
      <p:pic>
        <p:nvPicPr>
          <p:cNvPr id="821" name="Google Shape;821;p81"/>
          <p:cNvPicPr preferRelativeResize="0"/>
          <p:nvPr/>
        </p:nvPicPr>
        <p:blipFill>
          <a:blip r:embed="rId3">
            <a:alphaModFix/>
          </a:blip>
          <a:stretch>
            <a:fillRect/>
          </a:stretch>
        </p:blipFill>
        <p:spPr>
          <a:xfrm>
            <a:off x="413050" y="2571745"/>
            <a:ext cx="3411475" cy="1042200"/>
          </a:xfrm>
          <a:prstGeom prst="rect">
            <a:avLst/>
          </a:prstGeom>
          <a:noFill/>
          <a:ln>
            <a:noFill/>
          </a:ln>
        </p:spPr>
      </p:pic>
      <p:pic>
        <p:nvPicPr>
          <p:cNvPr id="822" name="Google Shape;822;p81"/>
          <p:cNvPicPr preferRelativeResize="0"/>
          <p:nvPr/>
        </p:nvPicPr>
        <p:blipFill>
          <a:blip r:embed="rId4">
            <a:alphaModFix/>
          </a:blip>
          <a:stretch>
            <a:fillRect/>
          </a:stretch>
        </p:blipFill>
        <p:spPr>
          <a:xfrm>
            <a:off x="4651800" y="2140350"/>
            <a:ext cx="3810000" cy="1905000"/>
          </a:xfrm>
          <a:prstGeom prst="rect">
            <a:avLst/>
          </a:prstGeom>
          <a:noFill/>
          <a:ln>
            <a:noFill/>
          </a:ln>
        </p:spPr>
      </p:pic>
      <p:sp>
        <p:nvSpPr>
          <p:cNvPr id="823" name="Google Shape;823;p8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Unit tests for Controllers and Services</a:t>
            </a:r>
            <a:endParaRPr/>
          </a:p>
          <a:p>
            <a:pPr marL="914400" lvl="1" indent="-317500" algn="l" rtl="0">
              <a:spcBef>
                <a:spcPts val="0"/>
              </a:spcBef>
              <a:spcAft>
                <a:spcPts val="0"/>
              </a:spcAft>
              <a:buSzPts val="1400"/>
              <a:buChar char="○"/>
            </a:pPr>
            <a:r>
              <a:rPr lang="en"/>
              <a:t>setup / test / assert</a:t>
            </a:r>
            <a:endParaRPr/>
          </a:p>
          <a:p>
            <a:pPr marL="457200" lvl="0" indent="-342900" algn="l" rtl="0">
              <a:spcBef>
                <a:spcPts val="0"/>
              </a:spcBef>
              <a:spcAft>
                <a:spcPts val="0"/>
              </a:spcAft>
              <a:buSzPts val="1800"/>
              <a:buChar char="●"/>
            </a:pPr>
            <a:r>
              <a:rPr lang="en"/>
              <a:t>Limitations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8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Jest testing library</a:t>
            </a:r>
            <a:endParaRPr/>
          </a:p>
        </p:txBody>
      </p:sp>
      <p:pic>
        <p:nvPicPr>
          <p:cNvPr id="829" name="Google Shape;829;p82"/>
          <p:cNvPicPr preferRelativeResize="0"/>
          <p:nvPr/>
        </p:nvPicPr>
        <p:blipFill>
          <a:blip r:embed="rId3">
            <a:alphaModFix/>
          </a:blip>
          <a:stretch>
            <a:fillRect/>
          </a:stretch>
        </p:blipFill>
        <p:spPr>
          <a:xfrm>
            <a:off x="2044475" y="1748176"/>
            <a:ext cx="5182351" cy="21259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8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Front end Unit test</a:t>
            </a:r>
            <a:endParaRPr/>
          </a:p>
        </p:txBody>
      </p:sp>
      <p:sp>
        <p:nvSpPr>
          <p:cNvPr id="835" name="Google Shape;835;p8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836" name="Google Shape;836;p83"/>
          <p:cNvPicPr preferRelativeResize="0"/>
          <p:nvPr/>
        </p:nvPicPr>
        <p:blipFill>
          <a:blip r:embed="rId3">
            <a:alphaModFix/>
          </a:blip>
          <a:stretch>
            <a:fillRect/>
          </a:stretch>
        </p:blipFill>
        <p:spPr>
          <a:xfrm>
            <a:off x="2804223" y="1225225"/>
            <a:ext cx="3030051" cy="35632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84"/>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200"/>
              <a:buNone/>
            </a:pPr>
            <a:r>
              <a:rPr lang="en"/>
              <a:t>Product Demonstration</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8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4200"/>
              <a:buNone/>
            </a:pPr>
            <a:r>
              <a:rPr lang="en"/>
              <a:t>Summary/Obligatory Tasteful Question Prompt</a:t>
            </a:r>
            <a:endParaRPr/>
          </a:p>
        </p:txBody>
      </p:sp>
      <p:sp>
        <p:nvSpPr>
          <p:cNvPr id="847" name="Google Shape;847;p85"/>
          <p:cNvSpPr txBox="1">
            <a:spLocks noGrp="1"/>
          </p:cNvSpPr>
          <p:nvPr>
            <p:ph type="body" idx="1"/>
          </p:nvPr>
        </p:nvSpPr>
        <p:spPr>
          <a:xfrm>
            <a:off x="1297500" y="1116150"/>
            <a:ext cx="7038900" cy="38685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SzPts val="1600"/>
              <a:buChar char="●"/>
            </a:pPr>
            <a:r>
              <a:rPr lang="en" sz="1600"/>
              <a:t>Introduction (Motivation, Workflow, Requirement Specs)</a:t>
            </a:r>
            <a:endParaRPr sz="1600"/>
          </a:p>
          <a:p>
            <a:pPr marL="457200" lvl="0" indent="-330200" algn="l" rtl="0">
              <a:lnSpc>
                <a:spcPct val="115000"/>
              </a:lnSpc>
              <a:spcBef>
                <a:spcPts val="0"/>
              </a:spcBef>
              <a:spcAft>
                <a:spcPts val="0"/>
              </a:spcAft>
              <a:buSzPts val="1600"/>
              <a:buChar char="●"/>
            </a:pPr>
            <a:r>
              <a:rPr lang="en" sz="1600"/>
              <a:t>Technology Stack (Java/Maven, Spring, React, GitHub)</a:t>
            </a:r>
            <a:endParaRPr sz="1600"/>
          </a:p>
          <a:p>
            <a:pPr marL="457200" lvl="0" indent="-330200" algn="l" rtl="0">
              <a:lnSpc>
                <a:spcPct val="115000"/>
              </a:lnSpc>
              <a:spcBef>
                <a:spcPts val="0"/>
              </a:spcBef>
              <a:spcAft>
                <a:spcPts val="0"/>
              </a:spcAft>
              <a:buSzPts val="1600"/>
              <a:buChar char="●"/>
            </a:pPr>
            <a:r>
              <a:rPr lang="en" sz="1600"/>
              <a:t>Database (Postgres)</a:t>
            </a:r>
            <a:endParaRPr sz="1600"/>
          </a:p>
          <a:p>
            <a:pPr marL="457200" lvl="0" indent="-330200" algn="l" rtl="0">
              <a:lnSpc>
                <a:spcPct val="115000"/>
              </a:lnSpc>
              <a:spcBef>
                <a:spcPts val="0"/>
              </a:spcBef>
              <a:spcAft>
                <a:spcPts val="0"/>
              </a:spcAft>
              <a:buSzPts val="1600"/>
              <a:buChar char="●"/>
            </a:pPr>
            <a:r>
              <a:rPr lang="en" sz="1600"/>
              <a:t>Testing Phase (Test Cases/Results)</a:t>
            </a:r>
            <a:endParaRPr sz="1600"/>
          </a:p>
          <a:p>
            <a:pPr marL="457200" lvl="0" indent="-330200" algn="l" rtl="0">
              <a:lnSpc>
                <a:spcPct val="115000"/>
              </a:lnSpc>
              <a:spcBef>
                <a:spcPts val="0"/>
              </a:spcBef>
              <a:spcAft>
                <a:spcPts val="0"/>
              </a:spcAft>
              <a:buSzPts val="1600"/>
              <a:buChar char="●"/>
            </a:pPr>
            <a:r>
              <a:rPr lang="en" sz="1600"/>
              <a:t>Live Demonstration</a:t>
            </a:r>
            <a:endParaRPr sz="1600"/>
          </a:p>
          <a:p>
            <a:pPr marL="0" lvl="0" indent="0" algn="l" rtl="0">
              <a:lnSpc>
                <a:spcPct val="115000"/>
              </a:lnSpc>
              <a:spcBef>
                <a:spcPts val="1200"/>
              </a:spcBef>
              <a:spcAft>
                <a:spcPts val="0"/>
              </a:spcAft>
              <a:buSzPts val="1800"/>
              <a:buNone/>
            </a:pPr>
            <a:endParaRPr sz="1600"/>
          </a:p>
          <a:p>
            <a:pPr marL="0" lvl="0" indent="0" algn="ctr" rtl="0">
              <a:lnSpc>
                <a:spcPct val="115000"/>
              </a:lnSpc>
              <a:spcBef>
                <a:spcPts val="1200"/>
              </a:spcBef>
              <a:spcAft>
                <a:spcPts val="1200"/>
              </a:spcAft>
              <a:buSzPts val="1800"/>
              <a:buNone/>
            </a:pPr>
            <a:r>
              <a:rPr lang="en" sz="6700"/>
              <a:t>Questions???</a:t>
            </a:r>
            <a:endParaRPr sz="6700"/>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3442</Words>
  <Application>Microsoft Macintosh PowerPoint</Application>
  <PresentationFormat>On-screen Show (16:9)</PresentationFormat>
  <Paragraphs>510</Paragraphs>
  <Slides>58</Slides>
  <Notes>58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58</vt:i4>
      </vt:variant>
    </vt:vector>
  </HeadingPairs>
  <TitlesOfParts>
    <vt:vector size="68" baseType="lpstr">
      <vt:lpstr>Calibri</vt:lpstr>
      <vt:lpstr>Economica</vt:lpstr>
      <vt:lpstr>Arial</vt:lpstr>
      <vt:lpstr>Lato</vt:lpstr>
      <vt:lpstr>Roboto</vt:lpstr>
      <vt:lpstr>Times New Roman</vt:lpstr>
      <vt:lpstr>Roboto Mono</vt:lpstr>
      <vt:lpstr>Open Sans</vt:lpstr>
      <vt:lpstr>Luxe</vt:lpstr>
      <vt:lpstr>Luxe</vt:lpstr>
      <vt:lpstr>Neonatal Outcomes</vt:lpstr>
      <vt:lpstr>Agenda</vt:lpstr>
      <vt:lpstr>Context &amp; Domain</vt:lpstr>
      <vt:lpstr>Background</vt:lpstr>
      <vt:lpstr>Reasoning behind the Quality bundles</vt:lpstr>
      <vt:lpstr>Process behind the QI Bundle : Human milk consumption</vt:lpstr>
      <vt:lpstr>Software Development Life Cycle</vt:lpstr>
      <vt:lpstr>Planning &amp; Analysis</vt:lpstr>
      <vt:lpstr>Planning &amp; Analysis</vt:lpstr>
      <vt:lpstr>Planning &amp; Analysis : ER Diagram</vt:lpstr>
      <vt:lpstr>Design</vt:lpstr>
      <vt:lpstr>Mocks : Login</vt:lpstr>
      <vt:lpstr>PowerPoint Presentation</vt:lpstr>
      <vt:lpstr>PowerPoint Presentation</vt:lpstr>
      <vt:lpstr>Mocks : Design Rules</vt:lpstr>
      <vt:lpstr>Mocks : Design Recommendations</vt:lpstr>
      <vt:lpstr>Mocks : Fill Assessments</vt:lpstr>
      <vt:lpstr>PowerPoint Presentation</vt:lpstr>
      <vt:lpstr>Implementation</vt:lpstr>
      <vt:lpstr>Spring Framework</vt:lpstr>
      <vt:lpstr>Dependency Injection</vt:lpstr>
      <vt:lpstr>Spring Boot</vt:lpstr>
      <vt:lpstr>Project Object Models</vt:lpstr>
      <vt:lpstr>Project Object Models</vt:lpstr>
      <vt:lpstr>JPA Entity Class</vt:lpstr>
      <vt:lpstr>JPA Repository</vt:lpstr>
      <vt:lpstr>JPA Controller</vt:lpstr>
      <vt:lpstr>JPA Controller</vt:lpstr>
      <vt:lpstr>JPA Service</vt:lpstr>
      <vt:lpstr>JPA Service</vt:lpstr>
      <vt:lpstr>JPA Environment</vt:lpstr>
      <vt:lpstr>Project Object Models</vt:lpstr>
      <vt:lpstr>JWT</vt:lpstr>
      <vt:lpstr>UI System - Frontend</vt:lpstr>
      <vt:lpstr>React JS</vt:lpstr>
      <vt:lpstr>PowerPoint Presentation</vt:lpstr>
      <vt:lpstr>Virtual DOM - The big advantage of React</vt:lpstr>
      <vt:lpstr>Project structure</vt:lpstr>
      <vt:lpstr>API Services</vt:lpstr>
      <vt:lpstr>API Services</vt:lpstr>
      <vt:lpstr>Domain Provider</vt:lpstr>
      <vt:lpstr>NGINX Configuration</vt:lpstr>
      <vt:lpstr>Cross Origins</vt:lpstr>
      <vt:lpstr>Endpoints</vt:lpstr>
      <vt:lpstr>Endpoints</vt:lpstr>
      <vt:lpstr>/getDashboard</vt:lpstr>
      <vt:lpstr>/getNurseDailyTasks</vt:lpstr>
      <vt:lpstr>/getBundles</vt:lpstr>
      <vt:lpstr>/saveBundle</vt:lpstr>
      <vt:lpstr>/getRecommendation</vt:lpstr>
      <vt:lpstr>/saveAssessment</vt:lpstr>
      <vt:lpstr>/getAllCompliance</vt:lpstr>
      <vt:lpstr>Test Cases</vt:lpstr>
      <vt:lpstr>JUnit Testing</vt:lpstr>
      <vt:lpstr>Jest testing library</vt:lpstr>
      <vt:lpstr>Front end Unit test</vt:lpstr>
      <vt:lpstr>Product Demonstration</vt:lpstr>
      <vt:lpstr>Summary/Obligatory Tasteful Question Prompt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Bindra, Harlieen</cp:lastModifiedBy>
  <cp:revision>1</cp:revision>
  <dcterms:modified xsi:type="dcterms:W3CDTF">2024-08-08T20:35:29Z</dcterms:modified>
</cp:coreProperties>
</file>